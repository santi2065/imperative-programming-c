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Lst>
  <p:sldSz cy="5143500" cx="9144000"/>
  <p:notesSz cx="6858000" cy="9144000"/>
  <p:embeddedFontLst>
    <p:embeddedFont>
      <p:font typeface="Arial Black"/>
      <p:regular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227C4BA-BEBC-4B85-A6AE-D0DD03BA919B}">
  <a:tblStyle styleId="{9227C4BA-BEBC-4B85-A6AE-D0DD03BA919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1" Type="http://schemas.openxmlformats.org/officeDocument/2006/relationships/font" Target="fonts/ArialBlack-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AR"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6" name="Google Shape;8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3" name="Google Shape;9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1" name="Google Shape;111;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0" name="Google Shape;120;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s-AR"/>
              <a:t>La Alternativa 1 no debería ser muy usada, ya que las estructuras se definen generalmente fuera de una función, incluso en un .h, para poder ser usada en varias funciones, por lo que con esta alternativa se estaría definiendo una variable global.</a:t>
            </a:r>
            <a:endParaRPr/>
          </a:p>
        </p:txBody>
      </p:sp>
      <p:sp>
        <p:nvSpPr>
          <p:cNvPr id="131" name="Google Shape;131;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3" name="Google Shape;15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4" name="Google Shape;164;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8" name="Google Shape;178;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7" name="Google Shape;18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b4c8255cb2_0_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6" name="Google Shape;206;gb4c8255cb2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6" name="Google Shape;216;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b4c8255cb2_0_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b4c8255cb2_0_2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5" name="Google Shape;225;gb4c8255cb2_0_23: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A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3" name="Google Shape;233;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b4d466ed85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b4d466ed85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9" name="Google Shape;249;gb4d466ed85_0_0: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A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8" name="Google Shape;258;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9" name="Google Shape;269;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5" name="Google Shape;275;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1" name="Google Shape;281;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7" name="Google Shape;287;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3" name="Google Shape;293;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9" name="Google Shape;299;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abc88eaa1d_0_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7" name="Google Shape;307;gabc88eaa1d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4" name="Google Shape;314;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2" name="Google Shape;332;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43" name="Google Shape;343;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2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67" name="Google Shape;367;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78b776990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78b7769909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90" name="Google Shape;390;g78b7769909_0_0: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AR"/>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2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04" name="Google Shape;404;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15" name="Google Shape;415;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2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24" name="Google Shape;424;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2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32" name="Google Shape;432;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2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44" name="Google Shape;444;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2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51" name="Google Shape;451;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2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64" name="Google Shape;464;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3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71" name="Google Shape;471;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ae0e2e127e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78" name="Google Shape;478;gae0e2e127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3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85" name="Google Shape;485;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3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95" name="Google Shape;495;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3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06" name="Google Shape;506;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3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46" name="Google Shape;546;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3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86" name="Google Shape;586;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3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96" name="Google Shape;596;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3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02" name="Google Shape;602;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3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08" name="Google Shape;608;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b658e47f5a_0_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24" name="Google Shape;624;gb658e47f5a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4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40" name="Google Shape;640;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4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54" name="Google Shape;654;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4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63" name="Google Shape;663;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4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74" name="Google Shape;674;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4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94" name="Google Shape;694;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4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03" name="Google Shape;703;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4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10" name="Google Shape;710;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4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16" name="Google Shape;716;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4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23" name="Google Shape;723;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685800" y="1597819"/>
            <a:ext cx="7772400" cy="11025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2"/>
          <p:cNvSpPr txBox="1"/>
          <p:nvPr>
            <p:ph idx="1" type="subTitle"/>
          </p:nvPr>
        </p:nvSpPr>
        <p:spPr>
          <a:xfrm>
            <a:off x="1371600" y="2914650"/>
            <a:ext cx="6400800" cy="1314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Times New Roman"/>
              <a:buNone/>
              <a:defRPr/>
            </a:lvl1pPr>
            <a:lvl2pPr lvl="1" algn="ctr">
              <a:spcBef>
                <a:spcPts val="560"/>
              </a:spcBef>
              <a:spcAft>
                <a:spcPts val="0"/>
              </a:spcAft>
              <a:buClr>
                <a:schemeClr val="dk1"/>
              </a:buClr>
              <a:buSzPts val="2800"/>
              <a:buFont typeface="Times New Roman"/>
              <a:buNone/>
              <a:defRPr/>
            </a:lvl2pPr>
            <a:lvl3pPr lvl="2" algn="ctr">
              <a:spcBef>
                <a:spcPts val="480"/>
              </a:spcBef>
              <a:spcAft>
                <a:spcPts val="0"/>
              </a:spcAft>
              <a:buClr>
                <a:schemeClr val="dk1"/>
              </a:buClr>
              <a:buSzPts val="2400"/>
              <a:buFont typeface="Times New Roman"/>
              <a:buNone/>
              <a:defRPr/>
            </a:lvl3pPr>
            <a:lvl4pPr lvl="3" algn="ctr">
              <a:spcBef>
                <a:spcPts val="400"/>
              </a:spcBef>
              <a:spcAft>
                <a:spcPts val="0"/>
              </a:spcAft>
              <a:buClr>
                <a:schemeClr val="dk1"/>
              </a:buClr>
              <a:buSzPts val="2000"/>
              <a:buFont typeface="Times New Roman"/>
              <a:buNone/>
              <a:defRPr/>
            </a:lvl4pPr>
            <a:lvl5pPr lvl="4" algn="ctr">
              <a:spcBef>
                <a:spcPts val="400"/>
              </a:spcBef>
              <a:spcAft>
                <a:spcPts val="0"/>
              </a:spcAft>
              <a:buClr>
                <a:schemeClr val="dk1"/>
              </a:buClr>
              <a:buSzPts val="2000"/>
              <a:buFont typeface="Times New Roman"/>
              <a:buNone/>
              <a:defRPr/>
            </a:lvl5pPr>
            <a:lvl6pPr lvl="5" algn="ctr">
              <a:spcBef>
                <a:spcPts val="400"/>
              </a:spcBef>
              <a:spcAft>
                <a:spcPts val="0"/>
              </a:spcAft>
              <a:buClr>
                <a:schemeClr val="dk1"/>
              </a:buClr>
              <a:buSzPts val="2000"/>
              <a:buFont typeface="Times New Roman"/>
              <a:buNone/>
              <a:defRPr/>
            </a:lvl6pPr>
            <a:lvl7pPr lvl="6" algn="ctr">
              <a:spcBef>
                <a:spcPts val="400"/>
              </a:spcBef>
              <a:spcAft>
                <a:spcPts val="0"/>
              </a:spcAft>
              <a:buClr>
                <a:schemeClr val="dk1"/>
              </a:buClr>
              <a:buSzPts val="2000"/>
              <a:buFont typeface="Times New Roman"/>
              <a:buNone/>
              <a:defRPr/>
            </a:lvl7pPr>
            <a:lvl8pPr lvl="7" algn="ctr">
              <a:spcBef>
                <a:spcPts val="400"/>
              </a:spcBef>
              <a:spcAft>
                <a:spcPts val="0"/>
              </a:spcAft>
              <a:buClr>
                <a:schemeClr val="dk1"/>
              </a:buClr>
              <a:buSzPts val="2000"/>
              <a:buFont typeface="Times New Roman"/>
              <a:buNone/>
              <a:defRPr/>
            </a:lvl8pPr>
            <a:lvl9pPr lvl="8" algn="ctr">
              <a:spcBef>
                <a:spcPts val="400"/>
              </a:spcBef>
              <a:spcAft>
                <a:spcPts val="0"/>
              </a:spcAft>
              <a:buClr>
                <a:schemeClr val="dk1"/>
              </a:buClr>
              <a:buSzPts val="2000"/>
              <a:buFont typeface="Times New Roman"/>
              <a:buNone/>
              <a:defRPr/>
            </a:lvl9pPr>
          </a:lstStyle>
          <a:p/>
        </p:txBody>
      </p:sp>
      <p:sp>
        <p:nvSpPr>
          <p:cNvPr id="18" name="Google Shape;18;p2"/>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685800" y="457200"/>
            <a:ext cx="7772400" cy="8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3"/>
          <p:cNvSpPr txBox="1"/>
          <p:nvPr>
            <p:ph idx="1" type="body"/>
          </p:nvPr>
        </p:nvSpPr>
        <p:spPr>
          <a:xfrm>
            <a:off x="685800" y="1485900"/>
            <a:ext cx="7772400" cy="30861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722313" y="3305175"/>
            <a:ext cx="7772400" cy="10215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4"/>
          <p:cNvSpPr txBox="1"/>
          <p:nvPr>
            <p:ph idx="1" type="body"/>
          </p:nvPr>
        </p:nvSpPr>
        <p:spPr>
          <a:xfrm>
            <a:off x="722313" y="2180035"/>
            <a:ext cx="7772400" cy="1125000"/>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Times New Roman"/>
              <a:buNone/>
              <a:defRPr sz="2000"/>
            </a:lvl1pPr>
            <a:lvl2pPr indent="-228600" lvl="1" marL="914400" algn="l">
              <a:spcBef>
                <a:spcPts val="360"/>
              </a:spcBef>
              <a:spcAft>
                <a:spcPts val="0"/>
              </a:spcAft>
              <a:buClr>
                <a:schemeClr val="dk1"/>
              </a:buClr>
              <a:buSzPts val="1800"/>
              <a:buFont typeface="Times New Roman"/>
              <a:buNone/>
              <a:defRPr sz="1800"/>
            </a:lvl2pPr>
            <a:lvl3pPr indent="-228600" lvl="2" marL="1371600" algn="l">
              <a:spcBef>
                <a:spcPts val="320"/>
              </a:spcBef>
              <a:spcAft>
                <a:spcPts val="0"/>
              </a:spcAft>
              <a:buClr>
                <a:schemeClr val="dk1"/>
              </a:buClr>
              <a:buSzPts val="1600"/>
              <a:buFont typeface="Times New Roman"/>
              <a:buNone/>
              <a:defRPr sz="1600"/>
            </a:lvl3pPr>
            <a:lvl4pPr indent="-228600" lvl="3" marL="1828800" algn="l">
              <a:spcBef>
                <a:spcPts val="280"/>
              </a:spcBef>
              <a:spcAft>
                <a:spcPts val="0"/>
              </a:spcAft>
              <a:buClr>
                <a:schemeClr val="dk1"/>
              </a:buClr>
              <a:buSzPts val="1400"/>
              <a:buFont typeface="Times New Roman"/>
              <a:buNone/>
              <a:defRPr sz="1400"/>
            </a:lvl4pPr>
            <a:lvl5pPr indent="-228600" lvl="4" marL="2286000" algn="l">
              <a:spcBef>
                <a:spcPts val="280"/>
              </a:spcBef>
              <a:spcAft>
                <a:spcPts val="0"/>
              </a:spcAft>
              <a:buClr>
                <a:schemeClr val="dk1"/>
              </a:buClr>
              <a:buSzPts val="1400"/>
              <a:buFont typeface="Times New Roman"/>
              <a:buNone/>
              <a:defRPr sz="1400"/>
            </a:lvl5pPr>
            <a:lvl6pPr indent="-228600" lvl="5" marL="2743200" algn="l">
              <a:spcBef>
                <a:spcPts val="280"/>
              </a:spcBef>
              <a:spcAft>
                <a:spcPts val="0"/>
              </a:spcAft>
              <a:buClr>
                <a:schemeClr val="dk1"/>
              </a:buClr>
              <a:buSzPts val="1400"/>
              <a:buFont typeface="Times New Roman"/>
              <a:buNone/>
              <a:defRPr sz="1400"/>
            </a:lvl6pPr>
            <a:lvl7pPr indent="-228600" lvl="6" marL="3200400" algn="l">
              <a:spcBef>
                <a:spcPts val="280"/>
              </a:spcBef>
              <a:spcAft>
                <a:spcPts val="0"/>
              </a:spcAft>
              <a:buClr>
                <a:schemeClr val="dk1"/>
              </a:buClr>
              <a:buSzPts val="1400"/>
              <a:buFont typeface="Times New Roman"/>
              <a:buNone/>
              <a:defRPr sz="1400"/>
            </a:lvl7pPr>
            <a:lvl8pPr indent="-228600" lvl="7" marL="3657600" algn="l">
              <a:spcBef>
                <a:spcPts val="280"/>
              </a:spcBef>
              <a:spcAft>
                <a:spcPts val="0"/>
              </a:spcAft>
              <a:buClr>
                <a:schemeClr val="dk1"/>
              </a:buClr>
              <a:buSzPts val="1400"/>
              <a:buFont typeface="Times New Roman"/>
              <a:buNone/>
              <a:defRPr sz="1400"/>
            </a:lvl8pPr>
            <a:lvl9pPr indent="-228600" lvl="8" marL="4114800" algn="l">
              <a:spcBef>
                <a:spcPts val="280"/>
              </a:spcBef>
              <a:spcAft>
                <a:spcPts val="0"/>
              </a:spcAft>
              <a:buClr>
                <a:schemeClr val="dk1"/>
              </a:buClr>
              <a:buSzPts val="1400"/>
              <a:buFont typeface="Times New Roman"/>
              <a:buNone/>
              <a:defRPr sz="1400"/>
            </a:lvl9pPr>
          </a:lstStyle>
          <a:p/>
        </p:txBody>
      </p:sp>
      <p:sp>
        <p:nvSpPr>
          <p:cNvPr id="30" name="Google Shape;30;p4"/>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685800" y="457200"/>
            <a:ext cx="7772400" cy="8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 name="Google Shape;35;p5"/>
          <p:cNvSpPr txBox="1"/>
          <p:nvPr>
            <p:ph idx="1" type="body"/>
          </p:nvPr>
        </p:nvSpPr>
        <p:spPr>
          <a:xfrm>
            <a:off x="685800" y="1485900"/>
            <a:ext cx="3810000" cy="30861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Times New Roman"/>
              <a:buChar char="•"/>
              <a:defRPr sz="2800"/>
            </a:lvl1pPr>
            <a:lvl2pPr indent="-381000" lvl="1" marL="914400" algn="l">
              <a:spcBef>
                <a:spcPts val="480"/>
              </a:spcBef>
              <a:spcAft>
                <a:spcPts val="0"/>
              </a:spcAft>
              <a:buClr>
                <a:schemeClr val="dk1"/>
              </a:buClr>
              <a:buSzPts val="2400"/>
              <a:buFont typeface="Times New Roman"/>
              <a:buChar char="–"/>
              <a:defRPr sz="2400"/>
            </a:lvl2pPr>
            <a:lvl3pPr indent="-355600" lvl="2" marL="1371600" algn="l">
              <a:spcBef>
                <a:spcPts val="400"/>
              </a:spcBef>
              <a:spcAft>
                <a:spcPts val="0"/>
              </a:spcAft>
              <a:buClr>
                <a:schemeClr val="dk1"/>
              </a:buClr>
              <a:buSzPts val="2000"/>
              <a:buFont typeface="Times New Roman"/>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36" name="Google Shape;36;p5"/>
          <p:cNvSpPr txBox="1"/>
          <p:nvPr>
            <p:ph idx="2" type="body"/>
          </p:nvPr>
        </p:nvSpPr>
        <p:spPr>
          <a:xfrm>
            <a:off x="4648200" y="1485900"/>
            <a:ext cx="3810000" cy="30861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Times New Roman"/>
              <a:buChar char="•"/>
              <a:defRPr sz="2800"/>
            </a:lvl1pPr>
            <a:lvl2pPr indent="-381000" lvl="1" marL="914400" algn="l">
              <a:spcBef>
                <a:spcPts val="480"/>
              </a:spcBef>
              <a:spcAft>
                <a:spcPts val="0"/>
              </a:spcAft>
              <a:buClr>
                <a:schemeClr val="dk1"/>
              </a:buClr>
              <a:buSzPts val="2400"/>
              <a:buFont typeface="Times New Roman"/>
              <a:buChar char="–"/>
              <a:defRPr sz="2400"/>
            </a:lvl2pPr>
            <a:lvl3pPr indent="-355600" lvl="2" marL="1371600" algn="l">
              <a:spcBef>
                <a:spcPts val="400"/>
              </a:spcBef>
              <a:spcAft>
                <a:spcPts val="0"/>
              </a:spcAft>
              <a:buClr>
                <a:schemeClr val="dk1"/>
              </a:buClr>
              <a:buSzPts val="2000"/>
              <a:buFont typeface="Times New Roman"/>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37" name="Google Shape;37;p5"/>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 name="Google Shape;42;p6"/>
          <p:cNvSpPr txBox="1"/>
          <p:nvPr>
            <p:ph idx="1" type="body"/>
          </p:nvPr>
        </p:nvSpPr>
        <p:spPr>
          <a:xfrm>
            <a:off x="457200" y="1151335"/>
            <a:ext cx="4040100" cy="479700"/>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400"/>
              </a:spcBef>
              <a:spcAft>
                <a:spcPts val="0"/>
              </a:spcAft>
              <a:buClr>
                <a:schemeClr val="dk1"/>
              </a:buClr>
              <a:buSzPts val="2000"/>
              <a:buFont typeface="Times New Roman"/>
              <a:buNone/>
              <a:defRPr b="1" sz="20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43" name="Google Shape;43;p6"/>
          <p:cNvSpPr txBox="1"/>
          <p:nvPr>
            <p:ph idx="2" type="body"/>
          </p:nvPr>
        </p:nvSpPr>
        <p:spPr>
          <a:xfrm>
            <a:off x="457200" y="1631156"/>
            <a:ext cx="4040100" cy="2963400"/>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Times New Roman"/>
              <a:buChar char="•"/>
              <a:defRPr sz="2400"/>
            </a:lvl1pPr>
            <a:lvl2pPr indent="-355600" lvl="1" marL="914400" algn="l">
              <a:spcBef>
                <a:spcPts val="400"/>
              </a:spcBef>
              <a:spcAft>
                <a:spcPts val="0"/>
              </a:spcAft>
              <a:buClr>
                <a:schemeClr val="dk1"/>
              </a:buClr>
              <a:buSzPts val="2000"/>
              <a:buFont typeface="Times New Roman"/>
              <a:buChar char="–"/>
              <a:defRPr sz="2000"/>
            </a:lvl2pPr>
            <a:lvl3pPr indent="-342900" lvl="2" marL="1371600" algn="l">
              <a:spcBef>
                <a:spcPts val="360"/>
              </a:spcBef>
              <a:spcAft>
                <a:spcPts val="0"/>
              </a:spcAft>
              <a:buClr>
                <a:schemeClr val="dk1"/>
              </a:buClr>
              <a:buSzPts val="1800"/>
              <a:buFont typeface="Times New Roman"/>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44" name="Google Shape;44;p6"/>
          <p:cNvSpPr txBox="1"/>
          <p:nvPr>
            <p:ph idx="3" type="body"/>
          </p:nvPr>
        </p:nvSpPr>
        <p:spPr>
          <a:xfrm>
            <a:off x="4645025" y="1151335"/>
            <a:ext cx="4041900" cy="479700"/>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400"/>
              </a:spcBef>
              <a:spcAft>
                <a:spcPts val="0"/>
              </a:spcAft>
              <a:buClr>
                <a:schemeClr val="dk1"/>
              </a:buClr>
              <a:buSzPts val="2000"/>
              <a:buFont typeface="Times New Roman"/>
              <a:buNone/>
              <a:defRPr b="1" sz="20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45" name="Google Shape;45;p6"/>
          <p:cNvSpPr txBox="1"/>
          <p:nvPr>
            <p:ph idx="4" type="body"/>
          </p:nvPr>
        </p:nvSpPr>
        <p:spPr>
          <a:xfrm>
            <a:off x="4645025" y="1631156"/>
            <a:ext cx="4041900" cy="2963400"/>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Times New Roman"/>
              <a:buChar char="•"/>
              <a:defRPr sz="2400"/>
            </a:lvl1pPr>
            <a:lvl2pPr indent="-355600" lvl="1" marL="914400" algn="l">
              <a:spcBef>
                <a:spcPts val="400"/>
              </a:spcBef>
              <a:spcAft>
                <a:spcPts val="0"/>
              </a:spcAft>
              <a:buClr>
                <a:schemeClr val="dk1"/>
              </a:buClr>
              <a:buSzPts val="2000"/>
              <a:buFont typeface="Times New Roman"/>
              <a:buChar char="–"/>
              <a:defRPr sz="2000"/>
            </a:lvl2pPr>
            <a:lvl3pPr indent="-342900" lvl="2" marL="1371600" algn="l">
              <a:spcBef>
                <a:spcPts val="360"/>
              </a:spcBef>
              <a:spcAft>
                <a:spcPts val="0"/>
              </a:spcAft>
              <a:buClr>
                <a:schemeClr val="dk1"/>
              </a:buClr>
              <a:buSzPts val="1800"/>
              <a:buFont typeface="Times New Roman"/>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46" name="Google Shape;46;p6"/>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ólo el título"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685800" y="457200"/>
            <a:ext cx="7772400" cy="8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 name="Google Shape;51;p7"/>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04788"/>
            <a:ext cx="3008400" cy="8715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9"/>
          <p:cNvSpPr txBox="1"/>
          <p:nvPr>
            <p:ph idx="1" type="body"/>
          </p:nvPr>
        </p:nvSpPr>
        <p:spPr>
          <a:xfrm>
            <a:off x="3575050" y="204788"/>
            <a:ext cx="5111700" cy="4389900"/>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Times New Roman"/>
              <a:buChar char="•"/>
              <a:defRPr sz="3200"/>
            </a:lvl1pPr>
            <a:lvl2pPr indent="-406400" lvl="1" marL="914400" algn="l">
              <a:spcBef>
                <a:spcPts val="560"/>
              </a:spcBef>
              <a:spcAft>
                <a:spcPts val="0"/>
              </a:spcAft>
              <a:buClr>
                <a:schemeClr val="dk1"/>
              </a:buClr>
              <a:buSzPts val="2800"/>
              <a:buFont typeface="Times New Roman"/>
              <a:buChar char="–"/>
              <a:defRPr sz="2800"/>
            </a:lvl2pPr>
            <a:lvl3pPr indent="-381000" lvl="2" marL="1371600" algn="l">
              <a:spcBef>
                <a:spcPts val="480"/>
              </a:spcBef>
              <a:spcAft>
                <a:spcPts val="0"/>
              </a:spcAft>
              <a:buClr>
                <a:schemeClr val="dk1"/>
              </a:buClr>
              <a:buSzPts val="2400"/>
              <a:buFont typeface="Times New Roman"/>
              <a:buChar char="•"/>
              <a:defRPr sz="2400"/>
            </a:lvl3pPr>
            <a:lvl4pPr indent="-355600" lvl="3" marL="1828800" algn="l">
              <a:spcBef>
                <a:spcPts val="400"/>
              </a:spcBef>
              <a:spcAft>
                <a:spcPts val="0"/>
              </a:spcAft>
              <a:buClr>
                <a:schemeClr val="dk1"/>
              </a:buClr>
              <a:buSzPts val="2000"/>
              <a:buFont typeface="Times New Roman"/>
              <a:buChar char="–"/>
              <a:defRPr sz="2000"/>
            </a:lvl4pPr>
            <a:lvl5pPr indent="-355600" lvl="4" marL="2286000" algn="l">
              <a:spcBef>
                <a:spcPts val="400"/>
              </a:spcBef>
              <a:spcAft>
                <a:spcPts val="0"/>
              </a:spcAft>
              <a:buClr>
                <a:schemeClr val="dk1"/>
              </a:buClr>
              <a:buSzPts val="2000"/>
              <a:buFont typeface="Times New Roman"/>
              <a:buChar char="»"/>
              <a:defRPr sz="2000"/>
            </a:lvl5pPr>
            <a:lvl6pPr indent="-355600" lvl="5" marL="2743200" algn="l">
              <a:spcBef>
                <a:spcPts val="400"/>
              </a:spcBef>
              <a:spcAft>
                <a:spcPts val="0"/>
              </a:spcAft>
              <a:buClr>
                <a:schemeClr val="dk1"/>
              </a:buClr>
              <a:buSzPts val="2000"/>
              <a:buFont typeface="Times New Roman"/>
              <a:buChar char="»"/>
              <a:defRPr sz="2000"/>
            </a:lvl6pPr>
            <a:lvl7pPr indent="-355600" lvl="6" marL="3200400" algn="l">
              <a:spcBef>
                <a:spcPts val="400"/>
              </a:spcBef>
              <a:spcAft>
                <a:spcPts val="0"/>
              </a:spcAft>
              <a:buClr>
                <a:schemeClr val="dk1"/>
              </a:buClr>
              <a:buSzPts val="2000"/>
              <a:buFont typeface="Times New Roman"/>
              <a:buChar char="»"/>
              <a:defRPr sz="2000"/>
            </a:lvl7pPr>
            <a:lvl8pPr indent="-355600" lvl="7" marL="3657600" algn="l">
              <a:spcBef>
                <a:spcPts val="400"/>
              </a:spcBef>
              <a:spcAft>
                <a:spcPts val="0"/>
              </a:spcAft>
              <a:buClr>
                <a:schemeClr val="dk1"/>
              </a:buClr>
              <a:buSzPts val="2000"/>
              <a:buFont typeface="Times New Roman"/>
              <a:buChar char="»"/>
              <a:defRPr sz="2000"/>
            </a:lvl8pPr>
            <a:lvl9pPr indent="-355600" lvl="8" marL="4114800" algn="l">
              <a:spcBef>
                <a:spcPts val="400"/>
              </a:spcBef>
              <a:spcAft>
                <a:spcPts val="0"/>
              </a:spcAft>
              <a:buClr>
                <a:schemeClr val="dk1"/>
              </a:buClr>
              <a:buSzPts val="2000"/>
              <a:buFont typeface="Times New Roman"/>
              <a:buChar char="»"/>
              <a:defRPr sz="2000"/>
            </a:lvl9pPr>
          </a:lstStyle>
          <a:p/>
        </p:txBody>
      </p:sp>
      <p:sp>
        <p:nvSpPr>
          <p:cNvPr id="61" name="Google Shape;61;p9"/>
          <p:cNvSpPr txBox="1"/>
          <p:nvPr>
            <p:ph idx="2" type="body"/>
          </p:nvPr>
        </p:nvSpPr>
        <p:spPr>
          <a:xfrm>
            <a:off x="457200" y="1076325"/>
            <a:ext cx="3008400" cy="3518400"/>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Times New Roman"/>
              <a:buNone/>
              <a:defRPr sz="1400"/>
            </a:lvl1pPr>
            <a:lvl2pPr indent="-228600" lvl="1" marL="914400" algn="l">
              <a:spcBef>
                <a:spcPts val="240"/>
              </a:spcBef>
              <a:spcAft>
                <a:spcPts val="0"/>
              </a:spcAft>
              <a:buClr>
                <a:schemeClr val="dk1"/>
              </a:buClr>
              <a:buSzPts val="1200"/>
              <a:buFont typeface="Times New Roman"/>
              <a:buNone/>
              <a:defRPr sz="1200"/>
            </a:lvl2pPr>
            <a:lvl3pPr indent="-228600" lvl="2" marL="1371600" algn="l">
              <a:spcBef>
                <a:spcPts val="200"/>
              </a:spcBef>
              <a:spcAft>
                <a:spcPts val="0"/>
              </a:spcAft>
              <a:buClr>
                <a:schemeClr val="dk1"/>
              </a:buClr>
              <a:buSzPts val="1000"/>
              <a:buFont typeface="Times New Roman"/>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62" name="Google Shape;62;p9"/>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3600450"/>
            <a:ext cx="5486400" cy="4251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7" name="Google Shape;67;p10"/>
          <p:cNvSpPr/>
          <p:nvPr>
            <p:ph idx="2" type="pic"/>
          </p:nvPr>
        </p:nvSpPr>
        <p:spPr>
          <a:xfrm>
            <a:off x="1792288" y="459581"/>
            <a:ext cx="5486400" cy="3086100"/>
          </a:xfrm>
          <a:prstGeom prst="rect">
            <a:avLst/>
          </a:prstGeom>
          <a:noFill/>
          <a:ln>
            <a:noFill/>
          </a:ln>
        </p:spPr>
        <p:txBody>
          <a:bodyPr anchorCtr="0" anchor="t" bIns="45700" lIns="91425" spcFirstLastPara="1" rIns="91425" wrap="square" tIns="45700">
            <a:noAutofit/>
          </a:bodyPr>
          <a:lstStyle>
            <a:lvl1pPr lvl="0" marR="0" rtl="0" algn="l">
              <a:spcBef>
                <a:spcPts val="640"/>
              </a:spcBef>
              <a:spcAft>
                <a:spcPts val="0"/>
              </a:spcAft>
              <a:buClr>
                <a:schemeClr val="dk1"/>
              </a:buClr>
              <a:buSzPts val="3200"/>
              <a:buFont typeface="Times New Roman"/>
              <a:buNone/>
              <a:defRPr b="0" i="0" sz="3200" u="none" cap="none" strike="noStrike">
                <a:solidFill>
                  <a:schemeClr val="dk1"/>
                </a:solidFill>
                <a:latin typeface="Times New Roman"/>
                <a:ea typeface="Times New Roman"/>
                <a:cs typeface="Times New Roman"/>
                <a:sym typeface="Times New Roman"/>
              </a:defRPr>
            </a:lvl1pPr>
            <a:lvl2pPr lvl="1" marR="0" rtl="0" algn="l">
              <a:spcBef>
                <a:spcPts val="560"/>
              </a:spcBef>
              <a:spcAft>
                <a:spcPts val="0"/>
              </a:spcAft>
              <a:buClr>
                <a:schemeClr val="dk1"/>
              </a:buClr>
              <a:buSzPts val="2800"/>
              <a:buFont typeface="Times New Roman"/>
              <a:buNone/>
              <a:defRPr b="0" i="0" sz="2800" u="none" cap="none" strike="noStrike">
                <a:solidFill>
                  <a:schemeClr val="dk1"/>
                </a:solidFill>
                <a:latin typeface="Times New Roman"/>
                <a:ea typeface="Times New Roman"/>
                <a:cs typeface="Times New Roman"/>
                <a:sym typeface="Times New Roman"/>
              </a:defRPr>
            </a:lvl2pPr>
            <a:lvl3pPr lvl="2" marR="0" rtl="0" algn="l">
              <a:spcBef>
                <a:spcPts val="48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4pPr>
            <a:lvl5pPr lvl="4"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5pPr>
            <a:lvl6pPr lvl="5"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6pPr>
            <a:lvl7pPr lvl="6"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7pPr>
            <a:lvl8pPr lvl="7"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8pPr>
            <a:lvl9pPr lvl="8"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9pPr>
          </a:lstStyle>
          <a:p/>
        </p:txBody>
      </p:sp>
      <p:sp>
        <p:nvSpPr>
          <p:cNvPr id="68" name="Google Shape;68;p10"/>
          <p:cNvSpPr txBox="1"/>
          <p:nvPr>
            <p:ph idx="1" type="body"/>
          </p:nvPr>
        </p:nvSpPr>
        <p:spPr>
          <a:xfrm>
            <a:off x="1792288" y="4025503"/>
            <a:ext cx="5486400" cy="603600"/>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Times New Roman"/>
              <a:buNone/>
              <a:defRPr sz="1400"/>
            </a:lvl1pPr>
            <a:lvl2pPr indent="-228600" lvl="1" marL="914400" algn="l">
              <a:spcBef>
                <a:spcPts val="240"/>
              </a:spcBef>
              <a:spcAft>
                <a:spcPts val="0"/>
              </a:spcAft>
              <a:buClr>
                <a:schemeClr val="dk1"/>
              </a:buClr>
              <a:buSzPts val="1200"/>
              <a:buFont typeface="Times New Roman"/>
              <a:buNone/>
              <a:defRPr sz="1200"/>
            </a:lvl2pPr>
            <a:lvl3pPr indent="-228600" lvl="2" marL="1371600" algn="l">
              <a:spcBef>
                <a:spcPts val="200"/>
              </a:spcBef>
              <a:spcAft>
                <a:spcPts val="0"/>
              </a:spcAft>
              <a:buClr>
                <a:schemeClr val="dk1"/>
              </a:buClr>
              <a:buSzPts val="1000"/>
              <a:buFont typeface="Times New Roman"/>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69" name="Google Shape;69;p10"/>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685800" y="457200"/>
            <a:ext cx="7772400" cy="8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 name="Google Shape;74;p11"/>
          <p:cNvSpPr txBox="1"/>
          <p:nvPr>
            <p:ph idx="1" type="body"/>
          </p:nvPr>
        </p:nvSpPr>
        <p:spPr>
          <a:xfrm rot="5400000">
            <a:off x="3028950" y="-857250"/>
            <a:ext cx="3086100" cy="7772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5429250" y="1543050"/>
            <a:ext cx="4114800" cy="1943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12"/>
          <p:cNvSpPr txBox="1"/>
          <p:nvPr>
            <p:ph idx="1" type="body"/>
          </p:nvPr>
        </p:nvSpPr>
        <p:spPr>
          <a:xfrm rot="5400000">
            <a:off x="1466850" y="-323850"/>
            <a:ext cx="4114800" cy="56769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CC99FF"/>
            </a:gs>
            <a:gs pos="100000">
              <a:schemeClr val="lt1"/>
            </a:gs>
          </a:gsLst>
          <a:lin ang="2700000" scaled="0"/>
        </a:gra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85800" y="457200"/>
            <a:ext cx="7772400" cy="8574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11" name="Google Shape;11;p1"/>
          <p:cNvSpPr txBox="1"/>
          <p:nvPr>
            <p:ph idx="1" type="body"/>
          </p:nvPr>
        </p:nvSpPr>
        <p:spPr>
          <a:xfrm>
            <a:off x="685800" y="1485900"/>
            <a:ext cx="7772400" cy="30861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Times New Roman"/>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2" name="Google Shape;12;p1"/>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3" name="Google Shape;13;p1"/>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4" name="Google Shape;14;p1"/>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1pPr>
            <a:lvl2pPr indent="0" lvl="1"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2pPr>
            <a:lvl3pPr indent="0" lvl="2"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3pPr>
            <a:lvl4pPr indent="0" lvl="3"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4pPr>
            <a:lvl5pPr indent="0" lvl="4"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5pPr>
            <a:lvl6pPr indent="0" lvl="5"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6pPr>
            <a:lvl7pPr indent="0" lvl="6"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7pPr>
            <a:lvl8pPr indent="0" lvl="7"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8pPr>
            <a:lvl9pPr indent="0" lvl="8"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A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ph type="ctrTitle"/>
          </p:nvPr>
        </p:nvSpPr>
        <p:spPr>
          <a:xfrm>
            <a:off x="685800" y="285750"/>
            <a:ext cx="7772400" cy="857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i="1" lang="es-AR"/>
              <a:t>Programación Imperativa</a:t>
            </a:r>
            <a:endParaRPr/>
          </a:p>
        </p:txBody>
      </p:sp>
      <p:sp>
        <p:nvSpPr>
          <p:cNvPr id="89" name="Google Shape;89;p13"/>
          <p:cNvSpPr txBox="1"/>
          <p:nvPr/>
        </p:nvSpPr>
        <p:spPr>
          <a:xfrm>
            <a:off x="1066800" y="1593056"/>
            <a:ext cx="4038600" cy="870300"/>
          </a:xfrm>
          <a:prstGeom prst="rect">
            <a:avLst/>
          </a:prstGeom>
          <a:noFill/>
          <a:ln>
            <a:noFill/>
          </a:ln>
        </p:spPr>
        <p:txBody>
          <a:bodyPr anchorCtr="0" anchor="t" bIns="45700" lIns="91425" spcFirstLastPara="1" rIns="91425" wrap="square" tIns="45700">
            <a:noAutofit/>
          </a:bodyPr>
          <a:lstStyle/>
          <a:p>
            <a:pPr indent="-177800" lvl="0" marL="0" marR="0" rtl="0" algn="l">
              <a:spcBef>
                <a:spcPts val="0"/>
              </a:spcBef>
              <a:spcAft>
                <a:spcPts val="0"/>
              </a:spcAft>
              <a:buClr>
                <a:schemeClr val="dk1"/>
              </a:buClr>
              <a:buSzPts val="2800"/>
              <a:buFont typeface="Noto Sans Symbols"/>
              <a:buChar char="❖"/>
            </a:pPr>
            <a:r>
              <a:rPr b="1" i="0" lang="es-AR" sz="2800" u="none" cap="none" strike="noStrike">
                <a:solidFill>
                  <a:schemeClr val="dk1"/>
                </a:solidFill>
                <a:latin typeface="Times New Roman"/>
                <a:ea typeface="Times New Roman"/>
                <a:cs typeface="Times New Roman"/>
                <a:sym typeface="Times New Roman"/>
              </a:rPr>
              <a:t>  Registros (struct)</a:t>
            </a:r>
            <a:endParaRPr/>
          </a:p>
          <a:p>
            <a:pPr indent="-177800" lvl="0" marL="0" marR="0" rtl="0" algn="l">
              <a:spcBef>
                <a:spcPts val="1400"/>
              </a:spcBef>
              <a:spcAft>
                <a:spcPts val="0"/>
              </a:spcAft>
              <a:buClr>
                <a:schemeClr val="dk1"/>
              </a:buClr>
              <a:buSzPts val="2800"/>
              <a:buFont typeface="Noto Sans Symbols"/>
              <a:buChar char="❖"/>
            </a:pPr>
            <a:r>
              <a:rPr b="1" i="0" lang="es-AR" sz="2800" u="none" cap="none" strike="noStrike">
                <a:solidFill>
                  <a:schemeClr val="dk1"/>
                </a:solidFill>
                <a:latin typeface="Times New Roman"/>
                <a:ea typeface="Times New Roman"/>
                <a:cs typeface="Times New Roman"/>
                <a:sym typeface="Times New Roman"/>
              </a:rPr>
              <a:t>  Uniones (union)</a:t>
            </a:r>
            <a:endParaRPr b="1" i="0" sz="2800" u="none" cap="none" strike="noStrike">
              <a:solidFill>
                <a:schemeClr val="dk1"/>
              </a:solidFill>
              <a:latin typeface="Times New Roman"/>
              <a:ea typeface="Times New Roman"/>
              <a:cs typeface="Times New Roman"/>
              <a:sym typeface="Times New Roman"/>
            </a:endParaRPr>
          </a:p>
        </p:txBody>
      </p:sp>
      <p:sp>
        <p:nvSpPr>
          <p:cNvPr id="90" name="Google Shape;90;p13"/>
          <p:cNvSpPr txBox="1"/>
          <p:nvPr/>
        </p:nvSpPr>
        <p:spPr>
          <a:xfrm>
            <a:off x="269250" y="2954300"/>
            <a:ext cx="8605500" cy="1907100"/>
          </a:xfrm>
          <a:prstGeom prst="rect">
            <a:avLst/>
          </a:prstGeom>
          <a:noFill/>
          <a:ln cap="flat" cmpd="sng" w="9525">
            <a:solidFill>
              <a:srgbClr val="000000"/>
            </a:solidFill>
            <a:prstDash val="solid"/>
            <a:round/>
            <a:headEnd len="sm" w="sm" type="none"/>
            <a:tailEnd len="sm" w="sm" type="none"/>
          </a:ln>
        </p:spPr>
        <p:txBody>
          <a:bodyPr anchorCtr="0" anchor="t" bIns="35100" lIns="67500" spcFirstLastPara="1" rIns="67500" wrap="square" tIns="35100">
            <a:noAutofit/>
          </a:bodyPr>
          <a:lstStyle/>
          <a:p>
            <a:pPr indent="0" lvl="0" marL="0" rtl="0" algn="l">
              <a:spcBef>
                <a:spcPts val="360"/>
              </a:spcBef>
              <a:spcAft>
                <a:spcPts val="0"/>
              </a:spcAft>
              <a:buSzPts val="1100"/>
              <a:buNone/>
            </a:pPr>
            <a:r>
              <a:rPr lang="es-AR" sz="3200">
                <a:solidFill>
                  <a:srgbClr val="000000"/>
                </a:solidFill>
                <a:latin typeface="Times New Roman"/>
                <a:ea typeface="Times New Roman"/>
                <a:cs typeface="Times New Roman"/>
                <a:sym typeface="Times New Roman"/>
              </a:rPr>
              <a:t>Lecturas previas recomendadas</a:t>
            </a:r>
            <a:endParaRPr sz="3200">
              <a:solidFill>
                <a:srgbClr val="000000"/>
              </a:solidFill>
              <a:latin typeface="Times New Roman"/>
              <a:ea typeface="Times New Roman"/>
              <a:cs typeface="Times New Roman"/>
              <a:sym typeface="Times New Roman"/>
            </a:endParaRPr>
          </a:p>
          <a:p>
            <a:pPr indent="0" lvl="0" marL="0" rtl="0" algn="l">
              <a:spcBef>
                <a:spcPts val="360"/>
              </a:spcBef>
              <a:spcAft>
                <a:spcPts val="0"/>
              </a:spcAft>
              <a:buClr>
                <a:srgbClr val="000000"/>
              </a:buClr>
              <a:buSzPts val="1100"/>
              <a:buFont typeface="Arial"/>
              <a:buNone/>
            </a:pPr>
            <a:r>
              <a:t/>
            </a:r>
            <a:endParaRPr sz="1700">
              <a:solidFill>
                <a:srgbClr val="000000"/>
              </a:solidFill>
              <a:latin typeface="Times New Roman"/>
              <a:ea typeface="Times New Roman"/>
              <a:cs typeface="Times New Roman"/>
              <a:sym typeface="Times New Roman"/>
            </a:endParaRPr>
          </a:p>
          <a:p>
            <a:pPr indent="-406400" lvl="0" marL="457200" marR="0" rtl="0" algn="l">
              <a:spcBef>
                <a:spcPts val="0"/>
              </a:spcBef>
              <a:spcAft>
                <a:spcPts val="0"/>
              </a:spcAft>
              <a:buClr>
                <a:srgbClr val="CC0000"/>
              </a:buClr>
              <a:buSzPts val="2800"/>
              <a:buChar char="●"/>
            </a:pPr>
            <a:r>
              <a:rPr b="1" lang="es-AR" sz="2800">
                <a:solidFill>
                  <a:srgbClr val="CC0000"/>
                </a:solidFill>
                <a:latin typeface="Times New Roman"/>
                <a:ea typeface="Times New Roman"/>
                <a:cs typeface="Times New Roman"/>
                <a:sym typeface="Times New Roman"/>
              </a:rPr>
              <a:t>K&amp;R</a:t>
            </a:r>
            <a:r>
              <a:rPr b="1" lang="es-AR" sz="2800">
                <a:solidFill>
                  <a:srgbClr val="CC0000"/>
                </a:solidFill>
              </a:rPr>
              <a:t>  </a:t>
            </a:r>
            <a:r>
              <a:rPr b="1" lang="es-AR" sz="2800">
                <a:solidFill>
                  <a:srgbClr val="CC0000"/>
                </a:solidFill>
                <a:latin typeface="Times New Roman"/>
                <a:ea typeface="Times New Roman"/>
                <a:cs typeface="Times New Roman"/>
                <a:sym typeface="Times New Roman"/>
              </a:rPr>
              <a:t>6</a:t>
            </a:r>
            <a:endParaRPr b="1" sz="2800">
              <a:solidFill>
                <a:srgbClr val="CC0000"/>
              </a:solidFill>
              <a:latin typeface="Times New Roman"/>
              <a:ea typeface="Times New Roman"/>
              <a:cs typeface="Times New Roman"/>
              <a:sym typeface="Times New Roman"/>
            </a:endParaRPr>
          </a:p>
          <a:p>
            <a:pPr indent="-355600" lvl="0" marL="457200" marR="0" rtl="0" algn="l">
              <a:spcBef>
                <a:spcPts val="0"/>
              </a:spcBef>
              <a:spcAft>
                <a:spcPts val="0"/>
              </a:spcAft>
              <a:buClr>
                <a:srgbClr val="CC0000"/>
              </a:buClr>
              <a:buSzPts val="2000"/>
              <a:buFont typeface="Times New Roman"/>
              <a:buChar char="●"/>
            </a:pPr>
            <a:r>
              <a:rPr b="1" lang="es-AR" sz="2000">
                <a:solidFill>
                  <a:srgbClr val="CC0000"/>
                </a:solidFill>
                <a:latin typeface="Times New Roman"/>
                <a:ea typeface="Times New Roman"/>
                <a:cs typeface="Times New Roman"/>
                <a:sym typeface="Times New Roman"/>
              </a:rPr>
              <a:t>https://www.youtube.com/watch?v=N5pA7RvvQDg&amp;feature=youtu.be</a:t>
            </a:r>
            <a:endParaRPr b="1" sz="2000">
              <a:solidFill>
                <a:srgbClr val="CC0000"/>
              </a:solidFill>
              <a:latin typeface="Times New Roman"/>
              <a:ea typeface="Times New Roman"/>
              <a:cs typeface="Times New Roman"/>
              <a:sym typeface="Times New Roman"/>
            </a:endParaRPr>
          </a:p>
          <a:p>
            <a:pPr indent="0" lvl="0" marL="457200" marR="0" rtl="0" algn="l">
              <a:spcBef>
                <a:spcPts val="0"/>
              </a:spcBef>
              <a:spcAft>
                <a:spcPts val="0"/>
              </a:spcAft>
              <a:buNone/>
            </a:pPr>
            <a:r>
              <a:t/>
            </a:r>
            <a:endParaRPr b="1" sz="2500">
              <a:solidFill>
                <a:srgbClr val="783F04"/>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nvSpPr>
        <p:spPr>
          <a:xfrm>
            <a:off x="2362200" y="233363"/>
            <a:ext cx="6316800" cy="8907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chemeClr val="dk1"/>
              </a:buClr>
              <a:buSzPts val="2400"/>
              <a:buFont typeface="Arial Black"/>
              <a:buNone/>
            </a:pPr>
            <a:r>
              <a:rPr lang="es-AR" sz="2300">
                <a:solidFill>
                  <a:schemeClr val="dk1"/>
                </a:solidFill>
                <a:latin typeface="Arial Black"/>
                <a:ea typeface="Arial Black"/>
                <a:cs typeface="Arial Black"/>
                <a:sym typeface="Arial Black"/>
              </a:rPr>
              <a:t>Colección de datos caracterizada por su </a:t>
            </a:r>
            <a:r>
              <a:rPr lang="es-AR" sz="2300">
                <a:solidFill>
                  <a:srgbClr val="CC0066"/>
                </a:solidFill>
                <a:latin typeface="Arial Black"/>
                <a:ea typeface="Arial Black"/>
                <a:cs typeface="Arial Black"/>
                <a:sym typeface="Arial Black"/>
              </a:rPr>
              <a:t>homogeneidad</a:t>
            </a:r>
            <a:r>
              <a:rPr lang="es-AR" sz="2300">
                <a:solidFill>
                  <a:schemeClr val="dk1"/>
                </a:solidFill>
                <a:latin typeface="Arial Black"/>
                <a:ea typeface="Arial Black"/>
                <a:cs typeface="Arial Black"/>
                <a:sym typeface="Arial Black"/>
              </a:rPr>
              <a:t> y </a:t>
            </a:r>
            <a:r>
              <a:rPr lang="es-AR" sz="2300">
                <a:solidFill>
                  <a:srgbClr val="CC0066"/>
                </a:solidFill>
                <a:latin typeface="Arial Black"/>
                <a:ea typeface="Arial Black"/>
                <a:cs typeface="Arial Black"/>
                <a:sym typeface="Arial Black"/>
              </a:rPr>
              <a:t>orden. </a:t>
            </a:r>
            <a:r>
              <a:rPr lang="es-AR" sz="2300">
                <a:solidFill>
                  <a:schemeClr val="dk1"/>
                </a:solidFill>
                <a:latin typeface="Arial Black"/>
                <a:ea typeface="Arial Black"/>
                <a:cs typeface="Arial Black"/>
                <a:sym typeface="Arial Black"/>
              </a:rPr>
              <a:t>Sus elementos se identifican con</a:t>
            </a:r>
            <a:r>
              <a:rPr lang="es-AR" sz="2300">
                <a:solidFill>
                  <a:srgbClr val="CC0066"/>
                </a:solidFill>
                <a:latin typeface="Arial Black"/>
                <a:ea typeface="Arial Black"/>
                <a:cs typeface="Arial Black"/>
                <a:sym typeface="Arial Black"/>
              </a:rPr>
              <a:t> índices</a:t>
            </a:r>
            <a:endParaRPr sz="2300">
              <a:solidFill>
                <a:srgbClr val="CC0066"/>
              </a:solidFill>
              <a:latin typeface="Arial Black"/>
              <a:ea typeface="Arial Black"/>
              <a:cs typeface="Arial Black"/>
              <a:sym typeface="Arial Black"/>
            </a:endParaRPr>
          </a:p>
        </p:txBody>
      </p:sp>
      <p:sp>
        <p:nvSpPr>
          <p:cNvPr id="96" name="Google Shape;96;p14"/>
          <p:cNvSpPr/>
          <p:nvPr/>
        </p:nvSpPr>
        <p:spPr>
          <a:xfrm>
            <a:off x="2043125" y="285750"/>
            <a:ext cx="381000" cy="1028700"/>
          </a:xfrm>
          <a:prstGeom prst="leftBrace">
            <a:avLst>
              <a:gd fmla="val 28333" name="adj1"/>
              <a:gd fmla="val 50000" name="adj2"/>
            </a:avLst>
          </a:prstGeom>
          <a:noFill/>
          <a:ln cap="flat" cmpd="sng" w="381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97" name="Google Shape;97;p14"/>
          <p:cNvSpPr txBox="1"/>
          <p:nvPr/>
        </p:nvSpPr>
        <p:spPr>
          <a:xfrm>
            <a:off x="304800" y="571500"/>
            <a:ext cx="1676400" cy="3894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800"/>
              <a:buFont typeface="Arial Black"/>
              <a:buNone/>
            </a:pPr>
            <a:r>
              <a:rPr lang="es-AR" sz="2800">
                <a:solidFill>
                  <a:schemeClr val="dk1"/>
                </a:solidFill>
                <a:latin typeface="Arial Black"/>
                <a:ea typeface="Arial Black"/>
                <a:cs typeface="Arial Black"/>
                <a:sym typeface="Arial Black"/>
              </a:rPr>
              <a:t>Arreglo</a:t>
            </a:r>
            <a:endParaRPr sz="2800">
              <a:solidFill>
                <a:schemeClr val="dk1"/>
              </a:solidFill>
              <a:latin typeface="Arial Black"/>
              <a:ea typeface="Arial Black"/>
              <a:cs typeface="Arial Black"/>
              <a:sym typeface="Arial Black"/>
            </a:endParaRPr>
          </a:p>
        </p:txBody>
      </p:sp>
      <p:grpSp>
        <p:nvGrpSpPr>
          <p:cNvPr id="98" name="Google Shape;98;p14"/>
          <p:cNvGrpSpPr/>
          <p:nvPr/>
        </p:nvGrpSpPr>
        <p:grpSpPr>
          <a:xfrm>
            <a:off x="76200" y="1600200"/>
            <a:ext cx="8534400" cy="1071563"/>
            <a:chOff x="48" y="1344"/>
            <a:chExt cx="5376" cy="900"/>
          </a:xfrm>
        </p:grpSpPr>
        <p:sp>
          <p:nvSpPr>
            <p:cNvPr id="99" name="Google Shape;99;p14"/>
            <p:cNvSpPr txBox="1"/>
            <p:nvPr/>
          </p:nvSpPr>
          <p:spPr>
            <a:xfrm>
              <a:off x="1539" y="1344"/>
              <a:ext cx="3885" cy="748"/>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chemeClr val="dk1"/>
                </a:buClr>
                <a:buSzPts val="2400"/>
                <a:buFont typeface="Arial Black"/>
                <a:buNone/>
              </a:pPr>
              <a:r>
                <a:rPr lang="es-AR" sz="2300">
                  <a:solidFill>
                    <a:schemeClr val="dk1"/>
                  </a:solidFill>
                  <a:latin typeface="Arial Black"/>
                  <a:ea typeface="Arial Black"/>
                  <a:cs typeface="Arial Black"/>
                  <a:sym typeface="Arial Black"/>
                </a:rPr>
                <a:t>Colección de datos </a:t>
              </a:r>
              <a:r>
                <a:rPr lang="es-AR" sz="2300">
                  <a:solidFill>
                    <a:srgbClr val="CC0066"/>
                  </a:solidFill>
                  <a:latin typeface="Arial Black"/>
                  <a:ea typeface="Arial Black"/>
                  <a:cs typeface="Arial Black"/>
                  <a:sym typeface="Arial Black"/>
                </a:rPr>
                <a:t>heterogéneos</a:t>
              </a:r>
              <a:r>
                <a:rPr lang="es-AR" sz="2300">
                  <a:solidFill>
                    <a:schemeClr val="dk1"/>
                  </a:solidFill>
                  <a:latin typeface="Arial Black"/>
                  <a:ea typeface="Arial Black"/>
                  <a:cs typeface="Arial Black"/>
                  <a:sym typeface="Arial Black"/>
                </a:rPr>
                <a:t> y </a:t>
              </a:r>
              <a:r>
                <a:rPr lang="es-AR" sz="2300">
                  <a:solidFill>
                    <a:srgbClr val="CC0066"/>
                  </a:solidFill>
                  <a:latin typeface="Arial Black"/>
                  <a:ea typeface="Arial Black"/>
                  <a:cs typeface="Arial Black"/>
                  <a:sym typeface="Arial Black"/>
                </a:rPr>
                <a:t>sin</a:t>
              </a:r>
              <a:r>
                <a:rPr lang="es-AR" sz="2300">
                  <a:solidFill>
                    <a:schemeClr val="dk1"/>
                  </a:solidFill>
                  <a:latin typeface="Arial Black"/>
                  <a:ea typeface="Arial Black"/>
                  <a:cs typeface="Arial Black"/>
                  <a:sym typeface="Arial Black"/>
                </a:rPr>
                <a:t> </a:t>
              </a:r>
              <a:r>
                <a:rPr lang="es-AR" sz="2300">
                  <a:solidFill>
                    <a:srgbClr val="CC0066"/>
                  </a:solidFill>
                  <a:latin typeface="Arial Black"/>
                  <a:ea typeface="Arial Black"/>
                  <a:cs typeface="Arial Black"/>
                  <a:sym typeface="Arial Black"/>
                </a:rPr>
                <a:t>orden. </a:t>
              </a:r>
              <a:r>
                <a:rPr lang="es-AR" sz="2300">
                  <a:solidFill>
                    <a:schemeClr val="dk1"/>
                  </a:solidFill>
                  <a:latin typeface="Arial Black"/>
                  <a:ea typeface="Arial Black"/>
                  <a:cs typeface="Arial Black"/>
                  <a:sym typeface="Arial Black"/>
                </a:rPr>
                <a:t>Sus elementos se identifican con</a:t>
              </a:r>
              <a:r>
                <a:rPr lang="es-AR" sz="2300">
                  <a:solidFill>
                    <a:srgbClr val="CC0066"/>
                  </a:solidFill>
                  <a:latin typeface="Arial Black"/>
                  <a:ea typeface="Arial Black"/>
                  <a:cs typeface="Arial Black"/>
                  <a:sym typeface="Arial Black"/>
                </a:rPr>
                <a:t> nombres</a:t>
              </a:r>
              <a:endParaRPr sz="2300">
                <a:solidFill>
                  <a:srgbClr val="CC0066"/>
                </a:solidFill>
                <a:latin typeface="Arial Black"/>
                <a:ea typeface="Arial Black"/>
                <a:cs typeface="Arial Black"/>
                <a:sym typeface="Arial Black"/>
              </a:endParaRPr>
            </a:p>
          </p:txBody>
        </p:sp>
        <p:sp>
          <p:nvSpPr>
            <p:cNvPr id="100" name="Google Shape;100;p14"/>
            <p:cNvSpPr/>
            <p:nvPr/>
          </p:nvSpPr>
          <p:spPr>
            <a:xfrm>
              <a:off x="1296" y="1344"/>
              <a:ext cx="300" cy="900"/>
            </a:xfrm>
            <a:prstGeom prst="leftBrace">
              <a:avLst>
                <a:gd fmla="val 28333" name="adj1"/>
                <a:gd fmla="val 50000" name="adj2"/>
              </a:avLst>
            </a:prstGeom>
            <a:noFill/>
            <a:ln cap="flat" cmpd="sng" w="381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101" name="Google Shape;101;p14"/>
            <p:cNvSpPr txBox="1"/>
            <p:nvPr/>
          </p:nvSpPr>
          <p:spPr>
            <a:xfrm>
              <a:off x="48" y="1392"/>
              <a:ext cx="1344" cy="73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800"/>
                <a:buFont typeface="Arial Black"/>
                <a:buNone/>
              </a:pPr>
              <a:r>
                <a:rPr lang="es-AR" sz="2800">
                  <a:solidFill>
                    <a:schemeClr val="dk1"/>
                  </a:solidFill>
                  <a:latin typeface="Arial Black"/>
                  <a:ea typeface="Arial Black"/>
                  <a:cs typeface="Arial Black"/>
                  <a:sym typeface="Arial Black"/>
                </a:rPr>
                <a:t>Registro</a:t>
              </a:r>
              <a:endParaRPr/>
            </a:p>
            <a:p>
              <a:pPr indent="0" lvl="0" marL="0" marR="0" rtl="0" algn="ctr">
                <a:spcBef>
                  <a:spcPts val="1400"/>
                </a:spcBef>
                <a:spcAft>
                  <a:spcPts val="0"/>
                </a:spcAft>
                <a:buClr>
                  <a:schemeClr val="dk1"/>
                </a:buClr>
                <a:buSzPts val="2800"/>
                <a:buFont typeface="Arial Black"/>
                <a:buNone/>
              </a:pPr>
              <a:r>
                <a:rPr lang="es-AR" sz="2800">
                  <a:solidFill>
                    <a:schemeClr val="dk1"/>
                  </a:solidFill>
                  <a:latin typeface="Arial Black"/>
                  <a:ea typeface="Arial Black"/>
                  <a:cs typeface="Arial Black"/>
                  <a:sym typeface="Arial Black"/>
                </a:rPr>
                <a:t>(struct)</a:t>
              </a:r>
              <a:endParaRPr sz="2800">
                <a:solidFill>
                  <a:schemeClr val="dk1"/>
                </a:solidFill>
                <a:latin typeface="Arial Black"/>
                <a:ea typeface="Arial Black"/>
                <a:cs typeface="Arial Black"/>
                <a:sym typeface="Arial Black"/>
              </a:endParaRPr>
            </a:p>
          </p:txBody>
        </p:sp>
      </p:grpSp>
      <p:grpSp>
        <p:nvGrpSpPr>
          <p:cNvPr id="102" name="Google Shape;102;p14"/>
          <p:cNvGrpSpPr/>
          <p:nvPr/>
        </p:nvGrpSpPr>
        <p:grpSpPr>
          <a:xfrm>
            <a:off x="228600" y="2857500"/>
            <a:ext cx="8628397" cy="2143126"/>
            <a:chOff x="228600" y="2857500"/>
            <a:chExt cx="8628397" cy="2143126"/>
          </a:xfrm>
        </p:grpSpPr>
        <p:grpSp>
          <p:nvGrpSpPr>
            <p:cNvPr id="103" name="Google Shape;103;p14"/>
            <p:cNvGrpSpPr/>
            <p:nvPr/>
          </p:nvGrpSpPr>
          <p:grpSpPr>
            <a:xfrm>
              <a:off x="228600" y="2857500"/>
              <a:ext cx="8628397" cy="2143126"/>
              <a:chOff x="144" y="2400"/>
              <a:chExt cx="5435" cy="1800"/>
            </a:xfrm>
          </p:grpSpPr>
          <p:grpSp>
            <p:nvGrpSpPr>
              <p:cNvPr id="104" name="Google Shape;104;p14"/>
              <p:cNvGrpSpPr/>
              <p:nvPr/>
            </p:nvGrpSpPr>
            <p:grpSpPr>
              <a:xfrm>
                <a:off x="3819" y="2400"/>
                <a:ext cx="1760" cy="1800"/>
                <a:chOff x="2592" y="2496"/>
                <a:chExt cx="1884" cy="1800"/>
              </a:xfrm>
            </p:grpSpPr>
            <p:sp>
              <p:nvSpPr>
                <p:cNvPr id="105" name="Google Shape;105;p14"/>
                <p:cNvSpPr/>
                <p:nvPr/>
              </p:nvSpPr>
              <p:spPr>
                <a:xfrm>
                  <a:off x="2592" y="2496"/>
                  <a:ext cx="300" cy="1800"/>
                </a:xfrm>
                <a:prstGeom prst="leftBrace">
                  <a:avLst>
                    <a:gd fmla="val 35714" name="adj1"/>
                    <a:gd fmla="val 50000" name="adj2"/>
                  </a:avLst>
                </a:prstGeom>
                <a:noFill/>
                <a:ln cap="flat" cmpd="sng" w="3810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106" name="Google Shape;106;p14"/>
                <p:cNvSpPr txBox="1"/>
                <p:nvPr/>
              </p:nvSpPr>
              <p:spPr>
                <a:xfrm>
                  <a:off x="2976" y="2506"/>
                  <a:ext cx="1500" cy="1500"/>
                </a:xfrm>
                <a:prstGeom prst="rect">
                  <a:avLst/>
                </a:prstGeom>
                <a:noFill/>
                <a:ln>
                  <a:noFill/>
                </a:ln>
              </p:spPr>
              <p:txBody>
                <a:bodyPr anchorCtr="0" anchor="t" bIns="45700" lIns="91425" spcFirstLastPara="1" rIns="91425" wrap="square" tIns="45700">
                  <a:noAutofit/>
                </a:bodyPr>
                <a:lstStyle/>
                <a:p>
                  <a:pPr indent="-177800" lvl="0" marL="0" marR="0" rtl="0" algn="l">
                    <a:spcBef>
                      <a:spcPts val="0"/>
                    </a:spcBef>
                    <a:spcAft>
                      <a:spcPts val="0"/>
                    </a:spcAft>
                    <a:buClr>
                      <a:schemeClr val="dk1"/>
                    </a:buClr>
                    <a:buSzPts val="2800"/>
                    <a:buFont typeface="Noto Sans Symbols"/>
                    <a:buChar char="⮚"/>
                  </a:pPr>
                  <a:r>
                    <a:rPr b="1" lang="es-AR" sz="2800">
                      <a:solidFill>
                        <a:schemeClr val="dk1"/>
                      </a:solidFill>
                      <a:latin typeface="Comic Sans MS"/>
                      <a:ea typeface="Comic Sans MS"/>
                      <a:cs typeface="Comic Sans MS"/>
                      <a:sym typeface="Comic Sans MS"/>
                    </a:rPr>
                    <a:t> Título</a:t>
                  </a:r>
                  <a:endParaRPr/>
                </a:p>
                <a:p>
                  <a:pPr indent="-177800" lvl="0" marL="0" marR="0" rtl="0" algn="l">
                    <a:spcBef>
                      <a:spcPts val="0"/>
                    </a:spcBef>
                    <a:spcAft>
                      <a:spcPts val="0"/>
                    </a:spcAft>
                    <a:buClr>
                      <a:schemeClr val="dk1"/>
                    </a:buClr>
                    <a:buSzPts val="2800"/>
                    <a:buFont typeface="Noto Sans Symbols"/>
                    <a:buChar char="⮚"/>
                  </a:pPr>
                  <a:r>
                    <a:rPr b="1" lang="es-AR" sz="2800">
                      <a:solidFill>
                        <a:schemeClr val="dk1"/>
                      </a:solidFill>
                      <a:latin typeface="Comic Sans MS"/>
                      <a:ea typeface="Comic Sans MS"/>
                      <a:cs typeface="Comic Sans MS"/>
                      <a:sym typeface="Comic Sans MS"/>
                    </a:rPr>
                    <a:t> Autor</a:t>
                  </a:r>
                  <a:endParaRPr/>
                </a:p>
                <a:p>
                  <a:pPr indent="-177800" lvl="0" marL="0" marR="0" rtl="0" algn="l">
                    <a:spcBef>
                      <a:spcPts val="0"/>
                    </a:spcBef>
                    <a:spcAft>
                      <a:spcPts val="0"/>
                    </a:spcAft>
                    <a:buClr>
                      <a:schemeClr val="dk1"/>
                    </a:buClr>
                    <a:buSzPts val="2800"/>
                    <a:buFont typeface="Noto Sans Symbols"/>
                    <a:buChar char="⮚"/>
                  </a:pPr>
                  <a:r>
                    <a:rPr b="1" lang="es-AR" sz="2800">
                      <a:solidFill>
                        <a:schemeClr val="dk1"/>
                      </a:solidFill>
                      <a:latin typeface="Comic Sans MS"/>
                      <a:ea typeface="Comic Sans MS"/>
                      <a:cs typeface="Comic Sans MS"/>
                      <a:sym typeface="Comic Sans MS"/>
                    </a:rPr>
                    <a:t> ISBN</a:t>
                  </a:r>
                  <a:endParaRPr/>
                </a:p>
                <a:p>
                  <a:pPr indent="-177800" lvl="0" marL="0" marR="0" rtl="0" algn="l">
                    <a:spcBef>
                      <a:spcPts val="0"/>
                    </a:spcBef>
                    <a:spcAft>
                      <a:spcPts val="0"/>
                    </a:spcAft>
                    <a:buClr>
                      <a:schemeClr val="dk1"/>
                    </a:buClr>
                    <a:buSzPts val="2800"/>
                    <a:buFont typeface="Noto Sans Symbols"/>
                    <a:buChar char="⮚"/>
                  </a:pPr>
                  <a:r>
                    <a:rPr b="1" lang="es-AR" sz="2800">
                      <a:solidFill>
                        <a:schemeClr val="dk1"/>
                      </a:solidFill>
                      <a:latin typeface="Comic Sans MS"/>
                      <a:ea typeface="Comic Sans MS"/>
                      <a:cs typeface="Comic Sans MS"/>
                      <a:sym typeface="Comic Sans MS"/>
                    </a:rPr>
                    <a:t> Precio</a:t>
                  </a:r>
                  <a:endParaRPr/>
                </a:p>
                <a:p>
                  <a:pPr indent="-177800" lvl="0" marL="0" marR="0" rtl="0" algn="l">
                    <a:spcBef>
                      <a:spcPts val="0"/>
                    </a:spcBef>
                    <a:spcAft>
                      <a:spcPts val="0"/>
                    </a:spcAft>
                    <a:buClr>
                      <a:schemeClr val="dk1"/>
                    </a:buClr>
                    <a:buSzPts val="2800"/>
                    <a:buFont typeface="Noto Sans Symbols"/>
                    <a:buChar char="⮚"/>
                  </a:pPr>
                  <a:r>
                    <a:rPr b="1" lang="es-AR" sz="2800">
                      <a:solidFill>
                        <a:schemeClr val="dk1"/>
                      </a:solidFill>
                      <a:latin typeface="Comic Sans MS"/>
                      <a:ea typeface="Comic Sans MS"/>
                      <a:cs typeface="Comic Sans MS"/>
                      <a:sym typeface="Comic Sans MS"/>
                    </a:rPr>
                    <a:t> ...</a:t>
                  </a:r>
                  <a:endParaRPr b="1" sz="2800">
                    <a:solidFill>
                      <a:schemeClr val="dk1"/>
                    </a:solidFill>
                    <a:latin typeface="Comic Sans MS"/>
                    <a:ea typeface="Comic Sans MS"/>
                    <a:cs typeface="Comic Sans MS"/>
                    <a:sym typeface="Comic Sans MS"/>
                  </a:endParaRPr>
                </a:p>
              </p:txBody>
            </p:sp>
          </p:grpSp>
          <p:sp>
            <p:nvSpPr>
              <p:cNvPr id="107" name="Google Shape;107;p14"/>
              <p:cNvSpPr txBox="1"/>
              <p:nvPr/>
            </p:nvSpPr>
            <p:spPr>
              <a:xfrm>
                <a:off x="144" y="2622"/>
                <a:ext cx="1872" cy="97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Comic Sans MS"/>
                  <a:buNone/>
                </a:pPr>
                <a:r>
                  <a:rPr b="1" lang="es-AR" sz="2400">
                    <a:solidFill>
                      <a:schemeClr val="dk1"/>
                    </a:solidFill>
                    <a:latin typeface="Comic Sans MS"/>
                    <a:ea typeface="Comic Sans MS"/>
                    <a:cs typeface="Comic Sans MS"/>
                    <a:sym typeface="Comic Sans MS"/>
                  </a:rPr>
                  <a:t>Permiten que un grupo de variables sea tratado como una unidad</a:t>
                </a:r>
                <a:endParaRPr b="1" sz="2400">
                  <a:solidFill>
                    <a:schemeClr val="dk1"/>
                  </a:solidFill>
                  <a:latin typeface="Comic Sans MS"/>
                  <a:ea typeface="Comic Sans MS"/>
                  <a:cs typeface="Comic Sans MS"/>
                  <a:sym typeface="Comic Sans MS"/>
                </a:endParaRPr>
              </a:p>
            </p:txBody>
          </p:sp>
        </p:grpSp>
        <p:pic>
          <p:nvPicPr>
            <p:cNvPr id="108" name="Google Shape;108;p14"/>
            <p:cNvPicPr preferRelativeResize="0"/>
            <p:nvPr/>
          </p:nvPicPr>
          <p:blipFill>
            <a:blip r:embed="rId3">
              <a:alphaModFix/>
            </a:blip>
            <a:stretch>
              <a:fillRect/>
            </a:stretch>
          </p:blipFill>
          <p:spPr>
            <a:xfrm>
              <a:off x="4071573" y="3147873"/>
              <a:ext cx="1950625" cy="153430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98"/>
                                        </p:tgtEl>
                                        <p:attrNameLst>
                                          <p:attrName>style.visibility</p:attrName>
                                        </p:attrNameLst>
                                      </p:cBhvr>
                                      <p:to>
                                        <p:strVal val="visible"/>
                                      </p:to>
                                    </p:set>
                                    <p:anim calcmode="lin" valueType="num">
                                      <p:cBhvr additive="base">
                                        <p:cTn dur="500"/>
                                        <p:tgtEl>
                                          <p:spTgt spid="9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gtEl>
                                        <p:attrNameLst>
                                          <p:attrName>style.visibility</p:attrName>
                                        </p:attrNameLst>
                                      </p:cBhvr>
                                      <p:to>
                                        <p:strVal val="visible"/>
                                      </p:to>
                                    </p:set>
                                    <p:animEffect filter="fade" transition="in">
                                      <p:cBhvr>
                                        <p:cTn dur="1000"/>
                                        <p:tgtEl>
                                          <p:spTgt spid="1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grpSp>
        <p:nvGrpSpPr>
          <p:cNvPr id="113" name="Google Shape;113;p15"/>
          <p:cNvGrpSpPr/>
          <p:nvPr/>
        </p:nvGrpSpPr>
        <p:grpSpPr>
          <a:xfrm>
            <a:off x="304800" y="1796649"/>
            <a:ext cx="8153400" cy="3039125"/>
            <a:chOff x="144" y="1872"/>
            <a:chExt cx="5424" cy="2091"/>
          </a:xfrm>
        </p:grpSpPr>
        <p:sp>
          <p:nvSpPr>
            <p:cNvPr id="114" name="Google Shape;114;p15"/>
            <p:cNvSpPr/>
            <p:nvPr/>
          </p:nvSpPr>
          <p:spPr>
            <a:xfrm>
              <a:off x="144" y="1872"/>
              <a:ext cx="5424" cy="2091"/>
            </a:xfrm>
            <a:prstGeom prst="roundRect">
              <a:avLst>
                <a:gd fmla="val 5917" name="adj"/>
              </a:avLst>
            </a:prstGeom>
            <a:solidFill>
              <a:srgbClr val="99FFCC"/>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115" name="Google Shape;115;p15"/>
            <p:cNvSpPr txBox="1"/>
            <p:nvPr/>
          </p:nvSpPr>
          <p:spPr>
            <a:xfrm>
              <a:off x="192" y="2427"/>
              <a:ext cx="4080" cy="1392"/>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400"/>
                <a:buFont typeface="Courier New"/>
                <a:buNone/>
              </a:pPr>
              <a:r>
                <a:rPr b="1" lang="es-AR" sz="2400">
                  <a:solidFill>
                    <a:schemeClr val="dk1"/>
                  </a:solidFill>
                  <a:latin typeface="Consolas"/>
                  <a:ea typeface="Consolas"/>
                  <a:cs typeface="Consolas"/>
                  <a:sym typeface="Consolas"/>
                </a:rPr>
                <a:t>struct nombreRegistro{</a:t>
              </a:r>
              <a:endParaRPr>
                <a:latin typeface="Consolas"/>
                <a:ea typeface="Consolas"/>
                <a:cs typeface="Consolas"/>
                <a:sym typeface="Consolas"/>
              </a:endParaRPr>
            </a:p>
            <a:p>
              <a:pPr indent="0" lvl="0" marL="0" marR="0" rtl="0" algn="l">
                <a:lnSpc>
                  <a:spcPct val="80000"/>
                </a:lnSpc>
                <a:spcBef>
                  <a:spcPts val="480"/>
                </a:spcBef>
                <a:spcAft>
                  <a:spcPts val="0"/>
                </a:spcAft>
                <a:buClr>
                  <a:schemeClr val="dk1"/>
                </a:buClr>
                <a:buSzPts val="2400"/>
                <a:buFont typeface="Courier New"/>
                <a:buNone/>
              </a:pPr>
              <a:r>
                <a:rPr b="1" lang="es-AR" sz="2400">
                  <a:solidFill>
                    <a:schemeClr val="dk1"/>
                  </a:solidFill>
                  <a:latin typeface="Consolas"/>
                  <a:ea typeface="Consolas"/>
                  <a:cs typeface="Consolas"/>
                  <a:sym typeface="Consolas"/>
                </a:rPr>
                <a:t>	tipo1	  nombreCampo1;</a:t>
              </a:r>
              <a:endParaRPr>
                <a:latin typeface="Consolas"/>
                <a:ea typeface="Consolas"/>
                <a:cs typeface="Consolas"/>
                <a:sym typeface="Consolas"/>
              </a:endParaRPr>
            </a:p>
            <a:p>
              <a:pPr indent="0" lvl="0" marL="0" marR="0" rtl="0" algn="l">
                <a:lnSpc>
                  <a:spcPct val="80000"/>
                </a:lnSpc>
                <a:spcBef>
                  <a:spcPts val="480"/>
                </a:spcBef>
                <a:spcAft>
                  <a:spcPts val="0"/>
                </a:spcAft>
                <a:buClr>
                  <a:schemeClr val="dk1"/>
                </a:buClr>
                <a:buSzPts val="2400"/>
                <a:buFont typeface="Courier New"/>
                <a:buNone/>
              </a:pPr>
              <a:r>
                <a:rPr b="1" lang="es-AR" sz="2400">
                  <a:solidFill>
                    <a:schemeClr val="dk1"/>
                  </a:solidFill>
                  <a:latin typeface="Consolas"/>
                  <a:ea typeface="Consolas"/>
                  <a:cs typeface="Consolas"/>
                  <a:sym typeface="Consolas"/>
                </a:rPr>
                <a:t>	tipo2  nombreCampo2;</a:t>
              </a:r>
              <a:endParaRPr>
                <a:latin typeface="Consolas"/>
                <a:ea typeface="Consolas"/>
                <a:cs typeface="Consolas"/>
                <a:sym typeface="Consolas"/>
              </a:endParaRPr>
            </a:p>
            <a:p>
              <a:pPr indent="0" lvl="0" marL="0" marR="0" rtl="0" algn="l">
                <a:lnSpc>
                  <a:spcPct val="80000"/>
                </a:lnSpc>
                <a:spcBef>
                  <a:spcPts val="480"/>
                </a:spcBef>
                <a:spcAft>
                  <a:spcPts val="0"/>
                </a:spcAft>
                <a:buClr>
                  <a:schemeClr val="dk1"/>
                </a:buClr>
                <a:buSzPts val="2400"/>
                <a:buFont typeface="Courier New"/>
                <a:buNone/>
              </a:pPr>
              <a:r>
                <a:rPr b="1" lang="es-AR" sz="2400">
                  <a:solidFill>
                    <a:schemeClr val="dk1"/>
                  </a:solidFill>
                  <a:latin typeface="Consolas"/>
                  <a:ea typeface="Consolas"/>
                  <a:cs typeface="Consolas"/>
                  <a:sym typeface="Consolas"/>
                </a:rPr>
                <a:t>	...</a:t>
              </a:r>
              <a:endParaRPr>
                <a:latin typeface="Consolas"/>
                <a:ea typeface="Consolas"/>
                <a:cs typeface="Consolas"/>
                <a:sym typeface="Consolas"/>
              </a:endParaRPr>
            </a:p>
            <a:p>
              <a:pPr indent="0" lvl="0" marL="0" marR="0" rtl="0" algn="l">
                <a:lnSpc>
                  <a:spcPct val="80000"/>
                </a:lnSpc>
                <a:spcBef>
                  <a:spcPts val="480"/>
                </a:spcBef>
                <a:spcAft>
                  <a:spcPts val="0"/>
                </a:spcAft>
                <a:buClr>
                  <a:schemeClr val="dk1"/>
                </a:buClr>
                <a:buSzPts val="2400"/>
                <a:buFont typeface="Courier New"/>
                <a:buNone/>
              </a:pPr>
              <a:r>
                <a:rPr b="1" lang="es-AR" sz="2400">
                  <a:solidFill>
                    <a:schemeClr val="dk1"/>
                  </a:solidFill>
                  <a:latin typeface="Consolas"/>
                  <a:ea typeface="Consolas"/>
                  <a:cs typeface="Consolas"/>
                  <a:sym typeface="Consolas"/>
                </a:rPr>
                <a:t>	tipoN  nombreCampoN;</a:t>
              </a:r>
              <a:endParaRPr>
                <a:latin typeface="Consolas"/>
                <a:ea typeface="Consolas"/>
                <a:cs typeface="Consolas"/>
                <a:sym typeface="Consolas"/>
              </a:endParaRPr>
            </a:p>
            <a:p>
              <a:pPr indent="0" lvl="0" marL="0" marR="0" rtl="0" algn="l">
                <a:lnSpc>
                  <a:spcPct val="80000"/>
                </a:lnSpc>
                <a:spcBef>
                  <a:spcPts val="480"/>
                </a:spcBef>
                <a:spcAft>
                  <a:spcPts val="0"/>
                </a:spcAft>
                <a:buClr>
                  <a:schemeClr val="dk1"/>
                </a:buClr>
                <a:buSzPts val="2400"/>
                <a:buFont typeface="Courier New"/>
                <a:buNone/>
              </a:pPr>
              <a:r>
                <a:rPr b="1" lang="es-AR" sz="2400">
                  <a:solidFill>
                    <a:schemeClr val="dk1"/>
                  </a:solidFill>
                  <a:latin typeface="Consolas"/>
                  <a:ea typeface="Consolas"/>
                  <a:cs typeface="Consolas"/>
                  <a:sym typeface="Consolas"/>
                </a:rPr>
                <a:t>};</a:t>
              </a:r>
              <a:endParaRPr b="1" sz="2400">
                <a:solidFill>
                  <a:schemeClr val="dk1"/>
                </a:solidFill>
                <a:latin typeface="Consolas"/>
                <a:ea typeface="Consolas"/>
                <a:cs typeface="Consolas"/>
                <a:sym typeface="Consolas"/>
              </a:endParaRPr>
            </a:p>
          </p:txBody>
        </p:sp>
        <p:sp>
          <p:nvSpPr>
            <p:cNvPr id="116" name="Google Shape;116;p15"/>
            <p:cNvSpPr txBox="1"/>
            <p:nvPr/>
          </p:nvSpPr>
          <p:spPr>
            <a:xfrm>
              <a:off x="192" y="1947"/>
              <a:ext cx="4800" cy="2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Times New Roman"/>
                <a:buNone/>
              </a:pPr>
              <a:r>
                <a:rPr lang="es-AR" sz="2400">
                  <a:solidFill>
                    <a:schemeClr val="dk1"/>
                  </a:solidFill>
                  <a:latin typeface="Times New Roman"/>
                  <a:ea typeface="Times New Roman"/>
                  <a:cs typeface="Times New Roman"/>
                  <a:sym typeface="Times New Roman"/>
                </a:rPr>
                <a:t>Sintaxis de Declaración de un registro o struct:</a:t>
              </a:r>
              <a:endParaRPr sz="2400">
                <a:solidFill>
                  <a:schemeClr val="dk1"/>
                </a:solidFill>
                <a:latin typeface="Times New Roman"/>
                <a:ea typeface="Times New Roman"/>
                <a:cs typeface="Times New Roman"/>
                <a:sym typeface="Times New Roman"/>
              </a:endParaRPr>
            </a:p>
          </p:txBody>
        </p:sp>
      </p:grpSp>
      <p:sp>
        <p:nvSpPr>
          <p:cNvPr id="117" name="Google Shape;117;p15"/>
          <p:cNvSpPr txBox="1"/>
          <p:nvPr/>
        </p:nvSpPr>
        <p:spPr>
          <a:xfrm>
            <a:off x="244225" y="213225"/>
            <a:ext cx="8694600" cy="14382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rgbClr val="800080"/>
              </a:buClr>
              <a:buSzPts val="2400"/>
              <a:buFont typeface="Arial Black"/>
              <a:buNone/>
            </a:pPr>
            <a:r>
              <a:rPr lang="es-AR" sz="2400">
                <a:solidFill>
                  <a:srgbClr val="800080"/>
                </a:solidFill>
                <a:latin typeface="Arial Black"/>
                <a:ea typeface="Arial Black"/>
                <a:cs typeface="Arial Black"/>
                <a:sym typeface="Arial Black"/>
              </a:rPr>
              <a:t>Una estructura tiene un nombre asociado y está compuesta por un conjunto de </a:t>
            </a:r>
            <a:r>
              <a:rPr i="1" lang="es-AR" sz="2400">
                <a:solidFill>
                  <a:srgbClr val="800080"/>
                </a:solidFill>
                <a:latin typeface="Arial Black"/>
                <a:ea typeface="Arial Black"/>
                <a:cs typeface="Arial Black"/>
                <a:sym typeface="Arial Black"/>
              </a:rPr>
              <a:t>miembros</a:t>
            </a:r>
            <a:r>
              <a:rPr lang="es-AR" sz="2400">
                <a:solidFill>
                  <a:srgbClr val="800080"/>
                </a:solidFill>
                <a:latin typeface="Arial Black"/>
                <a:ea typeface="Arial Black"/>
                <a:cs typeface="Arial Black"/>
                <a:sym typeface="Arial Black"/>
              </a:rPr>
              <a:t> o </a:t>
            </a:r>
            <a:r>
              <a:rPr i="1" lang="es-AR" sz="2400">
                <a:solidFill>
                  <a:srgbClr val="800080"/>
                </a:solidFill>
                <a:latin typeface="Arial Black"/>
                <a:ea typeface="Arial Black"/>
                <a:cs typeface="Arial Black"/>
                <a:sym typeface="Arial Black"/>
              </a:rPr>
              <a:t>campos</a:t>
            </a:r>
            <a:r>
              <a:rPr lang="es-AR" sz="2400">
                <a:solidFill>
                  <a:srgbClr val="800080"/>
                </a:solidFill>
                <a:latin typeface="Arial Black"/>
                <a:ea typeface="Arial Black"/>
                <a:cs typeface="Arial Black"/>
                <a:sym typeface="Arial Black"/>
              </a:rPr>
              <a:t>. Cada uno de ellos puede ser de cualquier tipo (incluyendo arreglos y también estructuras)</a:t>
            </a:r>
            <a:endParaRPr sz="2400">
              <a:solidFill>
                <a:srgbClr val="800080"/>
              </a:solidFill>
              <a:latin typeface="Arial Black"/>
              <a:ea typeface="Arial Black"/>
              <a:cs typeface="Arial Black"/>
              <a:sym typeface="Arial Black"/>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grpSp>
        <p:nvGrpSpPr>
          <p:cNvPr id="122" name="Google Shape;122;p16"/>
          <p:cNvGrpSpPr/>
          <p:nvPr/>
        </p:nvGrpSpPr>
        <p:grpSpPr>
          <a:xfrm>
            <a:off x="304800" y="273550"/>
            <a:ext cx="8305800" cy="2178525"/>
            <a:chOff x="144" y="2688"/>
            <a:chExt cx="2640" cy="1392"/>
          </a:xfrm>
        </p:grpSpPr>
        <p:sp>
          <p:nvSpPr>
            <p:cNvPr id="123" name="Google Shape;123;p16"/>
            <p:cNvSpPr/>
            <p:nvPr/>
          </p:nvSpPr>
          <p:spPr>
            <a:xfrm>
              <a:off x="144" y="2688"/>
              <a:ext cx="2640" cy="1392"/>
            </a:xfrm>
            <a:prstGeom prst="roundRect">
              <a:avLst>
                <a:gd fmla="val 5917"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124" name="Google Shape;124;p16"/>
            <p:cNvSpPr txBox="1"/>
            <p:nvPr/>
          </p:nvSpPr>
          <p:spPr>
            <a:xfrm>
              <a:off x="192" y="2754"/>
              <a:ext cx="2496" cy="1282"/>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200"/>
                <a:buFont typeface="Courier New"/>
                <a:buNone/>
              </a:pPr>
              <a:r>
                <a:rPr b="1" lang="es-AR" sz="2200">
                  <a:solidFill>
                    <a:schemeClr val="dk1"/>
                  </a:solidFill>
                  <a:latin typeface="Courier New"/>
                  <a:ea typeface="Courier New"/>
                  <a:cs typeface="Courier New"/>
                  <a:sym typeface="Courier New"/>
                </a:rPr>
                <a:t>struct tipoLibro {</a:t>
              </a:r>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urier New"/>
                  <a:ea typeface="Courier New"/>
                  <a:cs typeface="Courier New"/>
                  <a:sym typeface="Courier New"/>
                </a:rPr>
                <a:t>	char 	titulo[30];</a:t>
              </a:r>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urier New"/>
                  <a:ea typeface="Courier New"/>
                  <a:cs typeface="Courier New"/>
                  <a:sym typeface="Courier New"/>
                </a:rPr>
                <a:t>	char	autor[30];</a:t>
              </a:r>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urier New"/>
                  <a:ea typeface="Courier New"/>
                  <a:cs typeface="Courier New"/>
                  <a:sym typeface="Courier New"/>
                </a:rPr>
                <a:t>	char	ISBN[11];</a:t>
              </a:r>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urier New"/>
                  <a:ea typeface="Courier New"/>
                  <a:cs typeface="Courier New"/>
                  <a:sym typeface="Courier New"/>
                </a:rPr>
                <a:t>	float precio;</a:t>
              </a:r>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urier New"/>
                  <a:ea typeface="Courier New"/>
                  <a:cs typeface="Courier New"/>
                  <a:sym typeface="Courier New"/>
                </a:rPr>
                <a:t>};</a:t>
              </a:r>
              <a:endParaRPr b="1" sz="2200">
                <a:solidFill>
                  <a:schemeClr val="dk1"/>
                </a:solidFill>
                <a:latin typeface="Courier New"/>
                <a:ea typeface="Courier New"/>
                <a:cs typeface="Courier New"/>
                <a:sym typeface="Courier New"/>
              </a:endParaRPr>
            </a:p>
          </p:txBody>
        </p:sp>
      </p:grpSp>
      <p:sp>
        <p:nvSpPr>
          <p:cNvPr id="125" name="Google Shape;125;p16"/>
          <p:cNvSpPr txBox="1"/>
          <p:nvPr/>
        </p:nvSpPr>
        <p:spPr>
          <a:xfrm>
            <a:off x="1100138" y="2526506"/>
            <a:ext cx="6553200" cy="616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Courier New"/>
              <a:buNone/>
            </a:pPr>
            <a:r>
              <a:rPr b="1" lang="es-AR" sz="2400">
                <a:solidFill>
                  <a:schemeClr val="dk1"/>
                </a:solidFill>
                <a:latin typeface="Courier New"/>
                <a:ea typeface="Courier New"/>
                <a:cs typeface="Courier New"/>
                <a:sym typeface="Courier New"/>
              </a:rPr>
              <a:t>struct tipoLibro</a:t>
            </a:r>
            <a:r>
              <a:rPr lang="es-AR" sz="2400">
                <a:solidFill>
                  <a:schemeClr val="dk1"/>
                </a:solidFill>
                <a:latin typeface="Arial Black"/>
                <a:ea typeface="Arial Black"/>
                <a:cs typeface="Arial Black"/>
                <a:sym typeface="Arial Black"/>
              </a:rPr>
              <a:t> es un </a:t>
            </a:r>
            <a:r>
              <a:rPr lang="es-AR" sz="2400" u="sng">
                <a:solidFill>
                  <a:schemeClr val="dk1"/>
                </a:solidFill>
                <a:latin typeface="Arial Black"/>
                <a:ea typeface="Arial Black"/>
                <a:cs typeface="Arial Black"/>
                <a:sym typeface="Arial Black"/>
              </a:rPr>
              <a:t>nuevo tipo</a:t>
            </a:r>
            <a:r>
              <a:rPr lang="es-AR" sz="2400">
                <a:solidFill>
                  <a:schemeClr val="dk1"/>
                </a:solidFill>
                <a:latin typeface="Arial Black"/>
                <a:ea typeface="Arial Black"/>
                <a:cs typeface="Arial Black"/>
                <a:sym typeface="Arial Black"/>
              </a:rPr>
              <a:t>, </a:t>
            </a:r>
            <a:endParaRPr sz="2400">
              <a:solidFill>
                <a:schemeClr val="dk1"/>
              </a:solidFill>
              <a:latin typeface="Arial Black"/>
              <a:ea typeface="Arial Black"/>
              <a:cs typeface="Arial Black"/>
              <a:sym typeface="Arial Black"/>
            </a:endParaRPr>
          </a:p>
          <a:p>
            <a:pPr indent="0" lvl="0" marL="0" marR="0" rtl="0" algn="ctr">
              <a:spcBef>
                <a:spcPts val="0"/>
              </a:spcBef>
              <a:spcAft>
                <a:spcPts val="0"/>
              </a:spcAft>
              <a:buClr>
                <a:schemeClr val="dk1"/>
              </a:buClr>
              <a:buSzPts val="2400"/>
              <a:buFont typeface="Courier New"/>
              <a:buNone/>
            </a:pPr>
            <a:r>
              <a:rPr lang="es-AR" sz="2400" u="sng">
                <a:solidFill>
                  <a:schemeClr val="dk1"/>
                </a:solidFill>
                <a:latin typeface="Arial Black"/>
                <a:ea typeface="Arial Black"/>
                <a:cs typeface="Arial Black"/>
                <a:sym typeface="Arial Black"/>
              </a:rPr>
              <a:t>no</a:t>
            </a:r>
            <a:r>
              <a:rPr lang="es-AR" sz="2400">
                <a:solidFill>
                  <a:schemeClr val="dk1"/>
                </a:solidFill>
                <a:latin typeface="Arial Black"/>
                <a:ea typeface="Arial Black"/>
                <a:cs typeface="Arial Black"/>
                <a:sym typeface="Arial Black"/>
              </a:rPr>
              <a:t> una variable.</a:t>
            </a:r>
            <a:endParaRPr sz="2400">
              <a:solidFill>
                <a:schemeClr val="dk1"/>
              </a:solidFill>
              <a:latin typeface="Arial Black"/>
              <a:ea typeface="Arial Black"/>
              <a:cs typeface="Arial Black"/>
              <a:sym typeface="Arial Black"/>
            </a:endParaRPr>
          </a:p>
        </p:txBody>
      </p:sp>
      <p:grpSp>
        <p:nvGrpSpPr>
          <p:cNvPr id="126" name="Google Shape;126;p16"/>
          <p:cNvGrpSpPr/>
          <p:nvPr/>
        </p:nvGrpSpPr>
        <p:grpSpPr>
          <a:xfrm>
            <a:off x="2286000" y="3314700"/>
            <a:ext cx="4495800" cy="1144191"/>
            <a:chOff x="3264" y="3264"/>
            <a:chExt cx="2256" cy="655"/>
          </a:xfrm>
        </p:grpSpPr>
        <p:sp>
          <p:nvSpPr>
            <p:cNvPr id="127" name="Google Shape;127;p16"/>
            <p:cNvSpPr/>
            <p:nvPr/>
          </p:nvSpPr>
          <p:spPr>
            <a:xfrm>
              <a:off x="4080" y="3264"/>
              <a:ext cx="480" cy="384"/>
            </a:xfrm>
            <a:prstGeom prst="downArrow">
              <a:avLst>
                <a:gd fmla="val 50000" name="adj1"/>
                <a:gd fmla="val 25000" name="adj2"/>
              </a:avLst>
            </a:prstGeom>
            <a:solidFill>
              <a:srgbClr val="CC99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128" name="Google Shape;128;p16"/>
            <p:cNvSpPr txBox="1"/>
            <p:nvPr/>
          </p:nvSpPr>
          <p:spPr>
            <a:xfrm>
              <a:off x="3264" y="3696"/>
              <a:ext cx="2256" cy="223"/>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800"/>
                <a:buFont typeface="Arial Black"/>
                <a:buNone/>
              </a:pPr>
              <a:r>
                <a:rPr lang="es-AR" sz="2800">
                  <a:solidFill>
                    <a:schemeClr val="dk1"/>
                  </a:solidFill>
                  <a:latin typeface="Arial Black"/>
                  <a:ea typeface="Arial Black"/>
                  <a:cs typeface="Arial Black"/>
                  <a:sym typeface="Arial Black"/>
                </a:rPr>
                <a:t>No reserva memoria</a:t>
              </a:r>
              <a:endParaRPr sz="2800">
                <a:solidFill>
                  <a:schemeClr val="dk1"/>
                </a:solidFill>
                <a:latin typeface="Arial Black"/>
                <a:ea typeface="Arial Black"/>
                <a:cs typeface="Arial Black"/>
                <a:sym typeface="Arial Black"/>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25"/>
                                        </p:tgtEl>
                                        <p:attrNameLst>
                                          <p:attrName>style.visibility</p:attrName>
                                        </p:attrNameLst>
                                      </p:cBhvr>
                                      <p:to>
                                        <p:strVal val="visible"/>
                                      </p:to>
                                    </p:set>
                                    <p:anim calcmode="lin" valueType="num">
                                      <p:cBhvr additive="base">
                                        <p:cTn dur="500"/>
                                        <p:tgtEl>
                                          <p:spTgt spid="125"/>
                                        </p:tgtEl>
                                        <p:attrNameLst>
                                          <p:attrName>ppt_w</p:attrName>
                                        </p:attrNameLst>
                                      </p:cBhvr>
                                      <p:tavLst>
                                        <p:tav fmla="" tm="0">
                                          <p:val>
                                            <p:strVal val="0"/>
                                          </p:val>
                                        </p:tav>
                                        <p:tav fmla="" tm="100000">
                                          <p:val>
                                            <p:strVal val="#ppt_w"/>
                                          </p:val>
                                        </p:tav>
                                      </p:tavLst>
                                    </p:anim>
                                    <p:anim calcmode="lin" valueType="num">
                                      <p:cBhvr additive="base">
                                        <p:cTn dur="500"/>
                                        <p:tgtEl>
                                          <p:spTgt spid="12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500"/>
                                        <p:tgtEl>
                                          <p:spTgt spid="1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7"/>
          <p:cNvSpPr txBox="1"/>
          <p:nvPr>
            <p:ph type="title"/>
          </p:nvPr>
        </p:nvSpPr>
        <p:spPr>
          <a:xfrm>
            <a:off x="228600" y="133350"/>
            <a:ext cx="8686800" cy="399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i="1" lang="es-AR" sz="3400"/>
              <a:t>Declaración de una variable de tipo estructura</a:t>
            </a:r>
            <a:endParaRPr b="1" i="1" sz="3400"/>
          </a:p>
        </p:txBody>
      </p:sp>
      <p:grpSp>
        <p:nvGrpSpPr>
          <p:cNvPr id="134" name="Google Shape;134;p17"/>
          <p:cNvGrpSpPr/>
          <p:nvPr/>
        </p:nvGrpSpPr>
        <p:grpSpPr>
          <a:xfrm>
            <a:off x="228600" y="577450"/>
            <a:ext cx="8610600" cy="1845325"/>
            <a:chOff x="144" y="741"/>
            <a:chExt cx="5424" cy="1419"/>
          </a:xfrm>
        </p:grpSpPr>
        <p:grpSp>
          <p:nvGrpSpPr>
            <p:cNvPr id="135" name="Google Shape;135;p17"/>
            <p:cNvGrpSpPr/>
            <p:nvPr/>
          </p:nvGrpSpPr>
          <p:grpSpPr>
            <a:xfrm>
              <a:off x="144" y="741"/>
              <a:ext cx="5424" cy="1419"/>
              <a:chOff x="144" y="741"/>
              <a:chExt cx="5424" cy="1419"/>
            </a:xfrm>
          </p:grpSpPr>
          <p:sp>
            <p:nvSpPr>
              <p:cNvPr id="136" name="Google Shape;136;p17"/>
              <p:cNvSpPr/>
              <p:nvPr/>
            </p:nvSpPr>
            <p:spPr>
              <a:xfrm>
                <a:off x="144" y="741"/>
                <a:ext cx="5424" cy="1419"/>
              </a:xfrm>
              <a:prstGeom prst="roundRect">
                <a:avLst>
                  <a:gd fmla="val 5917" name="adj"/>
                </a:avLst>
              </a:prstGeom>
              <a:solidFill>
                <a:srgbClr val="99FFCC"/>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137" name="Google Shape;137;p17"/>
              <p:cNvSpPr txBox="1"/>
              <p:nvPr/>
            </p:nvSpPr>
            <p:spPr>
              <a:xfrm>
                <a:off x="192" y="816"/>
                <a:ext cx="4080" cy="1282"/>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200"/>
                  <a:buFont typeface="Courier New"/>
                  <a:buNone/>
                </a:pPr>
                <a:r>
                  <a:rPr b="1" lang="es-AR" sz="1800">
                    <a:solidFill>
                      <a:schemeClr val="dk1"/>
                    </a:solidFill>
                    <a:latin typeface="Consolas"/>
                    <a:ea typeface="Consolas"/>
                    <a:cs typeface="Consolas"/>
                    <a:sym typeface="Consolas"/>
                  </a:rPr>
                  <a:t>struct nombreRegistro{</a:t>
                </a:r>
                <a:endParaRPr sz="10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800">
                    <a:solidFill>
                      <a:schemeClr val="dk1"/>
                    </a:solidFill>
                    <a:latin typeface="Consolas"/>
                    <a:ea typeface="Consolas"/>
                    <a:cs typeface="Consolas"/>
                    <a:sym typeface="Consolas"/>
                  </a:rPr>
                  <a:t>	tipo1	  nombreCampo1;</a:t>
                </a:r>
                <a:endParaRPr sz="10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800">
                    <a:solidFill>
                      <a:schemeClr val="dk1"/>
                    </a:solidFill>
                    <a:latin typeface="Consolas"/>
                    <a:ea typeface="Consolas"/>
                    <a:cs typeface="Consolas"/>
                    <a:sym typeface="Consolas"/>
                  </a:rPr>
                  <a:t>	tipo2  nombreCampo2;</a:t>
                </a:r>
                <a:endParaRPr sz="10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800">
                    <a:solidFill>
                      <a:schemeClr val="dk1"/>
                    </a:solidFill>
                    <a:latin typeface="Consolas"/>
                    <a:ea typeface="Consolas"/>
                    <a:cs typeface="Consolas"/>
                    <a:sym typeface="Consolas"/>
                  </a:rPr>
                  <a:t>	...</a:t>
                </a:r>
                <a:endParaRPr sz="10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800">
                    <a:solidFill>
                      <a:schemeClr val="dk1"/>
                    </a:solidFill>
                    <a:latin typeface="Consolas"/>
                    <a:ea typeface="Consolas"/>
                    <a:cs typeface="Consolas"/>
                    <a:sym typeface="Consolas"/>
                  </a:rPr>
                  <a:t>	tipoN  nombreCampoN;</a:t>
                </a:r>
                <a:endParaRPr sz="10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800">
                    <a:solidFill>
                      <a:schemeClr val="dk1"/>
                    </a:solidFill>
                    <a:latin typeface="Consolas"/>
                    <a:ea typeface="Consolas"/>
                    <a:cs typeface="Consolas"/>
                    <a:sym typeface="Consolas"/>
                  </a:rPr>
                  <a:t>} nombreVariable;</a:t>
                </a:r>
                <a:endParaRPr b="1" sz="1800">
                  <a:solidFill>
                    <a:schemeClr val="dk1"/>
                  </a:solidFill>
                  <a:latin typeface="Consolas"/>
                  <a:ea typeface="Consolas"/>
                  <a:cs typeface="Consolas"/>
                  <a:sym typeface="Consolas"/>
                </a:endParaRPr>
              </a:p>
            </p:txBody>
          </p:sp>
        </p:grpSp>
        <p:sp>
          <p:nvSpPr>
            <p:cNvPr id="138" name="Google Shape;138;p17"/>
            <p:cNvSpPr/>
            <p:nvPr/>
          </p:nvSpPr>
          <p:spPr>
            <a:xfrm>
              <a:off x="3600" y="1248"/>
              <a:ext cx="1728" cy="432"/>
            </a:xfrm>
            <a:prstGeom prst="rect">
              <a:avLst/>
            </a:prstGeom>
          </p:spPr>
          <p:txBody>
            <a:bodyPr>
              <a:prstTxWarp prst="textPlain"/>
            </a:bodyPr>
            <a:lstStyle/>
            <a:p>
              <a:pPr lvl="0" algn="ctr"/>
              <a:r>
                <a:rPr b="0" i="0">
                  <a:ln cap="flat" cmpd="sng" w="19050">
                    <a:solidFill>
                      <a:srgbClr val="99CCFF"/>
                    </a:solidFill>
                    <a:prstDash val="solid"/>
                    <a:round/>
                    <a:headEnd len="sm" w="sm" type="none"/>
                    <a:tailEnd len="sm" w="sm" type="none"/>
                  </a:ln>
                  <a:solidFill>
                    <a:srgbClr val="0066CC"/>
                  </a:solidFill>
                  <a:latin typeface="Impact"/>
                </a:rPr>
                <a:t>Alternativa 1</a:t>
              </a:r>
            </a:p>
          </p:txBody>
        </p:sp>
      </p:grpSp>
      <p:grpSp>
        <p:nvGrpSpPr>
          <p:cNvPr id="139" name="Google Shape;139;p17"/>
          <p:cNvGrpSpPr/>
          <p:nvPr/>
        </p:nvGrpSpPr>
        <p:grpSpPr>
          <a:xfrm>
            <a:off x="228600" y="2514600"/>
            <a:ext cx="8610600" cy="1943100"/>
            <a:chOff x="144" y="2256"/>
            <a:chExt cx="5424" cy="1632"/>
          </a:xfrm>
        </p:grpSpPr>
        <p:grpSp>
          <p:nvGrpSpPr>
            <p:cNvPr id="140" name="Google Shape;140;p17"/>
            <p:cNvGrpSpPr/>
            <p:nvPr/>
          </p:nvGrpSpPr>
          <p:grpSpPr>
            <a:xfrm>
              <a:off x="144" y="2256"/>
              <a:ext cx="5424" cy="1632"/>
              <a:chOff x="144" y="2256"/>
              <a:chExt cx="5424" cy="1632"/>
            </a:xfrm>
          </p:grpSpPr>
          <p:sp>
            <p:nvSpPr>
              <p:cNvPr id="141" name="Google Shape;141;p17"/>
              <p:cNvSpPr/>
              <p:nvPr/>
            </p:nvSpPr>
            <p:spPr>
              <a:xfrm>
                <a:off x="144" y="2256"/>
                <a:ext cx="5424" cy="1632"/>
              </a:xfrm>
              <a:prstGeom prst="roundRect">
                <a:avLst>
                  <a:gd fmla="val 5917" name="adj"/>
                </a:avLst>
              </a:prstGeom>
              <a:solidFill>
                <a:srgbClr val="99FFCC"/>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142" name="Google Shape;142;p17"/>
              <p:cNvSpPr txBox="1"/>
              <p:nvPr/>
            </p:nvSpPr>
            <p:spPr>
              <a:xfrm>
                <a:off x="192" y="2267"/>
                <a:ext cx="4200" cy="15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200"/>
                  <a:buFont typeface="Courier New"/>
                  <a:buNone/>
                </a:pPr>
                <a:r>
                  <a:rPr b="1" lang="es-AR" sz="1800">
                    <a:solidFill>
                      <a:schemeClr val="dk1"/>
                    </a:solidFill>
                    <a:latin typeface="Consolas"/>
                    <a:ea typeface="Consolas"/>
                    <a:cs typeface="Consolas"/>
                    <a:sym typeface="Consolas"/>
                  </a:rPr>
                  <a:t>struct nombreRegistro{</a:t>
                </a:r>
                <a:endParaRPr sz="18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800">
                    <a:solidFill>
                      <a:schemeClr val="dk1"/>
                    </a:solidFill>
                    <a:latin typeface="Consolas"/>
                    <a:ea typeface="Consolas"/>
                    <a:cs typeface="Consolas"/>
                    <a:sym typeface="Consolas"/>
                  </a:rPr>
                  <a:t>	tipo1	  nombreCampo1;</a:t>
                </a:r>
                <a:endParaRPr sz="18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800">
                    <a:solidFill>
                      <a:schemeClr val="dk1"/>
                    </a:solidFill>
                    <a:latin typeface="Consolas"/>
                    <a:ea typeface="Consolas"/>
                    <a:cs typeface="Consolas"/>
                    <a:sym typeface="Consolas"/>
                  </a:rPr>
                  <a:t>	tipo2  nombreCampo2;</a:t>
                </a:r>
                <a:endParaRPr sz="18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800">
                    <a:solidFill>
                      <a:schemeClr val="dk1"/>
                    </a:solidFill>
                    <a:latin typeface="Consolas"/>
                    <a:ea typeface="Consolas"/>
                    <a:cs typeface="Consolas"/>
                    <a:sym typeface="Consolas"/>
                  </a:rPr>
                  <a:t>	...</a:t>
                </a:r>
                <a:endParaRPr sz="18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800">
                    <a:solidFill>
                      <a:schemeClr val="dk1"/>
                    </a:solidFill>
                    <a:latin typeface="Consolas"/>
                    <a:ea typeface="Consolas"/>
                    <a:cs typeface="Consolas"/>
                    <a:sym typeface="Consolas"/>
                  </a:rPr>
                  <a:t>	tipoN  nombreCampoN;</a:t>
                </a:r>
                <a:endParaRPr sz="18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800">
                    <a:solidFill>
                      <a:schemeClr val="dk1"/>
                    </a:solidFill>
                    <a:latin typeface="Consolas"/>
                    <a:ea typeface="Consolas"/>
                    <a:cs typeface="Consolas"/>
                    <a:sym typeface="Consolas"/>
                  </a:rPr>
                  <a:t>};</a:t>
                </a:r>
                <a:endParaRPr sz="18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800">
                    <a:solidFill>
                      <a:schemeClr val="dk1"/>
                    </a:solidFill>
                    <a:latin typeface="Consolas"/>
                    <a:ea typeface="Consolas"/>
                    <a:cs typeface="Consolas"/>
                    <a:sym typeface="Consolas"/>
                  </a:rPr>
                  <a:t>struct nombreRegistro   nombreVariable ;</a:t>
                </a:r>
                <a:endParaRPr b="1" sz="1800">
                  <a:solidFill>
                    <a:schemeClr val="dk1"/>
                  </a:solidFill>
                  <a:latin typeface="Consolas"/>
                  <a:ea typeface="Consolas"/>
                  <a:cs typeface="Consolas"/>
                  <a:sym typeface="Consolas"/>
                </a:endParaRPr>
              </a:p>
            </p:txBody>
          </p:sp>
        </p:grpSp>
        <p:sp>
          <p:nvSpPr>
            <p:cNvPr id="143" name="Google Shape;143;p17"/>
            <p:cNvSpPr/>
            <p:nvPr/>
          </p:nvSpPr>
          <p:spPr>
            <a:xfrm>
              <a:off x="3600" y="2688"/>
              <a:ext cx="1728" cy="432"/>
            </a:xfrm>
            <a:prstGeom prst="rect">
              <a:avLst/>
            </a:prstGeom>
          </p:spPr>
          <p:txBody>
            <a:bodyPr>
              <a:prstTxWarp prst="textPlain"/>
            </a:bodyPr>
            <a:lstStyle/>
            <a:p>
              <a:pPr lvl="0" algn="ctr"/>
              <a:r>
                <a:rPr b="0" i="0">
                  <a:ln cap="flat" cmpd="sng" w="19050">
                    <a:solidFill>
                      <a:srgbClr val="99CCFF"/>
                    </a:solidFill>
                    <a:prstDash val="solid"/>
                    <a:round/>
                    <a:headEnd len="sm" w="sm" type="none"/>
                    <a:tailEnd len="sm" w="sm" type="none"/>
                  </a:ln>
                  <a:solidFill>
                    <a:srgbClr val="0066CC"/>
                  </a:solidFill>
                  <a:latin typeface="Impact"/>
                </a:rPr>
                <a:t>Alternativa 2</a:t>
              </a:r>
            </a:p>
          </p:txBody>
        </p:sp>
      </p:grpSp>
      <p:grpSp>
        <p:nvGrpSpPr>
          <p:cNvPr id="144" name="Google Shape;144;p17"/>
          <p:cNvGrpSpPr/>
          <p:nvPr/>
        </p:nvGrpSpPr>
        <p:grpSpPr>
          <a:xfrm>
            <a:off x="533400" y="4405312"/>
            <a:ext cx="6858000" cy="581025"/>
            <a:chOff x="336" y="3700"/>
            <a:chExt cx="4320" cy="488"/>
          </a:xfrm>
        </p:grpSpPr>
        <p:grpSp>
          <p:nvGrpSpPr>
            <p:cNvPr id="145" name="Google Shape;145;p17"/>
            <p:cNvGrpSpPr/>
            <p:nvPr/>
          </p:nvGrpSpPr>
          <p:grpSpPr>
            <a:xfrm>
              <a:off x="336" y="3700"/>
              <a:ext cx="1596" cy="488"/>
              <a:chOff x="336" y="3700"/>
              <a:chExt cx="1596" cy="488"/>
            </a:xfrm>
          </p:grpSpPr>
          <p:sp>
            <p:nvSpPr>
              <p:cNvPr id="146" name="Google Shape;146;p17"/>
              <p:cNvSpPr/>
              <p:nvPr/>
            </p:nvSpPr>
            <p:spPr>
              <a:xfrm rot="-5400000">
                <a:off x="936" y="3100"/>
                <a:ext cx="300" cy="1500"/>
              </a:xfrm>
              <a:prstGeom prst="leftBrace">
                <a:avLst>
                  <a:gd fmla="val 97917" name="adj1"/>
                  <a:gd fmla="val 50000" name="adj2"/>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147" name="Google Shape;147;p17"/>
              <p:cNvSpPr txBox="1"/>
              <p:nvPr/>
            </p:nvSpPr>
            <p:spPr>
              <a:xfrm>
                <a:off x="432" y="3888"/>
                <a:ext cx="1500" cy="3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Arial Black"/>
                  <a:buNone/>
                </a:pPr>
                <a:r>
                  <a:rPr lang="es-AR" sz="2400">
                    <a:solidFill>
                      <a:schemeClr val="dk1"/>
                    </a:solidFill>
                    <a:latin typeface="Arial Black"/>
                    <a:ea typeface="Arial Black"/>
                    <a:cs typeface="Arial Black"/>
                    <a:sym typeface="Arial Black"/>
                  </a:rPr>
                  <a:t>tipo de dato</a:t>
                </a:r>
                <a:endParaRPr sz="2400">
                  <a:solidFill>
                    <a:schemeClr val="dk1"/>
                  </a:solidFill>
                  <a:latin typeface="Arial Black"/>
                  <a:ea typeface="Arial Black"/>
                  <a:cs typeface="Arial Black"/>
                  <a:sym typeface="Arial Black"/>
                </a:endParaRPr>
              </a:p>
            </p:txBody>
          </p:sp>
        </p:grpSp>
        <p:grpSp>
          <p:nvGrpSpPr>
            <p:cNvPr id="148" name="Google Shape;148;p17"/>
            <p:cNvGrpSpPr/>
            <p:nvPr/>
          </p:nvGrpSpPr>
          <p:grpSpPr>
            <a:xfrm>
              <a:off x="2131" y="3707"/>
              <a:ext cx="2525" cy="478"/>
              <a:chOff x="2131" y="3707"/>
              <a:chExt cx="2525" cy="478"/>
            </a:xfrm>
          </p:grpSpPr>
          <p:sp>
            <p:nvSpPr>
              <p:cNvPr id="149" name="Google Shape;149;p17"/>
              <p:cNvSpPr/>
              <p:nvPr/>
            </p:nvSpPr>
            <p:spPr>
              <a:xfrm rot="-5400000">
                <a:off x="2581" y="3257"/>
                <a:ext cx="300" cy="1200"/>
              </a:xfrm>
              <a:prstGeom prst="leftBrace">
                <a:avLst>
                  <a:gd fmla="val 67405" name="adj1"/>
                  <a:gd fmla="val 50000" name="adj2"/>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150" name="Google Shape;150;p17"/>
              <p:cNvSpPr txBox="1"/>
              <p:nvPr/>
            </p:nvSpPr>
            <p:spPr>
              <a:xfrm>
                <a:off x="2208" y="3897"/>
                <a:ext cx="2448" cy="28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Arial Black"/>
                  <a:buNone/>
                </a:pPr>
                <a:r>
                  <a:rPr lang="es-AR" sz="2400">
                    <a:solidFill>
                      <a:schemeClr val="dk1"/>
                    </a:solidFill>
                    <a:latin typeface="Arial Black"/>
                    <a:ea typeface="Arial Black"/>
                    <a:cs typeface="Arial Black"/>
                    <a:sym typeface="Arial Black"/>
                  </a:rPr>
                  <a:t>nombre de variable</a:t>
                </a:r>
                <a:endParaRPr sz="2400">
                  <a:solidFill>
                    <a:schemeClr val="dk1"/>
                  </a:solidFill>
                  <a:latin typeface="Arial Black"/>
                  <a:ea typeface="Arial Black"/>
                  <a:cs typeface="Arial Black"/>
                  <a:sym typeface="Arial Black"/>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9"/>
                                        </p:tgtEl>
                                        <p:attrNameLst>
                                          <p:attrName>style.visibility</p:attrName>
                                        </p:attrNameLst>
                                      </p:cBhvr>
                                      <p:to>
                                        <p:strVal val="visible"/>
                                      </p:to>
                                    </p:set>
                                    <p:anim calcmode="lin" valueType="num">
                                      <p:cBhvr additive="base">
                                        <p:cTn dur="500"/>
                                        <p:tgtEl>
                                          <p:spTgt spid="13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500"/>
                                        <p:tgtEl>
                                          <p:spTgt spid="1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8"/>
          <p:cNvSpPr/>
          <p:nvPr/>
        </p:nvSpPr>
        <p:spPr>
          <a:xfrm>
            <a:off x="228600" y="114300"/>
            <a:ext cx="8305800" cy="4907100"/>
          </a:xfrm>
          <a:prstGeom prst="roundRect">
            <a:avLst>
              <a:gd fmla="val 3426"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156" name="Google Shape;156;p18"/>
          <p:cNvSpPr txBox="1"/>
          <p:nvPr/>
        </p:nvSpPr>
        <p:spPr>
          <a:xfrm>
            <a:off x="379413" y="171450"/>
            <a:ext cx="7853400" cy="42897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struct tipoPersona</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	char nombre[30];</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	char telefono[15];</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	char domicilio[30];</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Times New Roman"/>
              <a:buNone/>
            </a:pPr>
            <a:r>
              <a:t/>
            </a:r>
            <a:endParaRPr b="1" sz="1900">
              <a:solidFill>
                <a:schemeClr val="dk1"/>
              </a:solidFill>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struct tipoFecha{</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	int	dia, mes, anio;</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Times New Roman"/>
              <a:buNone/>
            </a:pPr>
            <a:r>
              <a:t/>
            </a:r>
            <a:endParaRPr b="1" sz="1900">
              <a:solidFill>
                <a:schemeClr val="dk1"/>
              </a:solidFill>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struct tipoTurno {</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	struct tipoPersona paciente;</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	struct tipoFecha  fecha;</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	char	hora[6];</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	int 	obraSocial;</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 miTurno;</a:t>
            </a:r>
            <a:endParaRPr b="1" sz="1900">
              <a:solidFill>
                <a:schemeClr val="dk1"/>
              </a:solidFill>
              <a:latin typeface="Consolas"/>
              <a:ea typeface="Consolas"/>
              <a:cs typeface="Consolas"/>
              <a:sym typeface="Consolas"/>
            </a:endParaRPr>
          </a:p>
        </p:txBody>
      </p:sp>
      <p:grpSp>
        <p:nvGrpSpPr>
          <p:cNvPr id="157" name="Google Shape;157;p18"/>
          <p:cNvGrpSpPr/>
          <p:nvPr/>
        </p:nvGrpSpPr>
        <p:grpSpPr>
          <a:xfrm>
            <a:off x="490538" y="4476750"/>
            <a:ext cx="6081712" cy="596503"/>
            <a:chOff x="453" y="3504"/>
            <a:chExt cx="3831" cy="501"/>
          </a:xfrm>
        </p:grpSpPr>
        <p:sp>
          <p:nvSpPr>
            <p:cNvPr id="158" name="Google Shape;158;p18"/>
            <p:cNvSpPr/>
            <p:nvPr/>
          </p:nvSpPr>
          <p:spPr>
            <a:xfrm>
              <a:off x="453" y="3669"/>
              <a:ext cx="1056" cy="336"/>
            </a:xfrm>
            <a:prstGeom prst="ellipse">
              <a:avLst/>
            </a:prstGeom>
            <a:noFill/>
            <a:ln cap="flat" cmpd="sng" w="317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cxnSp>
          <p:nvCxnSpPr>
            <p:cNvPr id="159" name="Google Shape;159;p18"/>
            <p:cNvCxnSpPr/>
            <p:nvPr/>
          </p:nvCxnSpPr>
          <p:spPr>
            <a:xfrm>
              <a:off x="1488" y="3840"/>
              <a:ext cx="1392" cy="0"/>
            </a:xfrm>
            <a:prstGeom prst="straightConnector1">
              <a:avLst/>
            </a:prstGeom>
            <a:noFill/>
            <a:ln cap="flat" cmpd="sng" w="31750">
              <a:solidFill>
                <a:srgbClr val="FF0000"/>
              </a:solidFill>
              <a:prstDash val="solid"/>
              <a:round/>
              <a:headEnd len="med" w="med" type="none"/>
              <a:tailEnd len="med" w="med" type="triangle"/>
            </a:ln>
          </p:spPr>
        </p:cxnSp>
        <p:sp>
          <p:nvSpPr>
            <p:cNvPr id="160" name="Google Shape;160;p18"/>
            <p:cNvSpPr/>
            <p:nvPr/>
          </p:nvSpPr>
          <p:spPr>
            <a:xfrm>
              <a:off x="2976" y="3504"/>
              <a:ext cx="1308" cy="408"/>
            </a:xfrm>
            <a:prstGeom prst="rect">
              <a:avLst/>
            </a:prstGeom>
          </p:spPr>
          <p:txBody>
            <a:bodyPr>
              <a:prstTxWarp prst="textPlain"/>
            </a:bodyPr>
            <a:lstStyle/>
            <a:p>
              <a:pPr lvl="0" algn="ctr"/>
              <a:r>
                <a:rPr b="0" i="0">
                  <a:ln cap="flat" cmpd="sng" w="9525">
                    <a:solidFill>
                      <a:srgbClr val="000000"/>
                    </a:solidFill>
                    <a:prstDash val="solid"/>
                    <a:round/>
                    <a:headEnd len="sm" w="sm" type="none"/>
                    <a:tailEnd len="sm" w="sm" type="none"/>
                  </a:ln>
                  <a:solidFill>
                    <a:srgbClr val="FF0000"/>
                  </a:solidFill>
                  <a:latin typeface="Arial Black"/>
                </a:rPr>
                <a:t>Variable</a:t>
              </a:r>
            </a:p>
          </p:txBody>
        </p:sp>
      </p:grpSp>
      <p:sp>
        <p:nvSpPr>
          <p:cNvPr id="161" name="Google Shape;161;p18"/>
          <p:cNvSpPr/>
          <p:nvPr/>
        </p:nvSpPr>
        <p:spPr>
          <a:xfrm>
            <a:off x="5410200" y="1028700"/>
            <a:ext cx="2819396" cy="1143000"/>
          </a:xfrm>
          <a:prstGeom prst="rect">
            <a:avLst/>
          </a:prstGeom>
        </p:spPr>
        <p:txBody>
          <a:bodyPr>
            <a:prstTxWarp prst="textPlain"/>
          </a:bodyPr>
          <a:lstStyle/>
          <a:p>
            <a:pPr lvl="0" algn="ctr"/>
            <a:r>
              <a:rPr b="0" i="0">
                <a:ln cap="flat" cmpd="sng" w="19050">
                  <a:solidFill>
                    <a:srgbClr val="99CCFF"/>
                  </a:solidFill>
                  <a:prstDash val="solid"/>
                  <a:round/>
                  <a:headEnd len="sm" w="sm" type="none"/>
                  <a:tailEnd len="sm" w="sm" type="none"/>
                </a:ln>
                <a:solidFill>
                  <a:srgbClr val="0066CC"/>
                </a:solidFill>
                <a:latin typeface="Impact"/>
              </a:rPr>
              <a:t>Estructuras</a:t>
            </a:r>
            <a:br>
              <a:rPr b="0" i="0">
                <a:ln cap="flat" cmpd="sng" w="19050">
                  <a:solidFill>
                    <a:srgbClr val="99CCFF"/>
                  </a:solidFill>
                  <a:prstDash val="solid"/>
                  <a:round/>
                  <a:headEnd len="sm" w="sm" type="none"/>
                  <a:tailEnd len="sm" w="sm" type="none"/>
                </a:ln>
                <a:solidFill>
                  <a:srgbClr val="0066CC"/>
                </a:solidFill>
                <a:latin typeface="Impact"/>
              </a:rPr>
            </a:br>
            <a:r>
              <a:rPr b="0" i="0">
                <a:ln cap="flat" cmpd="sng" w="19050">
                  <a:solidFill>
                    <a:srgbClr val="99CCFF"/>
                  </a:solidFill>
                  <a:prstDash val="solid"/>
                  <a:round/>
                  <a:headEnd len="sm" w="sm" type="none"/>
                  <a:tailEnd len="sm" w="sm" type="none"/>
                </a:ln>
                <a:solidFill>
                  <a:srgbClr val="0066CC"/>
                </a:solidFill>
                <a:latin typeface="Impact"/>
              </a:rPr>
              <a:t>Anidadas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9"/>
          <p:cNvSpPr txBox="1"/>
          <p:nvPr>
            <p:ph type="title"/>
          </p:nvPr>
        </p:nvSpPr>
        <p:spPr>
          <a:xfrm>
            <a:off x="685800" y="228600"/>
            <a:ext cx="7772400" cy="285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i="1" lang="es-AR" sz="3600"/>
              <a:t>Jerarquía de campos</a:t>
            </a:r>
            <a:endParaRPr/>
          </a:p>
        </p:txBody>
      </p:sp>
      <p:sp>
        <p:nvSpPr>
          <p:cNvPr id="167" name="Google Shape;167;p19"/>
          <p:cNvSpPr txBox="1"/>
          <p:nvPr/>
        </p:nvSpPr>
        <p:spPr>
          <a:xfrm>
            <a:off x="381000" y="742950"/>
            <a:ext cx="8458200" cy="17121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800080"/>
              </a:buClr>
              <a:buSzPts val="2400"/>
              <a:buFont typeface="Arial Black"/>
              <a:buNone/>
            </a:pPr>
            <a:r>
              <a:rPr lang="es-AR" sz="2400">
                <a:solidFill>
                  <a:srgbClr val="800080"/>
                </a:solidFill>
                <a:latin typeface="Arial Black"/>
                <a:ea typeface="Arial Black"/>
                <a:cs typeface="Arial Black"/>
                <a:sym typeface="Arial Black"/>
              </a:rPr>
              <a:t>Al anidar estructuras se establecen jerarquías. </a:t>
            </a:r>
            <a:endParaRPr/>
          </a:p>
          <a:p>
            <a:pPr indent="0" lvl="0" marL="0" marR="0" rtl="0" algn="ctr">
              <a:spcBef>
                <a:spcPts val="1200"/>
              </a:spcBef>
              <a:spcAft>
                <a:spcPts val="0"/>
              </a:spcAft>
              <a:buClr>
                <a:srgbClr val="800080"/>
              </a:buClr>
              <a:buSzPts val="2400"/>
              <a:buFont typeface="Arial Black"/>
              <a:buNone/>
            </a:pPr>
            <a:r>
              <a:rPr lang="es-AR" sz="2400">
                <a:solidFill>
                  <a:srgbClr val="800080"/>
                </a:solidFill>
                <a:latin typeface="Arial Black"/>
                <a:ea typeface="Arial Black"/>
                <a:cs typeface="Arial Black"/>
                <a:sym typeface="Arial Black"/>
              </a:rPr>
              <a:t>Dos campos dentro de la misma jerarquía deben tener diferentes nombres</a:t>
            </a:r>
            <a:endParaRPr/>
          </a:p>
          <a:p>
            <a:pPr indent="0" lvl="0" marL="0" marR="0" rtl="0" algn="ctr">
              <a:spcBef>
                <a:spcPts val="1200"/>
              </a:spcBef>
              <a:spcAft>
                <a:spcPts val="0"/>
              </a:spcAft>
              <a:buClr>
                <a:srgbClr val="800080"/>
              </a:buClr>
              <a:buSzPts val="2400"/>
              <a:buFont typeface="Arial Black"/>
              <a:buNone/>
            </a:pPr>
            <a:r>
              <a:rPr lang="es-AR" sz="2400">
                <a:solidFill>
                  <a:srgbClr val="800080"/>
                </a:solidFill>
                <a:latin typeface="Arial Black"/>
                <a:ea typeface="Arial Black"/>
                <a:cs typeface="Arial Black"/>
                <a:sym typeface="Arial Black"/>
              </a:rPr>
              <a:t>Dos campos de diferente jerarquía pueden coincidir en sus nombres</a:t>
            </a:r>
            <a:endParaRPr sz="2400">
              <a:solidFill>
                <a:srgbClr val="800080"/>
              </a:solidFill>
              <a:latin typeface="Arial Black"/>
              <a:ea typeface="Arial Black"/>
              <a:cs typeface="Arial Black"/>
              <a:sym typeface="Arial Black"/>
            </a:endParaRPr>
          </a:p>
        </p:txBody>
      </p:sp>
      <p:grpSp>
        <p:nvGrpSpPr>
          <p:cNvPr id="168" name="Google Shape;168;p19"/>
          <p:cNvGrpSpPr/>
          <p:nvPr/>
        </p:nvGrpSpPr>
        <p:grpSpPr>
          <a:xfrm>
            <a:off x="304800" y="2857500"/>
            <a:ext cx="8458200" cy="2135981"/>
            <a:chOff x="192" y="2400"/>
            <a:chExt cx="5328" cy="1794"/>
          </a:xfrm>
        </p:grpSpPr>
        <p:sp>
          <p:nvSpPr>
            <p:cNvPr id="169" name="Google Shape;169;p19"/>
            <p:cNvSpPr/>
            <p:nvPr/>
          </p:nvSpPr>
          <p:spPr>
            <a:xfrm>
              <a:off x="240" y="2496"/>
              <a:ext cx="2400" cy="1500"/>
            </a:xfrm>
            <a:prstGeom prst="roundRect">
              <a:avLst>
                <a:gd fmla="val 5917"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170" name="Google Shape;170;p19"/>
            <p:cNvSpPr txBox="1"/>
            <p:nvPr/>
          </p:nvSpPr>
          <p:spPr>
            <a:xfrm>
              <a:off x="291" y="2561"/>
              <a:ext cx="2493" cy="98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000"/>
                <a:buFont typeface="Courier New"/>
                <a:buNone/>
              </a:pPr>
              <a:r>
                <a:rPr b="1" lang="es-AR" sz="2000">
                  <a:solidFill>
                    <a:schemeClr val="dk1"/>
                  </a:solidFill>
                  <a:latin typeface="Courier New"/>
                  <a:ea typeface="Courier New"/>
                  <a:cs typeface="Courier New"/>
                  <a:sym typeface="Courier New"/>
                </a:rPr>
                <a:t>struct tipo1 {</a:t>
              </a:r>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urier New"/>
                  <a:ea typeface="Courier New"/>
                  <a:cs typeface="Courier New"/>
                  <a:sym typeface="Courier New"/>
                </a:rPr>
                <a:t>	char 	nombre[30];</a:t>
              </a:r>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urier New"/>
                  <a:ea typeface="Courier New"/>
                  <a:cs typeface="Courier New"/>
                  <a:sym typeface="Courier New"/>
                </a:rPr>
                <a:t>	char	nombre[30];</a:t>
              </a:r>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urier New"/>
                  <a:ea typeface="Courier New"/>
                  <a:cs typeface="Courier New"/>
                  <a:sym typeface="Courier New"/>
                </a:rPr>
                <a:t>	float dato;</a:t>
              </a:r>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urier New"/>
                  <a:ea typeface="Courier New"/>
                  <a:cs typeface="Courier New"/>
                  <a:sym typeface="Courier New"/>
                </a:rPr>
                <a:t>};</a:t>
              </a:r>
              <a:endParaRPr/>
            </a:p>
          </p:txBody>
        </p:sp>
        <p:sp>
          <p:nvSpPr>
            <p:cNvPr id="171" name="Google Shape;171;p19"/>
            <p:cNvSpPr/>
            <p:nvPr/>
          </p:nvSpPr>
          <p:spPr>
            <a:xfrm>
              <a:off x="2976" y="2496"/>
              <a:ext cx="2544" cy="1680"/>
            </a:xfrm>
            <a:prstGeom prst="roundRect">
              <a:avLst>
                <a:gd fmla="val 5917"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172" name="Google Shape;172;p19"/>
            <p:cNvSpPr txBox="1"/>
            <p:nvPr/>
          </p:nvSpPr>
          <p:spPr>
            <a:xfrm>
              <a:off x="3027" y="2561"/>
              <a:ext cx="2493" cy="1633"/>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000"/>
                <a:buFont typeface="Courier New"/>
                <a:buNone/>
              </a:pPr>
              <a:r>
                <a:rPr b="1" lang="es-AR" sz="1800">
                  <a:solidFill>
                    <a:schemeClr val="dk1"/>
                  </a:solidFill>
                  <a:latin typeface="Consolas"/>
                  <a:ea typeface="Consolas"/>
                  <a:cs typeface="Consolas"/>
                  <a:sym typeface="Consolas"/>
                </a:rPr>
                <a:t>struct tipo1 {</a:t>
              </a:r>
              <a:endParaRPr sz="1200">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1800">
                  <a:solidFill>
                    <a:schemeClr val="dk1"/>
                  </a:solidFill>
                  <a:latin typeface="Consolas"/>
                  <a:ea typeface="Consolas"/>
                  <a:cs typeface="Consolas"/>
                  <a:sym typeface="Consolas"/>
                </a:rPr>
                <a:t>	int codigo;</a:t>
              </a:r>
              <a:endParaRPr sz="1200">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1800">
                  <a:solidFill>
                    <a:schemeClr val="dk1"/>
                  </a:solidFill>
                  <a:latin typeface="Consolas"/>
                  <a:ea typeface="Consolas"/>
                  <a:cs typeface="Consolas"/>
                  <a:sym typeface="Consolas"/>
                </a:rPr>
                <a:t>	char	nombre[30];</a:t>
              </a:r>
              <a:endParaRPr sz="1200">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1800">
                  <a:solidFill>
                    <a:schemeClr val="dk1"/>
                  </a:solidFill>
                  <a:latin typeface="Consolas"/>
                  <a:ea typeface="Consolas"/>
                  <a:cs typeface="Consolas"/>
                  <a:sym typeface="Consolas"/>
                </a:rPr>
                <a:t>};</a:t>
              </a:r>
              <a:endParaRPr sz="1200">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1800">
                  <a:solidFill>
                    <a:schemeClr val="dk1"/>
                  </a:solidFill>
                  <a:latin typeface="Consolas"/>
                  <a:ea typeface="Consolas"/>
                  <a:cs typeface="Consolas"/>
                  <a:sym typeface="Consolas"/>
                </a:rPr>
                <a:t>struct tipo2 {</a:t>
              </a:r>
              <a:endParaRPr sz="1200">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1800">
                  <a:solidFill>
                    <a:schemeClr val="dk1"/>
                  </a:solidFill>
                  <a:latin typeface="Consolas"/>
                  <a:ea typeface="Consolas"/>
                  <a:cs typeface="Consolas"/>
                  <a:sym typeface="Consolas"/>
                </a:rPr>
                <a:t>	int codigo;</a:t>
              </a:r>
              <a:endParaRPr sz="1200">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1800">
                  <a:solidFill>
                    <a:schemeClr val="dk1"/>
                  </a:solidFill>
                  <a:latin typeface="Consolas"/>
                  <a:ea typeface="Consolas"/>
                  <a:cs typeface="Consolas"/>
                  <a:sym typeface="Consolas"/>
                </a:rPr>
                <a:t>	struct tipo1 dato;</a:t>
              </a:r>
              <a:r>
                <a:rPr lang="es-AR" sz="1200">
                  <a:latin typeface="Consolas"/>
                  <a:ea typeface="Consolas"/>
                  <a:cs typeface="Consolas"/>
                  <a:sym typeface="Consolas"/>
                </a:rPr>
                <a:t>  </a:t>
              </a:r>
              <a:r>
                <a:rPr b="1" lang="es-AR" sz="1800">
                  <a:solidFill>
                    <a:schemeClr val="dk1"/>
                  </a:solidFill>
                  <a:latin typeface="Consolas"/>
                  <a:ea typeface="Consolas"/>
                  <a:cs typeface="Consolas"/>
                  <a:sym typeface="Consolas"/>
                </a:rPr>
                <a:t>};</a:t>
              </a:r>
              <a:endParaRPr sz="1200">
                <a:latin typeface="Consolas"/>
                <a:ea typeface="Consolas"/>
                <a:cs typeface="Consolas"/>
                <a:sym typeface="Consolas"/>
              </a:endParaRPr>
            </a:p>
          </p:txBody>
        </p:sp>
        <p:grpSp>
          <p:nvGrpSpPr>
            <p:cNvPr id="173" name="Google Shape;173;p19"/>
            <p:cNvGrpSpPr/>
            <p:nvPr/>
          </p:nvGrpSpPr>
          <p:grpSpPr>
            <a:xfrm>
              <a:off x="192" y="2400"/>
              <a:ext cx="2688" cy="1392"/>
              <a:chOff x="192" y="2400"/>
              <a:chExt cx="2688" cy="1392"/>
            </a:xfrm>
          </p:grpSpPr>
          <p:cxnSp>
            <p:nvCxnSpPr>
              <p:cNvPr id="174" name="Google Shape;174;p19"/>
              <p:cNvCxnSpPr/>
              <p:nvPr/>
            </p:nvCxnSpPr>
            <p:spPr>
              <a:xfrm flipH="1">
                <a:off x="192" y="2400"/>
                <a:ext cx="2688" cy="1392"/>
              </a:xfrm>
              <a:prstGeom prst="straightConnector1">
                <a:avLst/>
              </a:prstGeom>
              <a:noFill/>
              <a:ln cap="flat" cmpd="sng" w="34925">
                <a:solidFill>
                  <a:srgbClr val="FF0000"/>
                </a:solidFill>
                <a:prstDash val="solid"/>
                <a:round/>
                <a:headEnd len="med" w="med" type="none"/>
                <a:tailEnd len="med" w="med" type="none"/>
              </a:ln>
            </p:spPr>
          </p:cxnSp>
          <p:cxnSp>
            <p:nvCxnSpPr>
              <p:cNvPr id="175" name="Google Shape;175;p19"/>
              <p:cNvCxnSpPr/>
              <p:nvPr/>
            </p:nvCxnSpPr>
            <p:spPr>
              <a:xfrm rot="10800000">
                <a:off x="192" y="2448"/>
                <a:ext cx="2688" cy="1296"/>
              </a:xfrm>
              <a:prstGeom prst="straightConnector1">
                <a:avLst/>
              </a:prstGeom>
              <a:noFill/>
              <a:ln cap="flat" cmpd="sng" w="34925">
                <a:solidFill>
                  <a:srgbClr val="FF0000"/>
                </a:solidFill>
                <a:prstDash val="solid"/>
                <a:round/>
                <a:headEnd len="med" w="med" type="none"/>
                <a:tailEnd len="med" w="med" type="none"/>
              </a:ln>
            </p:spPr>
          </p:cxn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0"/>
          <p:cNvSpPr txBox="1"/>
          <p:nvPr>
            <p:ph type="title"/>
          </p:nvPr>
        </p:nvSpPr>
        <p:spPr>
          <a:xfrm>
            <a:off x="304800" y="62525"/>
            <a:ext cx="8534400" cy="768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s-AR" sz="4000">
                <a:latin typeface="Courier New"/>
                <a:ea typeface="Courier New"/>
                <a:cs typeface="Courier New"/>
                <a:sym typeface="Courier New"/>
              </a:rPr>
              <a:t>typedef</a:t>
            </a:r>
            <a:r>
              <a:rPr b="1" i="1" lang="es-AR" sz="4000"/>
              <a:t>: Una forma de abreviar...</a:t>
            </a:r>
            <a:endParaRPr b="1" i="1" sz="4000"/>
          </a:p>
        </p:txBody>
      </p:sp>
      <p:sp>
        <p:nvSpPr>
          <p:cNvPr id="181" name="Google Shape;181;p20"/>
          <p:cNvSpPr/>
          <p:nvPr/>
        </p:nvSpPr>
        <p:spPr>
          <a:xfrm>
            <a:off x="457200" y="928075"/>
            <a:ext cx="8153400" cy="3644100"/>
          </a:xfrm>
          <a:prstGeom prst="roundRect">
            <a:avLst>
              <a:gd fmla="val 5917" name="adj"/>
            </a:avLst>
          </a:prstGeom>
          <a:solidFill>
            <a:srgbClr val="99FFCC"/>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182" name="Google Shape;182;p20"/>
          <p:cNvSpPr txBox="1"/>
          <p:nvPr/>
        </p:nvSpPr>
        <p:spPr>
          <a:xfrm>
            <a:off x="609588" y="1472610"/>
            <a:ext cx="6134100" cy="16572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400"/>
              <a:buFont typeface="Courier New"/>
              <a:buNone/>
            </a:pPr>
            <a:r>
              <a:rPr b="1" lang="es-AR" sz="2400">
                <a:solidFill>
                  <a:schemeClr val="dk1"/>
                </a:solidFill>
                <a:latin typeface="Courier New"/>
                <a:ea typeface="Courier New"/>
                <a:cs typeface="Courier New"/>
                <a:sym typeface="Courier New"/>
              </a:rPr>
              <a:t>typedef </a:t>
            </a:r>
            <a:r>
              <a:rPr b="1" lang="es-AR" sz="2400">
                <a:solidFill>
                  <a:schemeClr val="accent2"/>
                </a:solidFill>
                <a:latin typeface="Courier New"/>
                <a:ea typeface="Courier New"/>
                <a:cs typeface="Courier New"/>
                <a:sym typeface="Courier New"/>
              </a:rPr>
              <a:t>struct nombreOptativo</a:t>
            </a:r>
            <a:r>
              <a:rPr b="1" lang="es-AR" sz="2400">
                <a:solidFill>
                  <a:schemeClr val="dk1"/>
                </a:solidFill>
                <a:latin typeface="Courier New"/>
                <a:ea typeface="Courier New"/>
                <a:cs typeface="Courier New"/>
                <a:sym typeface="Courier New"/>
              </a:rPr>
              <a:t>{</a:t>
            </a:r>
            <a:endParaRPr/>
          </a:p>
          <a:p>
            <a:pPr indent="0" lvl="0" marL="0" marR="0" rtl="0" algn="l">
              <a:lnSpc>
                <a:spcPct val="80000"/>
              </a:lnSpc>
              <a:spcBef>
                <a:spcPts val="480"/>
              </a:spcBef>
              <a:spcAft>
                <a:spcPts val="0"/>
              </a:spcAft>
              <a:buClr>
                <a:schemeClr val="dk1"/>
              </a:buClr>
              <a:buSzPts val="2400"/>
              <a:buFont typeface="Courier New"/>
              <a:buNone/>
            </a:pPr>
            <a:r>
              <a:rPr b="1" lang="es-AR" sz="2400">
                <a:solidFill>
                  <a:schemeClr val="dk1"/>
                </a:solidFill>
                <a:latin typeface="Courier New"/>
                <a:ea typeface="Courier New"/>
                <a:cs typeface="Courier New"/>
                <a:sym typeface="Courier New"/>
              </a:rPr>
              <a:t>	tipo1	  nombreCampo1;</a:t>
            </a:r>
            <a:endParaRPr/>
          </a:p>
          <a:p>
            <a:pPr indent="0" lvl="0" marL="0" marR="0" rtl="0" algn="l">
              <a:lnSpc>
                <a:spcPct val="80000"/>
              </a:lnSpc>
              <a:spcBef>
                <a:spcPts val="480"/>
              </a:spcBef>
              <a:spcAft>
                <a:spcPts val="0"/>
              </a:spcAft>
              <a:buClr>
                <a:schemeClr val="dk1"/>
              </a:buClr>
              <a:buSzPts val="2400"/>
              <a:buFont typeface="Courier New"/>
              <a:buNone/>
            </a:pPr>
            <a:r>
              <a:rPr b="1" lang="es-AR" sz="2400">
                <a:solidFill>
                  <a:schemeClr val="dk1"/>
                </a:solidFill>
                <a:latin typeface="Courier New"/>
                <a:ea typeface="Courier New"/>
                <a:cs typeface="Courier New"/>
                <a:sym typeface="Courier New"/>
              </a:rPr>
              <a:t>	tipo2  nombreCampo2;</a:t>
            </a:r>
            <a:endParaRPr/>
          </a:p>
          <a:p>
            <a:pPr indent="0" lvl="0" marL="0" marR="0" rtl="0" algn="l">
              <a:lnSpc>
                <a:spcPct val="80000"/>
              </a:lnSpc>
              <a:spcBef>
                <a:spcPts val="480"/>
              </a:spcBef>
              <a:spcAft>
                <a:spcPts val="0"/>
              </a:spcAft>
              <a:buClr>
                <a:schemeClr val="dk1"/>
              </a:buClr>
              <a:buSzPts val="2400"/>
              <a:buFont typeface="Courier New"/>
              <a:buNone/>
            </a:pPr>
            <a:r>
              <a:rPr b="1" lang="es-AR" sz="2400">
                <a:solidFill>
                  <a:schemeClr val="dk1"/>
                </a:solidFill>
                <a:latin typeface="Courier New"/>
                <a:ea typeface="Courier New"/>
                <a:cs typeface="Courier New"/>
                <a:sym typeface="Courier New"/>
              </a:rPr>
              <a:t>	...</a:t>
            </a:r>
            <a:endParaRPr/>
          </a:p>
          <a:p>
            <a:pPr indent="0" lvl="0" marL="0" marR="0" rtl="0" algn="l">
              <a:lnSpc>
                <a:spcPct val="80000"/>
              </a:lnSpc>
              <a:spcBef>
                <a:spcPts val="480"/>
              </a:spcBef>
              <a:spcAft>
                <a:spcPts val="0"/>
              </a:spcAft>
              <a:buClr>
                <a:schemeClr val="dk1"/>
              </a:buClr>
              <a:buSzPts val="2400"/>
              <a:buFont typeface="Courier New"/>
              <a:buNone/>
            </a:pPr>
            <a:r>
              <a:rPr b="1" lang="es-AR" sz="2400">
                <a:solidFill>
                  <a:schemeClr val="dk1"/>
                </a:solidFill>
                <a:latin typeface="Courier New"/>
                <a:ea typeface="Courier New"/>
                <a:cs typeface="Courier New"/>
                <a:sym typeface="Courier New"/>
              </a:rPr>
              <a:t>	tipoN  nombreCampoN;</a:t>
            </a:r>
            <a:endParaRPr/>
          </a:p>
          <a:p>
            <a:pPr indent="0" lvl="0" marL="0" marR="0" rtl="0" algn="l">
              <a:lnSpc>
                <a:spcPct val="80000"/>
              </a:lnSpc>
              <a:spcBef>
                <a:spcPts val="480"/>
              </a:spcBef>
              <a:spcAft>
                <a:spcPts val="0"/>
              </a:spcAft>
              <a:buClr>
                <a:schemeClr val="dk1"/>
              </a:buClr>
              <a:buSzPts val="2400"/>
              <a:buFont typeface="Courier New"/>
              <a:buNone/>
            </a:pPr>
            <a:r>
              <a:rPr b="1" lang="es-AR" sz="2400">
                <a:solidFill>
                  <a:schemeClr val="dk1"/>
                </a:solidFill>
                <a:latin typeface="Courier New"/>
                <a:ea typeface="Courier New"/>
                <a:cs typeface="Courier New"/>
                <a:sym typeface="Courier New"/>
              </a:rPr>
              <a:t>} </a:t>
            </a:r>
            <a:r>
              <a:rPr b="1" lang="es-AR" sz="2400">
                <a:solidFill>
                  <a:srgbClr val="CC0066"/>
                </a:solidFill>
                <a:latin typeface="Courier New"/>
                <a:ea typeface="Courier New"/>
                <a:cs typeface="Courier New"/>
                <a:sym typeface="Courier New"/>
              </a:rPr>
              <a:t>nombreTipo</a:t>
            </a:r>
            <a:r>
              <a:rPr b="1" lang="es-AR" sz="2400">
                <a:solidFill>
                  <a:schemeClr val="dk1"/>
                </a:solidFill>
                <a:latin typeface="Courier New"/>
                <a:ea typeface="Courier New"/>
                <a:cs typeface="Courier New"/>
                <a:sym typeface="Courier New"/>
              </a:rPr>
              <a:t>;</a:t>
            </a:r>
            <a:endParaRPr b="1" sz="2400">
              <a:solidFill>
                <a:schemeClr val="dk1"/>
              </a:solidFill>
              <a:latin typeface="Courier New"/>
              <a:ea typeface="Courier New"/>
              <a:cs typeface="Courier New"/>
              <a:sym typeface="Courier New"/>
            </a:endParaRPr>
          </a:p>
        </p:txBody>
      </p:sp>
      <p:sp>
        <p:nvSpPr>
          <p:cNvPr id="183" name="Google Shape;183;p20"/>
          <p:cNvSpPr txBox="1"/>
          <p:nvPr/>
        </p:nvSpPr>
        <p:spPr>
          <a:xfrm>
            <a:off x="528638" y="1012972"/>
            <a:ext cx="777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Times New Roman"/>
              <a:buNone/>
            </a:pPr>
            <a:r>
              <a:rPr lang="es-AR" sz="2400">
                <a:solidFill>
                  <a:schemeClr val="dk1"/>
                </a:solidFill>
                <a:latin typeface="Times New Roman"/>
                <a:ea typeface="Times New Roman"/>
                <a:cs typeface="Times New Roman"/>
                <a:sym typeface="Times New Roman"/>
              </a:rPr>
              <a:t>Sintaxis de Declaración de un registro o struct con typedef:</a:t>
            </a:r>
            <a:endParaRPr sz="2400">
              <a:solidFill>
                <a:schemeClr val="dk1"/>
              </a:solidFill>
              <a:latin typeface="Times New Roman"/>
              <a:ea typeface="Times New Roman"/>
              <a:cs typeface="Times New Roman"/>
              <a:sym typeface="Times New Roman"/>
            </a:endParaRPr>
          </a:p>
        </p:txBody>
      </p:sp>
      <p:sp>
        <p:nvSpPr>
          <p:cNvPr id="184" name="Google Shape;184;p20"/>
          <p:cNvSpPr txBox="1"/>
          <p:nvPr/>
        </p:nvSpPr>
        <p:spPr>
          <a:xfrm>
            <a:off x="609600" y="3771900"/>
            <a:ext cx="6858000" cy="6357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accent2"/>
              </a:buClr>
              <a:buSzPts val="2200"/>
              <a:buFont typeface="Courier New"/>
              <a:buNone/>
            </a:pPr>
            <a:r>
              <a:rPr b="1" lang="es-AR" sz="2200">
                <a:solidFill>
                  <a:schemeClr val="accent2"/>
                </a:solidFill>
                <a:latin typeface="Courier New"/>
                <a:ea typeface="Courier New"/>
                <a:cs typeface="Courier New"/>
                <a:sym typeface="Courier New"/>
              </a:rPr>
              <a:t>struct nombreOptativo</a:t>
            </a:r>
            <a:r>
              <a:rPr b="1" lang="es-AR" sz="2200">
                <a:solidFill>
                  <a:schemeClr val="dk1"/>
                </a:solidFill>
                <a:latin typeface="Courier New"/>
                <a:ea typeface="Courier New"/>
                <a:cs typeface="Courier New"/>
                <a:sym typeface="Courier New"/>
              </a:rPr>
              <a:t> unaVariable ;</a:t>
            </a:r>
            <a:endParaRPr/>
          </a:p>
          <a:p>
            <a:pPr indent="0" lvl="0" marL="0" marR="0" rtl="0" algn="l">
              <a:lnSpc>
                <a:spcPct val="80000"/>
              </a:lnSpc>
              <a:spcBef>
                <a:spcPts val="200"/>
              </a:spcBef>
              <a:spcAft>
                <a:spcPts val="0"/>
              </a:spcAft>
              <a:buClr>
                <a:schemeClr val="dk1"/>
              </a:buClr>
              <a:buSzPts val="1000"/>
              <a:buFont typeface="Times New Roman"/>
              <a:buNone/>
            </a:pPr>
            <a:r>
              <a:t/>
            </a:r>
            <a:endParaRPr b="1" sz="1000">
              <a:solidFill>
                <a:schemeClr val="dk1"/>
              </a:solidFill>
              <a:latin typeface="Courier New"/>
              <a:ea typeface="Courier New"/>
              <a:cs typeface="Courier New"/>
              <a:sym typeface="Courier New"/>
            </a:endParaRPr>
          </a:p>
          <a:p>
            <a:pPr indent="0" lvl="0" marL="0" marR="0" rtl="0" algn="l">
              <a:lnSpc>
                <a:spcPct val="80000"/>
              </a:lnSpc>
              <a:spcBef>
                <a:spcPts val="440"/>
              </a:spcBef>
              <a:spcAft>
                <a:spcPts val="0"/>
              </a:spcAft>
              <a:buClr>
                <a:srgbClr val="CC0066"/>
              </a:buClr>
              <a:buSzPts val="2200"/>
              <a:buFont typeface="Courier New"/>
              <a:buNone/>
            </a:pPr>
            <a:r>
              <a:rPr b="1" lang="es-AR" sz="2200">
                <a:solidFill>
                  <a:srgbClr val="CC0066"/>
                </a:solidFill>
                <a:latin typeface="Courier New"/>
                <a:ea typeface="Courier New"/>
                <a:cs typeface="Courier New"/>
                <a:sym typeface="Courier New"/>
              </a:rPr>
              <a:t>nombreTipo</a:t>
            </a:r>
            <a:r>
              <a:rPr b="1" lang="es-AR" sz="2200">
                <a:solidFill>
                  <a:schemeClr val="dk1"/>
                </a:solidFill>
                <a:latin typeface="Courier New"/>
                <a:ea typeface="Courier New"/>
                <a:cs typeface="Courier New"/>
                <a:sym typeface="Courier New"/>
              </a:rPr>
              <a:t> otraVariable;</a:t>
            </a:r>
            <a:endParaRPr b="1" sz="2200">
              <a:solidFill>
                <a:schemeClr val="dk1"/>
              </a:solidFill>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1"/>
          <p:cNvSpPr/>
          <p:nvPr/>
        </p:nvSpPr>
        <p:spPr>
          <a:xfrm>
            <a:off x="304800" y="171450"/>
            <a:ext cx="8305800" cy="4857600"/>
          </a:xfrm>
          <a:prstGeom prst="roundRect">
            <a:avLst>
              <a:gd fmla="val 3426"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190" name="Google Shape;190;p21"/>
          <p:cNvSpPr txBox="1"/>
          <p:nvPr/>
        </p:nvSpPr>
        <p:spPr>
          <a:xfrm>
            <a:off x="455613" y="228600"/>
            <a:ext cx="7853400" cy="46554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typedef struct</a:t>
            </a:r>
            <a:r>
              <a:rPr lang="es-AR" sz="1100">
                <a:latin typeface="Consolas"/>
                <a:ea typeface="Consolas"/>
                <a:cs typeface="Consolas"/>
                <a:sym typeface="Consolas"/>
              </a:rPr>
              <a:t> </a:t>
            </a:r>
            <a:r>
              <a:rPr b="1" lang="es-AR" sz="1900">
                <a:solidFill>
                  <a:schemeClr val="dk1"/>
                </a:solidFill>
                <a:latin typeface="Consolas"/>
                <a:ea typeface="Consolas"/>
                <a:cs typeface="Consolas"/>
                <a:sym typeface="Consolas"/>
              </a:rPr>
              <a:t>{</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	char nombre[30];</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	char telefono[15];</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	char domicilio[30];</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 tipoPersona;</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Times New Roman"/>
              <a:buNone/>
            </a:pPr>
            <a:r>
              <a:t/>
            </a:r>
            <a:endParaRPr b="1" sz="1100">
              <a:solidFill>
                <a:schemeClr val="dk1"/>
              </a:solidFill>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typedef struct {</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	int	dia, mes, anio;</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 tipoFecha;</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Times New Roman"/>
              <a:buNone/>
            </a:pPr>
            <a:r>
              <a:t/>
            </a:r>
            <a:endParaRPr b="1" sz="1100">
              <a:solidFill>
                <a:schemeClr val="dk1"/>
              </a:solidFill>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typedef struct {</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	tipoPersona paciente;</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	tipoFecha  fecha;</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	char	hora[6];</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	int 	obraSocial;</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 tipoTurno;</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tipoTurno miTurno ;</a:t>
            </a:r>
            <a:endParaRPr b="1" sz="1900">
              <a:solidFill>
                <a:schemeClr val="dk1"/>
              </a:solidFill>
              <a:latin typeface="Consolas"/>
              <a:ea typeface="Consolas"/>
              <a:cs typeface="Consolas"/>
              <a:sym typeface="Consolas"/>
            </a:endParaRPr>
          </a:p>
        </p:txBody>
      </p:sp>
      <p:grpSp>
        <p:nvGrpSpPr>
          <p:cNvPr id="191" name="Google Shape;191;p21"/>
          <p:cNvGrpSpPr/>
          <p:nvPr/>
        </p:nvGrpSpPr>
        <p:grpSpPr>
          <a:xfrm>
            <a:off x="685800" y="1352550"/>
            <a:ext cx="7524750" cy="3548063"/>
            <a:chOff x="432" y="1136"/>
            <a:chExt cx="4740" cy="2980"/>
          </a:xfrm>
        </p:grpSpPr>
        <p:grpSp>
          <p:nvGrpSpPr>
            <p:cNvPr id="192" name="Google Shape;192;p21"/>
            <p:cNvGrpSpPr/>
            <p:nvPr/>
          </p:nvGrpSpPr>
          <p:grpSpPr>
            <a:xfrm>
              <a:off x="1053" y="3651"/>
              <a:ext cx="4119" cy="465"/>
              <a:chOff x="165" y="3504"/>
              <a:chExt cx="4119" cy="465"/>
            </a:xfrm>
          </p:grpSpPr>
          <p:sp>
            <p:nvSpPr>
              <p:cNvPr id="193" name="Google Shape;193;p21"/>
              <p:cNvSpPr/>
              <p:nvPr/>
            </p:nvSpPr>
            <p:spPr>
              <a:xfrm>
                <a:off x="165" y="3669"/>
                <a:ext cx="1200" cy="300"/>
              </a:xfrm>
              <a:prstGeom prst="ellipse">
                <a:avLst/>
              </a:prstGeom>
              <a:noFill/>
              <a:ln cap="flat" cmpd="sng" w="317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cxnSp>
            <p:nvCxnSpPr>
              <p:cNvPr id="194" name="Google Shape;194;p21"/>
              <p:cNvCxnSpPr/>
              <p:nvPr/>
            </p:nvCxnSpPr>
            <p:spPr>
              <a:xfrm>
                <a:off x="1200" y="3840"/>
                <a:ext cx="1500" cy="0"/>
              </a:xfrm>
              <a:prstGeom prst="straightConnector1">
                <a:avLst/>
              </a:prstGeom>
              <a:noFill/>
              <a:ln cap="flat" cmpd="sng" w="31750">
                <a:solidFill>
                  <a:srgbClr val="FF0000"/>
                </a:solidFill>
                <a:prstDash val="solid"/>
                <a:round/>
                <a:headEnd len="med" w="med" type="none"/>
                <a:tailEnd len="med" w="med" type="triangle"/>
              </a:ln>
            </p:spPr>
          </p:cxnSp>
          <p:sp>
            <p:nvSpPr>
              <p:cNvPr id="195" name="Google Shape;195;p21"/>
              <p:cNvSpPr/>
              <p:nvPr/>
            </p:nvSpPr>
            <p:spPr>
              <a:xfrm>
                <a:off x="2976" y="3504"/>
                <a:ext cx="1308" cy="408"/>
              </a:xfrm>
              <a:prstGeom prst="rect">
                <a:avLst/>
              </a:prstGeom>
            </p:spPr>
            <p:txBody>
              <a:bodyPr>
                <a:prstTxWarp prst="textPlain"/>
              </a:bodyPr>
              <a:lstStyle/>
              <a:p>
                <a:pPr lvl="0" algn="ctr"/>
                <a:r>
                  <a:rPr b="0" i="0">
                    <a:ln cap="flat" cmpd="sng" w="9525">
                      <a:solidFill>
                        <a:srgbClr val="000000"/>
                      </a:solidFill>
                      <a:prstDash val="solid"/>
                      <a:round/>
                      <a:headEnd len="sm" w="sm" type="none"/>
                      <a:tailEnd len="sm" w="sm" type="none"/>
                    </a:ln>
                    <a:solidFill>
                      <a:srgbClr val="FF0000"/>
                    </a:solidFill>
                    <a:latin typeface="Arial Black"/>
                  </a:rPr>
                  <a:t>Variable</a:t>
                </a:r>
              </a:p>
            </p:txBody>
          </p:sp>
        </p:grpSp>
        <p:sp>
          <p:nvSpPr>
            <p:cNvPr id="196" name="Google Shape;196;p21"/>
            <p:cNvSpPr/>
            <p:nvPr/>
          </p:nvSpPr>
          <p:spPr>
            <a:xfrm>
              <a:off x="432" y="2037"/>
              <a:ext cx="1392" cy="336"/>
            </a:xfrm>
            <a:prstGeom prst="ellipse">
              <a:avLst/>
            </a:prstGeom>
            <a:noFill/>
            <a:ln cap="flat" cmpd="sng" w="317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197" name="Google Shape;197;p21"/>
            <p:cNvSpPr/>
            <p:nvPr/>
          </p:nvSpPr>
          <p:spPr>
            <a:xfrm>
              <a:off x="3456" y="1536"/>
              <a:ext cx="1308" cy="624"/>
            </a:xfrm>
            <a:prstGeom prst="rect">
              <a:avLst/>
            </a:prstGeom>
          </p:spPr>
          <p:txBody>
            <a:bodyPr>
              <a:prstTxWarp prst="textPlain"/>
            </a:bodyPr>
            <a:lstStyle/>
            <a:p>
              <a:pPr lvl="0" algn="ctr"/>
              <a:r>
                <a:rPr b="0" i="0">
                  <a:ln cap="flat" cmpd="sng" w="9525">
                    <a:solidFill>
                      <a:srgbClr val="000000"/>
                    </a:solidFill>
                    <a:prstDash val="solid"/>
                    <a:round/>
                    <a:headEnd len="sm" w="sm" type="none"/>
                    <a:tailEnd len="sm" w="sm" type="none"/>
                  </a:ln>
                  <a:solidFill>
                    <a:srgbClr val="FF0000"/>
                  </a:solidFill>
                  <a:latin typeface="Arial Black"/>
                </a:rPr>
                <a:t>Tipo de </a:t>
              </a:r>
              <a:br>
                <a:rPr b="0" i="0">
                  <a:ln cap="flat" cmpd="sng" w="9525">
                    <a:solidFill>
                      <a:srgbClr val="000000"/>
                    </a:solidFill>
                    <a:prstDash val="solid"/>
                    <a:round/>
                    <a:headEnd len="sm" w="sm" type="none"/>
                    <a:tailEnd len="sm" w="sm" type="none"/>
                  </a:ln>
                  <a:solidFill>
                    <a:srgbClr val="FF0000"/>
                  </a:solidFill>
                  <a:latin typeface="Arial Black"/>
                </a:rPr>
              </a:br>
              <a:r>
                <a:rPr b="0" i="0">
                  <a:ln cap="flat" cmpd="sng" w="9525">
                    <a:solidFill>
                      <a:srgbClr val="000000"/>
                    </a:solidFill>
                    <a:prstDash val="solid"/>
                    <a:round/>
                    <a:headEnd len="sm" w="sm" type="none"/>
                    <a:tailEnd len="sm" w="sm" type="none"/>
                  </a:ln>
                  <a:solidFill>
                    <a:srgbClr val="FF0000"/>
                  </a:solidFill>
                  <a:latin typeface="Arial Black"/>
                </a:rPr>
                <a:t>Dato</a:t>
              </a:r>
            </a:p>
          </p:txBody>
        </p:sp>
        <p:sp>
          <p:nvSpPr>
            <p:cNvPr id="198" name="Google Shape;198;p21"/>
            <p:cNvSpPr/>
            <p:nvPr/>
          </p:nvSpPr>
          <p:spPr>
            <a:xfrm>
              <a:off x="432" y="1136"/>
              <a:ext cx="1500" cy="300"/>
            </a:xfrm>
            <a:prstGeom prst="ellipse">
              <a:avLst/>
            </a:prstGeom>
            <a:noFill/>
            <a:ln cap="flat" cmpd="sng" w="317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grpSp>
          <p:nvGrpSpPr>
            <p:cNvPr id="199" name="Google Shape;199;p21"/>
            <p:cNvGrpSpPr/>
            <p:nvPr/>
          </p:nvGrpSpPr>
          <p:grpSpPr>
            <a:xfrm>
              <a:off x="1824" y="1288"/>
              <a:ext cx="1632" cy="1056"/>
              <a:chOff x="1824" y="1288"/>
              <a:chExt cx="1632" cy="1056"/>
            </a:xfrm>
          </p:grpSpPr>
          <p:sp>
            <p:nvSpPr>
              <p:cNvPr id="200" name="Google Shape;200;p21"/>
              <p:cNvSpPr/>
              <p:nvPr/>
            </p:nvSpPr>
            <p:spPr>
              <a:xfrm>
                <a:off x="1872" y="1288"/>
                <a:ext cx="1392" cy="392"/>
              </a:xfrm>
              <a:custGeom>
                <a:rect b="b" l="l" r="r" t="t"/>
                <a:pathLst>
                  <a:path extrusionOk="0" h="392" w="1392">
                    <a:moveTo>
                      <a:pt x="0" y="56"/>
                    </a:moveTo>
                    <a:cubicBezTo>
                      <a:pt x="244" y="28"/>
                      <a:pt x="488" y="0"/>
                      <a:pt x="720" y="56"/>
                    </a:cubicBezTo>
                    <a:cubicBezTo>
                      <a:pt x="952" y="112"/>
                      <a:pt x="1172" y="252"/>
                      <a:pt x="1392" y="392"/>
                    </a:cubicBezTo>
                  </a:path>
                </a:pathLst>
              </a:custGeom>
              <a:noFill/>
              <a:ln cap="flat" cmpd="sng" w="285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201" name="Google Shape;201;p21"/>
              <p:cNvSpPr/>
              <p:nvPr/>
            </p:nvSpPr>
            <p:spPr>
              <a:xfrm>
                <a:off x="1824" y="1968"/>
                <a:ext cx="1632" cy="376"/>
              </a:xfrm>
              <a:custGeom>
                <a:rect b="b" l="l" r="r" t="t"/>
                <a:pathLst>
                  <a:path extrusionOk="0" h="376" w="1632">
                    <a:moveTo>
                      <a:pt x="0" y="240"/>
                    </a:moveTo>
                    <a:cubicBezTo>
                      <a:pt x="344" y="308"/>
                      <a:pt x="688" y="376"/>
                      <a:pt x="960" y="336"/>
                    </a:cubicBezTo>
                    <a:cubicBezTo>
                      <a:pt x="1232" y="296"/>
                      <a:pt x="1432" y="148"/>
                      <a:pt x="1632" y="0"/>
                    </a:cubicBezTo>
                  </a:path>
                </a:pathLst>
              </a:custGeom>
              <a:noFill/>
              <a:ln cap="flat" cmpd="sng" w="285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grpSp>
        <p:sp>
          <p:nvSpPr>
            <p:cNvPr id="202" name="Google Shape;202;p21"/>
            <p:cNvSpPr/>
            <p:nvPr/>
          </p:nvSpPr>
          <p:spPr>
            <a:xfrm>
              <a:off x="432" y="3616"/>
              <a:ext cx="1500" cy="300"/>
            </a:xfrm>
            <a:prstGeom prst="ellipse">
              <a:avLst/>
            </a:prstGeom>
            <a:noFill/>
            <a:ln cap="flat" cmpd="sng" w="317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203" name="Google Shape;203;p21"/>
            <p:cNvSpPr/>
            <p:nvPr/>
          </p:nvSpPr>
          <p:spPr>
            <a:xfrm>
              <a:off x="1824" y="2304"/>
              <a:ext cx="1872" cy="1472"/>
            </a:xfrm>
            <a:custGeom>
              <a:rect b="b" l="l" r="r" t="t"/>
              <a:pathLst>
                <a:path extrusionOk="0" h="1472" w="1872">
                  <a:moveTo>
                    <a:pt x="0" y="1344"/>
                  </a:moveTo>
                  <a:cubicBezTo>
                    <a:pt x="492" y="1408"/>
                    <a:pt x="984" y="1472"/>
                    <a:pt x="1296" y="1248"/>
                  </a:cubicBezTo>
                  <a:cubicBezTo>
                    <a:pt x="1608" y="1024"/>
                    <a:pt x="1740" y="512"/>
                    <a:pt x="1872" y="0"/>
                  </a:cubicBezTo>
                </a:path>
              </a:pathLst>
            </a:custGeom>
            <a:noFill/>
            <a:ln cap="flat" cmpd="sng" w="285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2"/>
          <p:cNvSpPr txBox="1"/>
          <p:nvPr>
            <p:ph type="title"/>
          </p:nvPr>
        </p:nvSpPr>
        <p:spPr>
          <a:xfrm>
            <a:off x="228600" y="57150"/>
            <a:ext cx="8686800" cy="399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i="1" lang="es-AR" sz="3300"/>
              <a:t>Inicialización de una variable de tipo estructura</a:t>
            </a:r>
            <a:endParaRPr/>
          </a:p>
        </p:txBody>
      </p:sp>
      <p:sp>
        <p:nvSpPr>
          <p:cNvPr id="209" name="Google Shape;209;p22"/>
          <p:cNvSpPr/>
          <p:nvPr/>
        </p:nvSpPr>
        <p:spPr>
          <a:xfrm>
            <a:off x="228600" y="590550"/>
            <a:ext cx="8382300" cy="2533800"/>
          </a:xfrm>
          <a:prstGeom prst="roundRect">
            <a:avLst>
              <a:gd fmla="val 5917" name="adj"/>
            </a:avLst>
          </a:prstGeom>
          <a:solidFill>
            <a:srgbClr val="99FFCC"/>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Consolas"/>
              <a:ea typeface="Consolas"/>
              <a:cs typeface="Consolas"/>
              <a:sym typeface="Consolas"/>
            </a:endParaRPr>
          </a:p>
        </p:txBody>
      </p:sp>
      <p:sp>
        <p:nvSpPr>
          <p:cNvPr id="210" name="Google Shape;210;p22"/>
          <p:cNvSpPr txBox="1"/>
          <p:nvPr/>
        </p:nvSpPr>
        <p:spPr>
          <a:xfrm>
            <a:off x="304800" y="527447"/>
            <a:ext cx="8382000" cy="20121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200"/>
              <a:buFont typeface="Courier New"/>
              <a:buNone/>
            </a:pPr>
            <a:r>
              <a:rPr b="1" lang="es-AR" sz="2100">
                <a:solidFill>
                  <a:schemeClr val="dk1"/>
                </a:solidFill>
                <a:latin typeface="Consolas"/>
                <a:ea typeface="Consolas"/>
                <a:cs typeface="Consolas"/>
                <a:sym typeface="Consolas"/>
              </a:rPr>
              <a:t>struct nombreRegistro{</a:t>
            </a:r>
            <a:endParaRPr sz="13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100">
                <a:solidFill>
                  <a:schemeClr val="dk1"/>
                </a:solidFill>
                <a:latin typeface="Consolas"/>
                <a:ea typeface="Consolas"/>
                <a:cs typeface="Consolas"/>
                <a:sym typeface="Consolas"/>
              </a:rPr>
              <a:t>	tipo1	  nombreCampo1;</a:t>
            </a:r>
            <a:endParaRPr sz="13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100">
                <a:solidFill>
                  <a:schemeClr val="dk1"/>
                </a:solidFill>
                <a:latin typeface="Consolas"/>
                <a:ea typeface="Consolas"/>
                <a:cs typeface="Consolas"/>
                <a:sym typeface="Consolas"/>
              </a:rPr>
              <a:t>	tipo2  nombreCampo2;</a:t>
            </a:r>
            <a:endParaRPr sz="13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100">
                <a:solidFill>
                  <a:schemeClr val="dk1"/>
                </a:solidFill>
                <a:latin typeface="Consolas"/>
                <a:ea typeface="Consolas"/>
                <a:cs typeface="Consolas"/>
                <a:sym typeface="Consolas"/>
              </a:rPr>
              <a:t>	...</a:t>
            </a:r>
            <a:endParaRPr sz="13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100">
                <a:solidFill>
                  <a:schemeClr val="dk1"/>
                </a:solidFill>
                <a:latin typeface="Consolas"/>
                <a:ea typeface="Consolas"/>
                <a:cs typeface="Consolas"/>
                <a:sym typeface="Consolas"/>
              </a:rPr>
              <a:t>	tipoN  nombreCampoN;</a:t>
            </a:r>
            <a:endParaRPr sz="13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100">
                <a:solidFill>
                  <a:schemeClr val="dk1"/>
                </a:solidFill>
                <a:latin typeface="Consolas"/>
                <a:ea typeface="Consolas"/>
                <a:cs typeface="Consolas"/>
                <a:sym typeface="Consolas"/>
              </a:rPr>
              <a:t>};</a:t>
            </a:r>
            <a:endParaRPr sz="13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100">
                <a:solidFill>
                  <a:schemeClr val="dk1"/>
                </a:solidFill>
                <a:latin typeface="Consolas"/>
                <a:ea typeface="Consolas"/>
                <a:cs typeface="Consolas"/>
                <a:sym typeface="Consolas"/>
              </a:rPr>
              <a:t>struct nombreRegistro nombreVariable = {dato1,  					dato2, ... , datoN};</a:t>
            </a:r>
            <a:endParaRPr b="1" sz="2100">
              <a:solidFill>
                <a:schemeClr val="dk1"/>
              </a:solidFill>
              <a:latin typeface="Consolas"/>
              <a:ea typeface="Consolas"/>
              <a:cs typeface="Consolas"/>
              <a:sym typeface="Consolas"/>
            </a:endParaRPr>
          </a:p>
        </p:txBody>
      </p:sp>
      <p:grpSp>
        <p:nvGrpSpPr>
          <p:cNvPr id="211" name="Google Shape;211;p22"/>
          <p:cNvGrpSpPr/>
          <p:nvPr/>
        </p:nvGrpSpPr>
        <p:grpSpPr>
          <a:xfrm>
            <a:off x="228606" y="3238500"/>
            <a:ext cx="8382213" cy="1702800"/>
            <a:chOff x="228600" y="114300"/>
            <a:chExt cx="8305800" cy="1702800"/>
          </a:xfrm>
        </p:grpSpPr>
        <p:sp>
          <p:nvSpPr>
            <p:cNvPr id="212" name="Google Shape;212;p22"/>
            <p:cNvSpPr/>
            <p:nvPr/>
          </p:nvSpPr>
          <p:spPr>
            <a:xfrm>
              <a:off x="228600" y="114300"/>
              <a:ext cx="8305800" cy="1702800"/>
            </a:xfrm>
            <a:prstGeom prst="roundRect">
              <a:avLst>
                <a:gd fmla="val 3426"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213" name="Google Shape;213;p22"/>
            <p:cNvSpPr txBox="1"/>
            <p:nvPr/>
          </p:nvSpPr>
          <p:spPr>
            <a:xfrm>
              <a:off x="379425" y="171450"/>
              <a:ext cx="7853400" cy="16455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struct tipoFecha{</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	int	dia, mes, anio;</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Times New Roman"/>
                <a:buNone/>
              </a:pPr>
              <a:r>
                <a:t/>
              </a:r>
              <a:endParaRPr b="1" sz="1900">
                <a:solidFill>
                  <a:schemeClr val="dk1"/>
                </a:solidFill>
                <a:latin typeface="Consolas"/>
                <a:ea typeface="Consolas"/>
                <a:cs typeface="Consolas"/>
                <a:sym typeface="Consolas"/>
              </a:endParaRPr>
            </a:p>
            <a:p>
              <a:pPr indent="0" lvl="0" marL="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struct tipoFecha cita = {10, 11, 2020};</a:t>
              </a:r>
              <a:endParaRPr b="1" sz="1900">
                <a:solidFill>
                  <a:schemeClr val="dk1"/>
                </a:solidFill>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t/>
              </a:r>
              <a:endParaRPr b="1" sz="1900">
                <a:solidFill>
                  <a:schemeClr val="dk1"/>
                </a:solidFill>
                <a:latin typeface="Consolas"/>
                <a:ea typeface="Consolas"/>
                <a:cs typeface="Consolas"/>
                <a:sym typeface="Consolas"/>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3"/>
          <p:cNvSpPr txBox="1"/>
          <p:nvPr>
            <p:ph type="title"/>
          </p:nvPr>
        </p:nvSpPr>
        <p:spPr>
          <a:xfrm>
            <a:off x="228600" y="57150"/>
            <a:ext cx="8686800" cy="399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i="1" lang="es-AR" sz="3300"/>
              <a:t>Ejemplo usando typedef</a:t>
            </a:r>
            <a:endParaRPr/>
          </a:p>
        </p:txBody>
      </p:sp>
      <p:grpSp>
        <p:nvGrpSpPr>
          <p:cNvPr id="219" name="Google Shape;219;p23"/>
          <p:cNvGrpSpPr/>
          <p:nvPr/>
        </p:nvGrpSpPr>
        <p:grpSpPr>
          <a:xfrm>
            <a:off x="319100" y="618875"/>
            <a:ext cx="8728062" cy="3559234"/>
            <a:chOff x="153" y="2448"/>
            <a:chExt cx="5498" cy="2196"/>
          </a:xfrm>
        </p:grpSpPr>
        <p:sp>
          <p:nvSpPr>
            <p:cNvPr id="220" name="Google Shape;220;p23"/>
            <p:cNvSpPr/>
            <p:nvPr/>
          </p:nvSpPr>
          <p:spPr>
            <a:xfrm>
              <a:off x="153" y="2448"/>
              <a:ext cx="5400" cy="2100"/>
            </a:xfrm>
            <a:prstGeom prst="roundRect">
              <a:avLst>
                <a:gd fmla="val 5917"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221" name="Google Shape;221;p23"/>
            <p:cNvSpPr txBox="1"/>
            <p:nvPr/>
          </p:nvSpPr>
          <p:spPr>
            <a:xfrm>
              <a:off x="251" y="2544"/>
              <a:ext cx="5400" cy="21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typedef struct {</a:t>
              </a:r>
              <a:endParaRPr>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	char 	aerolinea[30];</a:t>
              </a:r>
              <a:endParaRPr>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	int 	vuelo;</a:t>
              </a:r>
              <a:endParaRPr>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	char	fecha[10];</a:t>
              </a:r>
              <a:endParaRPr>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	char  hora[6];</a:t>
              </a:r>
              <a:endParaRPr>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 tipoPasaje;</a:t>
              </a:r>
              <a:endParaRPr b="1" sz="2200">
                <a:solidFill>
                  <a:schemeClr val="dk1"/>
                </a:solidFill>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t/>
              </a:r>
              <a:endParaRPr b="1" sz="2200">
                <a:solidFill>
                  <a:schemeClr val="dk1"/>
                </a:solidFill>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tipoPasaje pasaje = {"Flybondi",905,"20240619",  								"20:30"};</a:t>
              </a:r>
              <a:endParaRPr b="1" sz="2200">
                <a:solidFill>
                  <a:schemeClr val="dk1"/>
                </a:solidFill>
                <a:latin typeface="Consolas"/>
                <a:ea typeface="Consolas"/>
                <a:cs typeface="Consolas"/>
                <a:sym typeface="Consolas"/>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4"/>
          <p:cNvSpPr txBox="1"/>
          <p:nvPr>
            <p:ph type="title"/>
          </p:nvPr>
        </p:nvSpPr>
        <p:spPr>
          <a:xfrm>
            <a:off x="228600" y="209550"/>
            <a:ext cx="8686800" cy="399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i="1" lang="es-AR" sz="3300"/>
              <a:t>Asignando valores en tiempo de ejecución</a:t>
            </a:r>
            <a:endParaRPr/>
          </a:p>
        </p:txBody>
      </p:sp>
      <p:grpSp>
        <p:nvGrpSpPr>
          <p:cNvPr id="228" name="Google Shape;228;p24"/>
          <p:cNvGrpSpPr/>
          <p:nvPr/>
        </p:nvGrpSpPr>
        <p:grpSpPr>
          <a:xfrm>
            <a:off x="319100" y="999879"/>
            <a:ext cx="8728062" cy="3559234"/>
            <a:chOff x="153" y="2683"/>
            <a:chExt cx="5498" cy="2196"/>
          </a:xfrm>
        </p:grpSpPr>
        <p:sp>
          <p:nvSpPr>
            <p:cNvPr id="229" name="Google Shape;229;p24"/>
            <p:cNvSpPr/>
            <p:nvPr/>
          </p:nvSpPr>
          <p:spPr>
            <a:xfrm>
              <a:off x="153" y="2683"/>
              <a:ext cx="5400" cy="2100"/>
            </a:xfrm>
            <a:prstGeom prst="roundRect">
              <a:avLst>
                <a:gd fmla="val 5917"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230" name="Google Shape;230;p24"/>
            <p:cNvSpPr txBox="1"/>
            <p:nvPr/>
          </p:nvSpPr>
          <p:spPr>
            <a:xfrm>
              <a:off x="251" y="2779"/>
              <a:ext cx="5400" cy="21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440"/>
                </a:spcBef>
                <a:spcAft>
                  <a:spcPts val="0"/>
                </a:spcAft>
                <a:buClr>
                  <a:schemeClr val="dk1"/>
                </a:buClr>
                <a:buSzPts val="2200"/>
                <a:buFont typeface="Courier New"/>
                <a:buNone/>
              </a:pPr>
              <a:r>
                <a:t/>
              </a:r>
              <a:endParaRPr b="1" sz="2200">
                <a:solidFill>
                  <a:schemeClr val="dk1"/>
                </a:solidFill>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tipoPasaje pasaje;</a:t>
              </a:r>
              <a:endParaRPr b="1" sz="2200">
                <a:solidFill>
                  <a:schemeClr val="dk1"/>
                </a:solidFill>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t/>
              </a:r>
              <a:endParaRPr b="1" sz="2200">
                <a:solidFill>
                  <a:schemeClr val="dk1"/>
                </a:solidFill>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pasaje = (tipoPasaje) {</a:t>
              </a:r>
              <a:endParaRPr b="1" sz="2200">
                <a:solidFill>
                  <a:schemeClr val="dk1"/>
                </a:solidFill>
                <a:latin typeface="Consolas"/>
                <a:ea typeface="Consolas"/>
                <a:cs typeface="Consolas"/>
                <a:sym typeface="Consolas"/>
              </a:endParaRPr>
            </a:p>
            <a:p>
              <a:pPr indent="45720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.aerolinea = "Flybondi",</a:t>
              </a:r>
              <a:endParaRPr b="1" sz="2200">
                <a:solidFill>
                  <a:schemeClr val="dk1"/>
                </a:solidFill>
                <a:latin typeface="Consolas"/>
                <a:ea typeface="Consolas"/>
                <a:cs typeface="Consolas"/>
                <a:sym typeface="Consolas"/>
              </a:endParaRPr>
            </a:p>
            <a:p>
              <a:pPr indent="45720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.fecha = </a:t>
              </a:r>
              <a:r>
                <a:rPr b="1" lang="es-AR" sz="2200">
                  <a:solidFill>
                    <a:schemeClr val="dk1"/>
                  </a:solidFill>
                  <a:latin typeface="Consolas"/>
                  <a:ea typeface="Consolas"/>
                  <a:cs typeface="Consolas"/>
                  <a:sym typeface="Consolas"/>
                </a:rPr>
                <a:t>"20240619",</a:t>
              </a:r>
              <a:endParaRPr b="1" sz="2200">
                <a:solidFill>
                  <a:schemeClr val="dk1"/>
                </a:solidFill>
                <a:latin typeface="Consolas"/>
                <a:ea typeface="Consolas"/>
                <a:cs typeface="Consolas"/>
                <a:sym typeface="Consolas"/>
              </a:endParaRPr>
            </a:p>
            <a:p>
              <a:pPr indent="45720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.vuelo = 905,</a:t>
              </a:r>
              <a:endParaRPr b="1" sz="2200">
                <a:solidFill>
                  <a:schemeClr val="dk1"/>
                </a:solidFill>
                <a:latin typeface="Consolas"/>
                <a:ea typeface="Consolas"/>
                <a:cs typeface="Consolas"/>
                <a:sym typeface="Consolas"/>
              </a:endParaRPr>
            </a:p>
            <a:p>
              <a:pPr indent="45720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.hora = "20:30"};</a:t>
              </a:r>
              <a:endParaRPr b="1" sz="2200">
                <a:solidFill>
                  <a:schemeClr val="dk1"/>
                </a:solidFill>
                <a:latin typeface="Consolas"/>
                <a:ea typeface="Consolas"/>
                <a:cs typeface="Consolas"/>
                <a:sym typeface="Consolas"/>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5"/>
          <p:cNvSpPr txBox="1"/>
          <p:nvPr>
            <p:ph type="title"/>
          </p:nvPr>
        </p:nvSpPr>
        <p:spPr>
          <a:xfrm>
            <a:off x="685800" y="57150"/>
            <a:ext cx="7772400" cy="457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i="1" lang="es-AR" sz="3600"/>
              <a:t>Acceso a los campos de una estructura</a:t>
            </a:r>
            <a:endParaRPr/>
          </a:p>
        </p:txBody>
      </p:sp>
      <p:grpSp>
        <p:nvGrpSpPr>
          <p:cNvPr id="236" name="Google Shape;236;p25"/>
          <p:cNvGrpSpPr/>
          <p:nvPr/>
        </p:nvGrpSpPr>
        <p:grpSpPr>
          <a:xfrm>
            <a:off x="914400" y="533400"/>
            <a:ext cx="7162800" cy="457200"/>
            <a:chOff x="576" y="1008"/>
            <a:chExt cx="4512" cy="384"/>
          </a:xfrm>
        </p:grpSpPr>
        <p:sp>
          <p:nvSpPr>
            <p:cNvPr id="237" name="Google Shape;237;p25"/>
            <p:cNvSpPr/>
            <p:nvPr/>
          </p:nvSpPr>
          <p:spPr>
            <a:xfrm>
              <a:off x="576" y="1008"/>
              <a:ext cx="4512" cy="384"/>
            </a:xfrm>
            <a:prstGeom prst="roundRect">
              <a:avLst>
                <a:gd fmla="val 16667" name="adj"/>
              </a:avLst>
            </a:prstGeom>
            <a:solidFill>
              <a:srgbClr val="FFCC00"/>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238" name="Google Shape;238;p25"/>
            <p:cNvSpPr txBox="1"/>
            <p:nvPr/>
          </p:nvSpPr>
          <p:spPr>
            <a:xfrm>
              <a:off x="624" y="1056"/>
              <a:ext cx="4416" cy="28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Arial Black"/>
                <a:buNone/>
              </a:pPr>
              <a:r>
                <a:rPr lang="es-AR" sz="2400">
                  <a:solidFill>
                    <a:schemeClr val="dk1"/>
                  </a:solidFill>
                  <a:latin typeface="Arial Black"/>
                  <a:ea typeface="Arial Black"/>
                  <a:cs typeface="Arial Black"/>
                  <a:sym typeface="Arial Black"/>
                </a:rPr>
                <a:t>variableStruct . nombreCampo</a:t>
              </a:r>
              <a:endParaRPr sz="2400">
                <a:solidFill>
                  <a:schemeClr val="dk1"/>
                </a:solidFill>
                <a:latin typeface="Arial Black"/>
                <a:ea typeface="Arial Black"/>
                <a:cs typeface="Arial Black"/>
                <a:sym typeface="Arial Black"/>
              </a:endParaRPr>
            </a:p>
          </p:txBody>
        </p:sp>
      </p:grpSp>
      <p:grpSp>
        <p:nvGrpSpPr>
          <p:cNvPr id="239" name="Google Shape;239;p25"/>
          <p:cNvGrpSpPr/>
          <p:nvPr/>
        </p:nvGrpSpPr>
        <p:grpSpPr>
          <a:xfrm>
            <a:off x="457200" y="1447800"/>
            <a:ext cx="8153400" cy="3551325"/>
            <a:chOff x="288" y="1728"/>
            <a:chExt cx="5136" cy="2400"/>
          </a:xfrm>
        </p:grpSpPr>
        <p:sp>
          <p:nvSpPr>
            <p:cNvPr id="240" name="Google Shape;240;p25"/>
            <p:cNvSpPr/>
            <p:nvPr/>
          </p:nvSpPr>
          <p:spPr>
            <a:xfrm>
              <a:off x="288" y="1728"/>
              <a:ext cx="5136" cy="2400"/>
            </a:xfrm>
            <a:prstGeom prst="roundRect">
              <a:avLst>
                <a:gd fmla="val 5917"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241" name="Google Shape;241;p25"/>
            <p:cNvSpPr txBox="1"/>
            <p:nvPr/>
          </p:nvSpPr>
          <p:spPr>
            <a:xfrm>
              <a:off x="381" y="1829"/>
              <a:ext cx="4856" cy="2209"/>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struct tipoLibro {</a:t>
              </a:r>
              <a:endParaRPr>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	char 	titulo[30];</a:t>
              </a:r>
              <a:endParaRPr>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	char	autor[30];</a:t>
              </a:r>
              <a:endParaRPr>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	char	ISBN[11];</a:t>
              </a:r>
              <a:endParaRPr>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	float precio;</a:t>
              </a:r>
              <a:endParaRPr>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 miLibro;</a:t>
              </a:r>
              <a:endParaRPr>
                <a:latin typeface="Consolas"/>
                <a:ea typeface="Consolas"/>
                <a:cs typeface="Consolas"/>
                <a:sym typeface="Consolas"/>
              </a:endParaRPr>
            </a:p>
            <a:p>
              <a:pPr indent="0" lvl="0" marL="0" marR="0" rtl="0" algn="l">
                <a:lnSpc>
                  <a:spcPct val="80000"/>
                </a:lnSpc>
                <a:spcBef>
                  <a:spcPts val="160"/>
                </a:spcBef>
                <a:spcAft>
                  <a:spcPts val="0"/>
                </a:spcAft>
                <a:buClr>
                  <a:schemeClr val="dk1"/>
                </a:buClr>
                <a:buSzPts val="800"/>
                <a:buFont typeface="Times New Roman"/>
                <a:buNone/>
              </a:pPr>
              <a:r>
                <a:t/>
              </a:r>
              <a:endParaRPr b="1" sz="800">
                <a:solidFill>
                  <a:schemeClr val="dk1"/>
                </a:solidFill>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a:t>
              </a:r>
              <a:endParaRPr>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strcpy(miLibro.titulo, "Hola mundo");</a:t>
              </a:r>
              <a:endParaRPr>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printf("El título es %s\n", miLibro.titulo);</a:t>
              </a:r>
              <a:endParaRPr>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miLibro.precio = 23;</a:t>
              </a:r>
              <a:endParaRPr b="1" sz="2000">
                <a:solidFill>
                  <a:schemeClr val="dk1"/>
                </a:solidFill>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printf("El precio es %f\n", miLibro.precio);</a:t>
              </a:r>
              <a:endParaRPr>
                <a:latin typeface="Consolas"/>
                <a:ea typeface="Consolas"/>
                <a:cs typeface="Consolas"/>
                <a:sym typeface="Consolas"/>
              </a:endParaRPr>
            </a:p>
          </p:txBody>
        </p:sp>
      </p:grpSp>
      <p:grpSp>
        <p:nvGrpSpPr>
          <p:cNvPr id="242" name="Google Shape;242;p25"/>
          <p:cNvGrpSpPr/>
          <p:nvPr/>
        </p:nvGrpSpPr>
        <p:grpSpPr>
          <a:xfrm>
            <a:off x="4300538" y="626269"/>
            <a:ext cx="3662386" cy="830580"/>
            <a:chOff x="2709" y="846"/>
            <a:chExt cx="2307" cy="698"/>
          </a:xfrm>
        </p:grpSpPr>
        <p:sp>
          <p:nvSpPr>
            <p:cNvPr id="243" name="Google Shape;243;p25"/>
            <p:cNvSpPr/>
            <p:nvPr/>
          </p:nvSpPr>
          <p:spPr>
            <a:xfrm>
              <a:off x="2709" y="846"/>
              <a:ext cx="300" cy="300"/>
            </a:xfrm>
            <a:prstGeom prst="ellipse">
              <a:avLst/>
            </a:prstGeom>
            <a:noFill/>
            <a:ln cap="flat" cmpd="sng" w="349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244" name="Google Shape;244;p25"/>
            <p:cNvSpPr/>
            <p:nvPr/>
          </p:nvSpPr>
          <p:spPr>
            <a:xfrm>
              <a:off x="3168" y="1184"/>
              <a:ext cx="1848" cy="360"/>
            </a:xfrm>
            <a:prstGeom prst="rect">
              <a:avLst/>
            </a:prstGeom>
          </p:spPr>
          <p:txBody>
            <a:bodyPr>
              <a:prstTxWarp prst="textPlain"/>
            </a:bodyPr>
            <a:lstStyle/>
            <a:p>
              <a:pPr lvl="0" algn="ctr"/>
              <a:r>
                <a:rPr b="0" i="0">
                  <a:ln cap="flat" cmpd="sng" w="19050">
                    <a:solidFill>
                      <a:srgbClr val="99CCFF"/>
                    </a:solidFill>
                    <a:prstDash val="solid"/>
                    <a:round/>
                    <a:headEnd len="sm" w="sm" type="none"/>
                    <a:tailEnd len="sm" w="sm" type="none"/>
                  </a:ln>
                  <a:solidFill>
                    <a:srgbClr val="0066CC"/>
                  </a:solidFill>
                  <a:latin typeface="Impact"/>
                </a:rPr>
                <a:t>Operador punto</a:t>
              </a:r>
            </a:p>
          </p:txBody>
        </p:sp>
        <p:sp>
          <p:nvSpPr>
            <p:cNvPr id="245" name="Google Shape;245;p25"/>
            <p:cNvSpPr/>
            <p:nvPr/>
          </p:nvSpPr>
          <p:spPr>
            <a:xfrm>
              <a:off x="2773" y="1191"/>
              <a:ext cx="392" cy="288"/>
            </a:xfrm>
            <a:custGeom>
              <a:rect b="b" l="l" r="r" t="t"/>
              <a:pathLst>
                <a:path extrusionOk="0" h="288" w="392">
                  <a:moveTo>
                    <a:pt x="56" y="0"/>
                  </a:moveTo>
                  <a:cubicBezTo>
                    <a:pt x="28" y="96"/>
                    <a:pt x="0" y="192"/>
                    <a:pt x="56" y="240"/>
                  </a:cubicBezTo>
                  <a:cubicBezTo>
                    <a:pt x="112" y="288"/>
                    <a:pt x="252" y="288"/>
                    <a:pt x="392" y="288"/>
                  </a:cubicBezTo>
                </a:path>
              </a:pathLst>
            </a:custGeom>
            <a:noFill/>
            <a:ln cap="flat" cmpd="sng" w="31750">
              <a:solidFill>
                <a:srgbClr val="0000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9"/>
                                        </p:tgtEl>
                                        <p:attrNameLst>
                                          <p:attrName>style.visibility</p:attrName>
                                        </p:attrNameLst>
                                      </p:cBhvr>
                                      <p:to>
                                        <p:strVal val="visible"/>
                                      </p:to>
                                    </p:set>
                                    <p:anim calcmode="lin" valueType="num">
                                      <p:cBhvr additive="base">
                                        <p:cTn dur="500"/>
                                        <p:tgtEl>
                                          <p:spTgt spid="23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6"/>
          <p:cNvSpPr txBox="1"/>
          <p:nvPr>
            <p:ph type="title"/>
          </p:nvPr>
        </p:nvSpPr>
        <p:spPr>
          <a:xfrm>
            <a:off x="457200" y="102150"/>
            <a:ext cx="7772400" cy="457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s-AR" sz="3200"/>
              <a:t>Indicar si las expresiones son correctas o no</a:t>
            </a:r>
            <a:endParaRPr sz="4000"/>
          </a:p>
        </p:txBody>
      </p:sp>
      <p:sp>
        <p:nvSpPr>
          <p:cNvPr id="252" name="Google Shape;252;p26"/>
          <p:cNvSpPr/>
          <p:nvPr/>
        </p:nvSpPr>
        <p:spPr>
          <a:xfrm>
            <a:off x="295350" y="2860300"/>
            <a:ext cx="7195500" cy="2003700"/>
          </a:xfrm>
          <a:prstGeom prst="roundRect">
            <a:avLst>
              <a:gd fmla="val 5917"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grpSp>
        <p:nvGrpSpPr>
          <p:cNvPr id="253" name="Google Shape;253;p26"/>
          <p:cNvGrpSpPr/>
          <p:nvPr/>
        </p:nvGrpSpPr>
        <p:grpSpPr>
          <a:xfrm>
            <a:off x="303749" y="609600"/>
            <a:ext cx="7195601" cy="2003825"/>
            <a:chOff x="288" y="1728"/>
            <a:chExt cx="5100" cy="1500"/>
          </a:xfrm>
        </p:grpSpPr>
        <p:sp>
          <p:nvSpPr>
            <p:cNvPr id="254" name="Google Shape;254;p26"/>
            <p:cNvSpPr/>
            <p:nvPr/>
          </p:nvSpPr>
          <p:spPr>
            <a:xfrm>
              <a:off x="288" y="1728"/>
              <a:ext cx="5100" cy="1500"/>
            </a:xfrm>
            <a:prstGeom prst="roundRect">
              <a:avLst>
                <a:gd fmla="val 5917"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255" name="Google Shape;255;p26"/>
            <p:cNvSpPr txBox="1"/>
            <p:nvPr/>
          </p:nvSpPr>
          <p:spPr>
            <a:xfrm>
              <a:off x="381" y="1778"/>
              <a:ext cx="4800" cy="12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struct bookType {</a:t>
              </a:r>
              <a:endParaRPr>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	char 			title[30];</a:t>
              </a:r>
              <a:endParaRPr>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	char * 		author;</a:t>
              </a:r>
              <a:endParaRPr>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	float  		price;</a:t>
              </a:r>
              <a:endParaRPr b="1" sz="2000">
                <a:solidFill>
                  <a:schemeClr val="dk1"/>
                </a:solidFill>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	unsigned int	pages;</a:t>
              </a:r>
              <a:endParaRPr b="1" sz="2000">
                <a:solidFill>
                  <a:schemeClr val="dk1"/>
                </a:solidFill>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a:t>
              </a:r>
              <a:endParaRPr>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t/>
              </a:r>
              <a:endParaRPr>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t/>
              </a:r>
              <a:endParaRPr>
                <a:latin typeface="Consolas"/>
                <a:ea typeface="Consolas"/>
                <a:cs typeface="Consolas"/>
                <a:sym typeface="Consolas"/>
              </a:endParaRPr>
            </a:p>
            <a:p>
              <a:pPr indent="0" lvl="0" marL="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  struct bookType book;</a:t>
              </a:r>
              <a:endParaRPr>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  book.pages = 150.5;</a:t>
              </a:r>
              <a:endParaRPr b="1" sz="2000">
                <a:solidFill>
                  <a:schemeClr val="dk1"/>
                </a:solidFill>
                <a:latin typeface="Consolas"/>
                <a:ea typeface="Consolas"/>
                <a:cs typeface="Consolas"/>
                <a:sym typeface="Consolas"/>
              </a:endParaRPr>
            </a:p>
            <a:p>
              <a:pPr indent="0" lvl="0" marL="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  book.price = book.price * 1.5 ;</a:t>
              </a:r>
              <a:endParaRPr b="1" sz="2000">
                <a:solidFill>
                  <a:schemeClr val="dk1"/>
                </a:solidFill>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  book.title = "Ficciones";</a:t>
              </a:r>
              <a:endParaRPr b="1" sz="2000">
                <a:solidFill>
                  <a:schemeClr val="dk1"/>
                </a:solidFill>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  strcpy(book.author,"Jorge Luis Borges");</a:t>
              </a:r>
              <a:endParaRPr b="1" sz="2000">
                <a:solidFill>
                  <a:schemeClr val="dk1"/>
                </a:solidFill>
                <a:latin typeface="Consolas"/>
                <a:ea typeface="Consolas"/>
                <a:cs typeface="Consolas"/>
                <a:sym typeface="Consolas"/>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7"/>
          <p:cNvSpPr/>
          <p:nvPr/>
        </p:nvSpPr>
        <p:spPr>
          <a:xfrm>
            <a:off x="228600" y="3219425"/>
            <a:ext cx="7368600" cy="1759800"/>
          </a:xfrm>
          <a:prstGeom prst="roundRect">
            <a:avLst>
              <a:gd fmla="val 3426" name="adj"/>
            </a:avLst>
          </a:prstGeom>
          <a:solidFill>
            <a:srgbClr val="A2C4C9"/>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261" name="Google Shape;261;p27"/>
          <p:cNvSpPr/>
          <p:nvPr/>
        </p:nvSpPr>
        <p:spPr>
          <a:xfrm>
            <a:off x="4051950" y="523800"/>
            <a:ext cx="3545400" cy="2407500"/>
          </a:xfrm>
          <a:prstGeom prst="roundRect">
            <a:avLst>
              <a:gd fmla="val 3426"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262" name="Google Shape;262;p27"/>
          <p:cNvSpPr/>
          <p:nvPr/>
        </p:nvSpPr>
        <p:spPr>
          <a:xfrm>
            <a:off x="187725" y="495150"/>
            <a:ext cx="3545400" cy="2436300"/>
          </a:xfrm>
          <a:prstGeom prst="roundRect">
            <a:avLst>
              <a:gd fmla="val 3426"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263" name="Google Shape;263;p27"/>
          <p:cNvSpPr txBox="1"/>
          <p:nvPr/>
        </p:nvSpPr>
        <p:spPr>
          <a:xfrm>
            <a:off x="227025" y="609600"/>
            <a:ext cx="3506100" cy="23220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typedef struct</a:t>
            </a:r>
            <a:r>
              <a:rPr lang="es-AR" sz="1200">
                <a:latin typeface="Consolas"/>
                <a:ea typeface="Consolas"/>
                <a:cs typeface="Consolas"/>
                <a:sym typeface="Consolas"/>
              </a:rPr>
              <a:t> </a:t>
            </a:r>
            <a:r>
              <a:rPr b="1" lang="es-AR" sz="1700">
                <a:solidFill>
                  <a:schemeClr val="dk1"/>
                </a:solidFill>
                <a:latin typeface="Consolas"/>
                <a:ea typeface="Consolas"/>
                <a:cs typeface="Consolas"/>
                <a:sym typeface="Consolas"/>
              </a:rPr>
              <a:t>{</a:t>
            </a:r>
            <a:endParaRPr sz="12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char nombre[30];</a:t>
            </a:r>
            <a:endParaRPr sz="12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char telefono[15];</a:t>
            </a:r>
            <a:endParaRPr sz="12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char domicilio[30];</a:t>
            </a:r>
            <a:endParaRPr sz="12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tipoPersona;</a:t>
            </a:r>
            <a:endParaRPr b="1" sz="1700">
              <a:solidFill>
                <a:schemeClr val="dk1"/>
              </a:solidFill>
              <a:latin typeface="Consolas"/>
              <a:ea typeface="Consolas"/>
              <a:cs typeface="Consolas"/>
              <a:sym typeface="Consolas"/>
            </a:endParaRPr>
          </a:p>
          <a:p>
            <a:pPr indent="0" lvl="0" marL="0" marR="0" rtl="0" algn="l">
              <a:lnSpc>
                <a:spcPct val="80000"/>
              </a:lnSpc>
              <a:spcBef>
                <a:spcPts val="160"/>
              </a:spcBef>
              <a:spcAft>
                <a:spcPts val="0"/>
              </a:spcAft>
              <a:buClr>
                <a:schemeClr val="dk1"/>
              </a:buClr>
              <a:buSzPts val="800"/>
              <a:buFont typeface="Times New Roman"/>
              <a:buNone/>
            </a:pPr>
            <a:r>
              <a:t/>
            </a:r>
            <a:endParaRPr b="1" sz="6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typedef struct {</a:t>
            </a:r>
            <a:endParaRPr sz="12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int	dia, mes, anio;</a:t>
            </a:r>
            <a:endParaRPr sz="12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tipoFecha;</a:t>
            </a:r>
            <a:endParaRPr sz="1200">
              <a:latin typeface="Consolas"/>
              <a:ea typeface="Consolas"/>
              <a:cs typeface="Consolas"/>
              <a:sym typeface="Consolas"/>
            </a:endParaRPr>
          </a:p>
          <a:p>
            <a:pPr indent="0" lvl="0" marL="0" marR="0" rtl="0" algn="l">
              <a:lnSpc>
                <a:spcPct val="80000"/>
              </a:lnSpc>
              <a:spcBef>
                <a:spcPts val="160"/>
              </a:spcBef>
              <a:spcAft>
                <a:spcPts val="0"/>
              </a:spcAft>
              <a:buClr>
                <a:schemeClr val="dk1"/>
              </a:buClr>
              <a:buSzPts val="800"/>
              <a:buFont typeface="Times New Roman"/>
              <a:buNone/>
            </a:pPr>
            <a:r>
              <a:t/>
            </a:r>
            <a:endParaRPr b="1" sz="6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t/>
            </a:r>
            <a:endParaRPr b="1" sz="2000">
              <a:solidFill>
                <a:schemeClr val="dk1"/>
              </a:solidFill>
              <a:latin typeface="Consolas"/>
              <a:ea typeface="Consolas"/>
              <a:cs typeface="Consolas"/>
              <a:sym typeface="Consolas"/>
            </a:endParaRPr>
          </a:p>
        </p:txBody>
      </p:sp>
      <p:sp>
        <p:nvSpPr>
          <p:cNvPr id="264" name="Google Shape;264;p27"/>
          <p:cNvSpPr txBox="1"/>
          <p:nvPr/>
        </p:nvSpPr>
        <p:spPr>
          <a:xfrm>
            <a:off x="265125" y="3219425"/>
            <a:ext cx="7135800" cy="15918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440"/>
              </a:spcBef>
              <a:spcAft>
                <a:spcPts val="0"/>
              </a:spcAft>
              <a:buClr>
                <a:schemeClr val="dk1"/>
              </a:buClr>
              <a:buSzPts val="2200"/>
              <a:buFont typeface="Courier New"/>
              <a:buNone/>
            </a:pPr>
            <a:r>
              <a:rPr b="1" lang="es-AR" sz="2000">
                <a:solidFill>
                  <a:schemeClr val="dk1"/>
                </a:solidFill>
                <a:latin typeface="Consolas"/>
                <a:ea typeface="Consolas"/>
                <a:cs typeface="Consolas"/>
                <a:sym typeface="Consolas"/>
              </a:rPr>
              <a:t>tipoTurno miTurno;</a:t>
            </a:r>
            <a:endParaRPr sz="12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000">
                <a:solidFill>
                  <a:schemeClr val="dk1"/>
                </a:solidFill>
                <a:latin typeface="Consolas"/>
                <a:ea typeface="Consolas"/>
                <a:cs typeface="Consolas"/>
                <a:sym typeface="Consolas"/>
              </a:rPr>
              <a:t>...</a:t>
            </a:r>
            <a:endParaRPr sz="12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000">
                <a:solidFill>
                  <a:schemeClr val="dk1"/>
                </a:solidFill>
                <a:latin typeface="Consolas"/>
                <a:ea typeface="Consolas"/>
                <a:cs typeface="Consolas"/>
                <a:sym typeface="Consolas"/>
              </a:rPr>
              <a:t>printf("Paciente:%s",miTurno.paciente.nombre);</a:t>
            </a:r>
            <a:endParaRPr sz="12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000">
                <a:solidFill>
                  <a:schemeClr val="dk1"/>
                </a:solidFill>
                <a:latin typeface="Consolas"/>
                <a:ea typeface="Consolas"/>
                <a:cs typeface="Consolas"/>
                <a:sym typeface="Consolas"/>
              </a:rPr>
              <a:t>printf("Inicial del Paciente:%c", 					miTurno.paciente.nombre[0]);</a:t>
            </a:r>
            <a:endParaRPr b="1" sz="2000">
              <a:solidFill>
                <a:schemeClr val="dk1"/>
              </a:solidFill>
              <a:latin typeface="Consolas"/>
              <a:ea typeface="Consolas"/>
              <a:cs typeface="Consolas"/>
              <a:sym typeface="Consolas"/>
            </a:endParaRPr>
          </a:p>
        </p:txBody>
      </p:sp>
      <p:sp>
        <p:nvSpPr>
          <p:cNvPr id="265" name="Google Shape;265;p27"/>
          <p:cNvSpPr txBox="1"/>
          <p:nvPr/>
        </p:nvSpPr>
        <p:spPr>
          <a:xfrm>
            <a:off x="4007900" y="552450"/>
            <a:ext cx="3506100" cy="20193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typedef struct {</a:t>
            </a:r>
            <a:endParaRPr sz="12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tipoPersona paciente;</a:t>
            </a:r>
            <a:endParaRPr sz="12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tipoFecha  fecha;</a:t>
            </a:r>
            <a:endParaRPr sz="12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char	hora[6];</a:t>
            </a:r>
            <a:endParaRPr sz="12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int 	obraSocial;</a:t>
            </a:r>
            <a:endParaRPr sz="12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tipoTurno;</a:t>
            </a:r>
            <a:endParaRPr b="1" sz="2000">
              <a:solidFill>
                <a:schemeClr val="dk1"/>
              </a:solidFill>
              <a:latin typeface="Consolas"/>
              <a:ea typeface="Consolas"/>
              <a:cs typeface="Consolas"/>
              <a:sym typeface="Consolas"/>
            </a:endParaRPr>
          </a:p>
        </p:txBody>
      </p:sp>
      <p:sp>
        <p:nvSpPr>
          <p:cNvPr id="266" name="Google Shape;266;p27"/>
          <p:cNvSpPr txBox="1"/>
          <p:nvPr>
            <p:ph type="title"/>
          </p:nvPr>
        </p:nvSpPr>
        <p:spPr>
          <a:xfrm>
            <a:off x="228600" y="57150"/>
            <a:ext cx="8686800" cy="399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i="1" lang="es-AR" sz="3300"/>
              <a:t>Estructuras anidadas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8"/>
          <p:cNvSpPr txBox="1"/>
          <p:nvPr>
            <p:ph type="title"/>
          </p:nvPr>
        </p:nvSpPr>
        <p:spPr>
          <a:xfrm>
            <a:off x="685800" y="285750"/>
            <a:ext cx="7772400" cy="857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i="1" lang="es-AR" sz="3600"/>
              <a:t>Una estructura como parámetro </a:t>
            </a:r>
            <a:br>
              <a:rPr b="1" i="1" lang="es-AR" sz="3600"/>
            </a:br>
            <a:r>
              <a:rPr b="1" i="1" lang="es-AR" sz="3600"/>
              <a:t>de una función</a:t>
            </a:r>
            <a:endParaRPr/>
          </a:p>
        </p:txBody>
      </p:sp>
      <p:sp>
        <p:nvSpPr>
          <p:cNvPr id="272" name="Google Shape;272;p28"/>
          <p:cNvSpPr txBox="1"/>
          <p:nvPr/>
        </p:nvSpPr>
        <p:spPr>
          <a:xfrm>
            <a:off x="685800" y="1885950"/>
            <a:ext cx="7924800" cy="17121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accent2"/>
              </a:buClr>
              <a:buSzPts val="2400"/>
              <a:buFont typeface="Arial Black"/>
              <a:buNone/>
            </a:pPr>
            <a:r>
              <a:rPr lang="es-AR" sz="2400">
                <a:solidFill>
                  <a:schemeClr val="accent2"/>
                </a:solidFill>
                <a:latin typeface="Arial Black"/>
                <a:ea typeface="Arial Black"/>
                <a:cs typeface="Arial Black"/>
                <a:sym typeface="Arial Black"/>
              </a:rPr>
              <a:t>Se envía al stack una copia de la estructura. </a:t>
            </a:r>
            <a:endParaRPr/>
          </a:p>
          <a:p>
            <a:pPr indent="0" lvl="0" marL="0" marR="0" rtl="0" algn="ctr">
              <a:spcBef>
                <a:spcPts val="1200"/>
              </a:spcBef>
              <a:spcAft>
                <a:spcPts val="0"/>
              </a:spcAft>
              <a:buClr>
                <a:schemeClr val="dk1"/>
              </a:buClr>
              <a:buSzPts val="2400"/>
              <a:buFont typeface="Times New Roman"/>
              <a:buNone/>
            </a:pPr>
            <a:r>
              <a:t/>
            </a:r>
            <a:endParaRPr sz="2400">
              <a:solidFill>
                <a:schemeClr val="accent2"/>
              </a:solidFill>
              <a:latin typeface="Arial Black"/>
              <a:ea typeface="Arial Black"/>
              <a:cs typeface="Arial Black"/>
              <a:sym typeface="Arial Black"/>
            </a:endParaRPr>
          </a:p>
          <a:p>
            <a:pPr indent="0" lvl="0" marL="0" marR="0" rtl="0" algn="ctr">
              <a:spcBef>
                <a:spcPts val="1200"/>
              </a:spcBef>
              <a:spcAft>
                <a:spcPts val="0"/>
              </a:spcAft>
              <a:buClr>
                <a:schemeClr val="accent2"/>
              </a:buClr>
              <a:buSzPts val="2400"/>
              <a:buFont typeface="Arial Black"/>
              <a:buNone/>
            </a:pPr>
            <a:r>
              <a:rPr lang="es-AR" sz="2400">
                <a:solidFill>
                  <a:schemeClr val="accent2"/>
                </a:solidFill>
                <a:latin typeface="Arial Black"/>
                <a:ea typeface="Arial Black"/>
                <a:cs typeface="Arial Black"/>
                <a:sym typeface="Arial Black"/>
              </a:rPr>
              <a:t>Como se envía una copia, si la función modifica un campo, la variable original (el parámetro actual) no se ve alterada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9"/>
          <p:cNvSpPr/>
          <p:nvPr/>
        </p:nvSpPr>
        <p:spPr>
          <a:xfrm>
            <a:off x="228600" y="171450"/>
            <a:ext cx="8610600" cy="4857600"/>
          </a:xfrm>
          <a:prstGeom prst="roundRect">
            <a:avLst>
              <a:gd fmla="val 3426"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278" name="Google Shape;278;p29"/>
          <p:cNvSpPr txBox="1"/>
          <p:nvPr/>
        </p:nvSpPr>
        <p:spPr>
          <a:xfrm>
            <a:off x="304800" y="228600"/>
            <a:ext cx="8383500" cy="46743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enum meses{ENE=1,FEB,MAR,ABR,MAY,JUN,JUL,AGO,SET,OCT,	NOV,DEC};</a:t>
            </a:r>
            <a:endParaRPr b="1" sz="1700">
              <a:solidFill>
                <a:schemeClr val="dk1"/>
              </a:solidFill>
              <a:latin typeface="Consolas"/>
              <a:ea typeface="Consolas"/>
              <a:cs typeface="Consolas"/>
              <a:sym typeface="Consolas"/>
            </a:endParaRPr>
          </a:p>
          <a:p>
            <a:pPr indent="0" lvl="0" marL="0" marR="0" rtl="0" algn="l">
              <a:lnSpc>
                <a:spcPct val="80000"/>
              </a:lnSpc>
              <a:spcBef>
                <a:spcPts val="0"/>
              </a:spcBef>
              <a:spcAft>
                <a:spcPts val="0"/>
              </a:spcAft>
              <a:buClr>
                <a:schemeClr val="dk1"/>
              </a:buClr>
              <a:buSzPts val="1900"/>
              <a:buFont typeface="Courier New"/>
              <a:buNone/>
            </a:pPr>
            <a:r>
              <a:t/>
            </a:r>
            <a:endParaRPr b="1" sz="17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typedef struct {  </a:t>
            </a:r>
            <a:endParaRPr b="1" sz="17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int dia;</a:t>
            </a:r>
            <a:endParaRPr b="1" sz="17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enum meses mes;</a:t>
            </a:r>
            <a:endParaRPr b="1" sz="17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int anio;</a:t>
            </a:r>
            <a:endParaRPr b="1" sz="17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fechaTipo;</a:t>
            </a:r>
            <a:endParaRPr b="1" sz="1700">
              <a:solidFill>
                <a:schemeClr val="dk1"/>
              </a:solidFill>
              <a:latin typeface="Consolas"/>
              <a:ea typeface="Consolas"/>
              <a:cs typeface="Consolas"/>
              <a:sym typeface="Consolas"/>
            </a:endParaRPr>
          </a:p>
          <a:p>
            <a:pPr indent="0" lvl="0" marL="0" marR="0" rtl="0" algn="l">
              <a:lnSpc>
                <a:spcPct val="80000"/>
              </a:lnSpc>
              <a:spcBef>
                <a:spcPts val="160"/>
              </a:spcBef>
              <a:spcAft>
                <a:spcPts val="0"/>
              </a:spcAft>
              <a:buClr>
                <a:schemeClr val="dk1"/>
              </a:buClr>
              <a:buSzPts val="800"/>
              <a:buFont typeface="Courier New"/>
              <a:buNone/>
            </a:pPr>
            <a:r>
              <a:rPr b="1" lang="es-AR" sz="600">
                <a:solidFill>
                  <a:schemeClr val="dk1"/>
                </a:solidFill>
                <a:latin typeface="Consolas"/>
                <a:ea typeface="Consolas"/>
                <a:cs typeface="Consolas"/>
                <a:sym typeface="Consolas"/>
              </a:rPr>
              <a:t>  </a:t>
            </a:r>
            <a:endParaRPr b="1" sz="6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void imprime( fechaTipo fecha) {</a:t>
            </a:r>
            <a:endParaRPr b="1" sz="17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printf(“%02d/%02d/%04d\n”,fecha.dia,fecha.mes, 								fecha.anio);</a:t>
            </a:r>
            <a:endParaRPr sz="12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fecha.dia = 0;</a:t>
            </a:r>
            <a:endParaRPr b="1" sz="17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return;</a:t>
            </a:r>
            <a:endParaRPr b="1" sz="17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a:t>
            </a:r>
            <a:endParaRPr sz="1200">
              <a:latin typeface="Consolas"/>
              <a:ea typeface="Consolas"/>
              <a:cs typeface="Consolas"/>
              <a:sym typeface="Consolas"/>
            </a:endParaRPr>
          </a:p>
          <a:p>
            <a:pPr indent="0" lvl="0" marL="0" marR="0" rtl="0" algn="just">
              <a:lnSpc>
                <a:spcPct val="80000"/>
              </a:lnSpc>
              <a:spcBef>
                <a:spcPts val="160"/>
              </a:spcBef>
              <a:spcAft>
                <a:spcPts val="0"/>
              </a:spcAft>
              <a:buClr>
                <a:schemeClr val="dk1"/>
              </a:buClr>
              <a:buSzPts val="800"/>
              <a:buFont typeface="Times New Roman"/>
              <a:buNone/>
            </a:pPr>
            <a:r>
              <a:t/>
            </a:r>
            <a:endParaRPr b="1" sz="600">
              <a:solidFill>
                <a:schemeClr val="dk1"/>
              </a:solidFill>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int main(void)</a:t>
            </a:r>
            <a:r>
              <a:rPr lang="es-AR" sz="1200">
                <a:latin typeface="Consolas"/>
                <a:ea typeface="Consolas"/>
                <a:cs typeface="Consolas"/>
                <a:sym typeface="Consolas"/>
              </a:rPr>
              <a:t> </a:t>
            </a:r>
            <a:r>
              <a:rPr b="1" lang="es-AR" sz="1700">
                <a:solidFill>
                  <a:schemeClr val="dk1"/>
                </a:solidFill>
                <a:latin typeface="Consolas"/>
                <a:ea typeface="Consolas"/>
                <a:cs typeface="Consolas"/>
                <a:sym typeface="Consolas"/>
              </a:rPr>
              <a:t>{ </a:t>
            </a:r>
            <a:endParaRPr sz="1200">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fechaTipo fecha1 = {19, FEB, 1970};</a:t>
            </a:r>
            <a:endParaRPr b="1" sz="1700">
              <a:solidFill>
                <a:schemeClr val="dk1"/>
              </a:solidFill>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imprime( fecha1 );</a:t>
            </a:r>
            <a:endParaRPr sz="1200">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return 0;</a:t>
            </a:r>
            <a:endParaRPr sz="1200">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a:t>
            </a:r>
            <a:endParaRPr b="1" sz="1700">
              <a:solidFill>
                <a:schemeClr val="dk1"/>
              </a:solidFill>
              <a:latin typeface="Consolas"/>
              <a:ea typeface="Consolas"/>
              <a:cs typeface="Consolas"/>
              <a:sym typeface="Consola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0"/>
          <p:cNvSpPr/>
          <p:nvPr/>
        </p:nvSpPr>
        <p:spPr>
          <a:xfrm>
            <a:off x="228600" y="171450"/>
            <a:ext cx="8610600" cy="4857600"/>
          </a:xfrm>
          <a:prstGeom prst="roundRect">
            <a:avLst>
              <a:gd fmla="val 3426"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284" name="Google Shape;284;p30"/>
          <p:cNvSpPr txBox="1"/>
          <p:nvPr/>
        </p:nvSpPr>
        <p:spPr>
          <a:xfrm>
            <a:off x="304800" y="228600"/>
            <a:ext cx="8383500" cy="47601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typedef struct {  </a:t>
            </a:r>
            <a:endParaRPr b="1" sz="19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int code;</a:t>
            </a:r>
            <a:endParaRPr b="1" sz="19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char description[30];</a:t>
            </a:r>
            <a:endParaRPr b="1" sz="19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itemType;</a:t>
            </a:r>
            <a:endParaRPr b="1" sz="1900">
              <a:solidFill>
                <a:schemeClr val="dk1"/>
              </a:solidFill>
              <a:latin typeface="Consolas"/>
              <a:ea typeface="Consolas"/>
              <a:cs typeface="Consolas"/>
              <a:sym typeface="Consolas"/>
            </a:endParaRPr>
          </a:p>
          <a:p>
            <a:pPr indent="0" lvl="0" marL="0" marR="0" rtl="0" algn="l">
              <a:lnSpc>
                <a:spcPct val="80000"/>
              </a:lnSpc>
              <a:spcBef>
                <a:spcPts val="160"/>
              </a:spcBef>
              <a:spcAft>
                <a:spcPts val="0"/>
              </a:spcAft>
              <a:buClr>
                <a:schemeClr val="dk1"/>
              </a:buClr>
              <a:buSzPts val="800"/>
              <a:buFont typeface="Courier New"/>
              <a:buNone/>
            </a:pPr>
            <a:r>
              <a:rPr b="1" lang="es-AR" sz="800">
                <a:solidFill>
                  <a:schemeClr val="dk1"/>
                </a:solidFill>
                <a:latin typeface="Consolas"/>
                <a:ea typeface="Consolas"/>
                <a:cs typeface="Consolas"/>
                <a:sym typeface="Consolas"/>
              </a:rPr>
              <a:t>  </a:t>
            </a:r>
            <a:endParaRPr b="1" sz="8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void</a:t>
            </a:r>
            <a:r>
              <a:rPr lang="es-AR">
                <a:latin typeface="Consolas"/>
                <a:ea typeface="Consolas"/>
                <a:cs typeface="Consolas"/>
                <a:sym typeface="Consolas"/>
              </a:rPr>
              <a:t> </a:t>
            </a:r>
            <a:r>
              <a:rPr b="1" lang="es-AR" sz="1900">
                <a:solidFill>
                  <a:schemeClr val="dk1"/>
                </a:solidFill>
                <a:latin typeface="Consolas"/>
                <a:ea typeface="Consolas"/>
                <a:cs typeface="Consolas"/>
                <a:sym typeface="Consolas"/>
              </a:rPr>
              <a:t>change</a:t>
            </a:r>
            <a:r>
              <a:rPr b="1" lang="es-AR" sz="1900">
                <a:solidFill>
                  <a:schemeClr val="dk1"/>
                </a:solidFill>
                <a:latin typeface="Consolas"/>
                <a:ea typeface="Consolas"/>
                <a:cs typeface="Consolas"/>
                <a:sym typeface="Consolas"/>
              </a:rPr>
              <a:t>( </a:t>
            </a:r>
            <a:r>
              <a:rPr b="1" lang="es-AR" sz="1900">
                <a:solidFill>
                  <a:schemeClr val="dk1"/>
                </a:solidFill>
                <a:latin typeface="Consolas"/>
                <a:ea typeface="Consolas"/>
                <a:cs typeface="Consolas"/>
                <a:sym typeface="Consolas"/>
              </a:rPr>
              <a:t>itemType</a:t>
            </a:r>
            <a:r>
              <a:rPr b="1" lang="es-AR" sz="1900">
                <a:solidFill>
                  <a:schemeClr val="dk1"/>
                </a:solidFill>
                <a:latin typeface="Consolas"/>
                <a:ea typeface="Consolas"/>
                <a:cs typeface="Consolas"/>
                <a:sym typeface="Consolas"/>
              </a:rPr>
              <a:t> art){</a:t>
            </a:r>
            <a:endParaRPr>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art.code = 2;</a:t>
            </a:r>
            <a:endParaRPr b="1" sz="19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strcpy(art.description, "Zapatilla");</a:t>
            </a:r>
            <a:endParaRPr b="1" sz="19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return;</a:t>
            </a:r>
            <a:endParaRPr b="1" sz="19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a:t>
            </a:r>
            <a:endParaRPr>
              <a:latin typeface="Consolas"/>
              <a:ea typeface="Consolas"/>
              <a:cs typeface="Consolas"/>
              <a:sym typeface="Consolas"/>
            </a:endParaRPr>
          </a:p>
          <a:p>
            <a:pPr indent="0" lvl="0" marL="0" marR="0" rtl="0" algn="just">
              <a:lnSpc>
                <a:spcPct val="80000"/>
              </a:lnSpc>
              <a:spcBef>
                <a:spcPts val="160"/>
              </a:spcBef>
              <a:spcAft>
                <a:spcPts val="0"/>
              </a:spcAft>
              <a:buClr>
                <a:schemeClr val="dk1"/>
              </a:buClr>
              <a:buSzPts val="800"/>
              <a:buFont typeface="Times New Roman"/>
              <a:buNone/>
            </a:pPr>
            <a:r>
              <a:t/>
            </a:r>
            <a:endParaRPr b="1" sz="800">
              <a:solidFill>
                <a:schemeClr val="dk1"/>
              </a:solidFill>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int main(void){ </a:t>
            </a:r>
            <a:endParaRPr>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a:t>
            </a:r>
            <a:r>
              <a:rPr b="1" lang="es-AR" sz="1900">
                <a:solidFill>
                  <a:schemeClr val="dk1"/>
                </a:solidFill>
                <a:latin typeface="Consolas"/>
                <a:ea typeface="Consolas"/>
                <a:cs typeface="Consolas"/>
                <a:sym typeface="Consolas"/>
              </a:rPr>
              <a:t>itemType</a:t>
            </a:r>
            <a:r>
              <a:rPr b="1" lang="es-AR" sz="1900">
                <a:solidFill>
                  <a:schemeClr val="dk1"/>
                </a:solidFill>
                <a:latin typeface="Consolas"/>
                <a:ea typeface="Consolas"/>
                <a:cs typeface="Consolas"/>
                <a:sym typeface="Consolas"/>
              </a:rPr>
              <a:t> art = {1, "Zapato"};</a:t>
            </a:r>
            <a:endParaRPr b="1" sz="1900">
              <a:solidFill>
                <a:schemeClr val="dk1"/>
              </a:solidFill>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change( art );</a:t>
            </a:r>
            <a:endParaRPr>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printf("%d - %s \n", art.code, art.description);</a:t>
            </a:r>
            <a:endParaRPr>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return 0;</a:t>
            </a:r>
            <a:endParaRPr>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a:t>
            </a:r>
            <a:endParaRPr b="1" sz="19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Times New Roman"/>
              <a:buNone/>
            </a:pPr>
            <a:r>
              <a:t/>
            </a:r>
            <a:endParaRPr b="1" sz="1900">
              <a:solidFill>
                <a:schemeClr val="dk1"/>
              </a:solidFill>
              <a:latin typeface="Consolas"/>
              <a:ea typeface="Consolas"/>
              <a:cs typeface="Consolas"/>
              <a:sym typeface="Consola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1"/>
          <p:cNvSpPr/>
          <p:nvPr/>
        </p:nvSpPr>
        <p:spPr>
          <a:xfrm>
            <a:off x="228600" y="171450"/>
            <a:ext cx="8610600" cy="4452900"/>
          </a:xfrm>
          <a:prstGeom prst="roundRect">
            <a:avLst>
              <a:gd fmla="val 3426"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290" name="Google Shape;290;p31"/>
          <p:cNvSpPr txBox="1"/>
          <p:nvPr/>
        </p:nvSpPr>
        <p:spPr>
          <a:xfrm>
            <a:off x="304800" y="228600"/>
            <a:ext cx="8383500" cy="43266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typedef struct {  </a:t>
            </a:r>
            <a:endParaRPr b="1" sz="19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int code;</a:t>
            </a:r>
            <a:endParaRPr b="1" sz="19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char * description;</a:t>
            </a:r>
            <a:endParaRPr b="1" sz="19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a:t>
            </a:r>
            <a:r>
              <a:rPr b="1" lang="es-AR" sz="1900">
                <a:solidFill>
                  <a:schemeClr val="dk1"/>
                </a:solidFill>
                <a:latin typeface="Consolas"/>
                <a:ea typeface="Consolas"/>
                <a:cs typeface="Consolas"/>
                <a:sym typeface="Consolas"/>
              </a:rPr>
              <a:t>itemType</a:t>
            </a:r>
            <a:r>
              <a:rPr b="1" lang="es-AR" sz="1900">
                <a:solidFill>
                  <a:schemeClr val="dk1"/>
                </a:solidFill>
                <a:latin typeface="Consolas"/>
                <a:ea typeface="Consolas"/>
                <a:cs typeface="Consolas"/>
                <a:sym typeface="Consolas"/>
              </a:rPr>
              <a:t>;</a:t>
            </a:r>
            <a:endParaRPr b="1" sz="1900">
              <a:solidFill>
                <a:schemeClr val="dk1"/>
              </a:solidFill>
              <a:latin typeface="Consolas"/>
              <a:ea typeface="Consolas"/>
              <a:cs typeface="Consolas"/>
              <a:sym typeface="Consolas"/>
            </a:endParaRPr>
          </a:p>
          <a:p>
            <a:pPr indent="0" lvl="0" marL="0" marR="0" rtl="0" algn="l">
              <a:lnSpc>
                <a:spcPct val="80000"/>
              </a:lnSpc>
              <a:spcBef>
                <a:spcPts val="160"/>
              </a:spcBef>
              <a:spcAft>
                <a:spcPts val="0"/>
              </a:spcAft>
              <a:buClr>
                <a:schemeClr val="dk1"/>
              </a:buClr>
              <a:buSzPts val="800"/>
              <a:buFont typeface="Courier New"/>
              <a:buNone/>
            </a:pPr>
            <a:r>
              <a:rPr b="1" lang="es-AR" sz="800">
                <a:solidFill>
                  <a:schemeClr val="dk1"/>
                </a:solidFill>
                <a:latin typeface="Consolas"/>
                <a:ea typeface="Consolas"/>
                <a:cs typeface="Consolas"/>
                <a:sym typeface="Consolas"/>
              </a:rPr>
              <a:t>  </a:t>
            </a:r>
            <a:endParaRPr b="1" sz="8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void change( </a:t>
            </a:r>
            <a:r>
              <a:rPr b="1" lang="es-AR" sz="1900">
                <a:solidFill>
                  <a:schemeClr val="dk1"/>
                </a:solidFill>
                <a:latin typeface="Consolas"/>
                <a:ea typeface="Consolas"/>
                <a:cs typeface="Consolas"/>
                <a:sym typeface="Consolas"/>
              </a:rPr>
              <a:t>itemType</a:t>
            </a:r>
            <a:r>
              <a:rPr b="1" lang="es-AR" sz="1900">
                <a:solidFill>
                  <a:schemeClr val="dk1"/>
                </a:solidFill>
                <a:latin typeface="Consolas"/>
                <a:ea typeface="Consolas"/>
                <a:cs typeface="Consolas"/>
                <a:sym typeface="Consolas"/>
              </a:rPr>
              <a:t> art) {</a:t>
            </a:r>
            <a:endParaRPr>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art.code = 2;</a:t>
            </a:r>
            <a:endParaRPr b="1" sz="19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strcpy(art.description, "Zapatilla");</a:t>
            </a:r>
            <a:endParaRPr b="1" sz="19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return;</a:t>
            </a:r>
            <a:endParaRPr b="1" sz="19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a:t>
            </a:r>
            <a:endParaRPr>
              <a:latin typeface="Consolas"/>
              <a:ea typeface="Consolas"/>
              <a:cs typeface="Consolas"/>
              <a:sym typeface="Consolas"/>
            </a:endParaRPr>
          </a:p>
          <a:p>
            <a:pPr indent="0" lvl="0" marL="0" marR="0" rtl="0" algn="just">
              <a:lnSpc>
                <a:spcPct val="80000"/>
              </a:lnSpc>
              <a:spcBef>
                <a:spcPts val="160"/>
              </a:spcBef>
              <a:spcAft>
                <a:spcPts val="0"/>
              </a:spcAft>
              <a:buClr>
                <a:schemeClr val="dk1"/>
              </a:buClr>
              <a:buSzPts val="800"/>
              <a:buFont typeface="Times New Roman"/>
              <a:buNone/>
            </a:pPr>
            <a:r>
              <a:t/>
            </a:r>
            <a:endParaRPr b="1" sz="800">
              <a:solidFill>
                <a:schemeClr val="dk1"/>
              </a:solidFill>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int main(void)</a:t>
            </a:r>
            <a:r>
              <a:rPr lang="es-AR">
                <a:latin typeface="Consolas"/>
                <a:ea typeface="Consolas"/>
                <a:cs typeface="Consolas"/>
                <a:sym typeface="Consolas"/>
              </a:rPr>
              <a:t> </a:t>
            </a:r>
            <a:r>
              <a:rPr b="1" lang="es-AR" sz="1900">
                <a:solidFill>
                  <a:schemeClr val="dk1"/>
                </a:solidFill>
                <a:latin typeface="Consolas"/>
                <a:ea typeface="Consolas"/>
                <a:cs typeface="Consolas"/>
                <a:sym typeface="Consolas"/>
              </a:rPr>
              <a:t>{ </a:t>
            </a:r>
            <a:endParaRPr>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a:t>
            </a:r>
            <a:r>
              <a:rPr b="1" lang="es-AR" sz="1900">
                <a:solidFill>
                  <a:schemeClr val="dk1"/>
                </a:solidFill>
                <a:latin typeface="Consolas"/>
                <a:ea typeface="Consolas"/>
                <a:cs typeface="Consolas"/>
                <a:sym typeface="Consolas"/>
              </a:rPr>
              <a:t>itemType</a:t>
            </a:r>
            <a:r>
              <a:rPr b="1" lang="es-AR" sz="1900">
                <a:solidFill>
                  <a:schemeClr val="dk1"/>
                </a:solidFill>
                <a:latin typeface="Consolas"/>
                <a:ea typeface="Consolas"/>
                <a:cs typeface="Consolas"/>
                <a:sym typeface="Consolas"/>
              </a:rPr>
              <a:t> art = {1, "Zapato"};</a:t>
            </a:r>
            <a:endParaRPr b="1" sz="1900">
              <a:solidFill>
                <a:schemeClr val="dk1"/>
              </a:solidFill>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change( art );</a:t>
            </a:r>
            <a:endParaRPr>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printf("%d - %s \n", art.code, art.description);</a:t>
            </a:r>
            <a:endParaRPr>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return 0;</a:t>
            </a:r>
            <a:endParaRPr>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a:t>
            </a:r>
            <a:endParaRPr b="1" sz="1900">
              <a:solidFill>
                <a:schemeClr val="dk1"/>
              </a:solidFill>
              <a:latin typeface="Consolas"/>
              <a:ea typeface="Consolas"/>
              <a:cs typeface="Consolas"/>
              <a:sym typeface="Consola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2"/>
          <p:cNvSpPr/>
          <p:nvPr/>
        </p:nvSpPr>
        <p:spPr>
          <a:xfrm>
            <a:off x="228600" y="171450"/>
            <a:ext cx="8610600" cy="4857600"/>
          </a:xfrm>
          <a:prstGeom prst="roundRect">
            <a:avLst>
              <a:gd fmla="val 3426"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296" name="Google Shape;296;p32"/>
          <p:cNvSpPr txBox="1"/>
          <p:nvPr/>
        </p:nvSpPr>
        <p:spPr>
          <a:xfrm>
            <a:off x="304800" y="228600"/>
            <a:ext cx="8383500" cy="47601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typedef str</a:t>
            </a:r>
            <a:r>
              <a:rPr b="1" lang="es-AR" sz="1700">
                <a:solidFill>
                  <a:schemeClr val="dk1"/>
                </a:solidFill>
                <a:latin typeface="Consolas"/>
                <a:ea typeface="Consolas"/>
                <a:cs typeface="Consolas"/>
                <a:sym typeface="Consolas"/>
              </a:rPr>
              <a:t>u</a:t>
            </a:r>
            <a:r>
              <a:rPr b="1" lang="es-AR" sz="1700">
                <a:solidFill>
                  <a:schemeClr val="dk1"/>
                </a:solidFill>
                <a:latin typeface="Consolas"/>
                <a:ea typeface="Consolas"/>
                <a:cs typeface="Consolas"/>
                <a:sym typeface="Consolas"/>
              </a:rPr>
              <a:t>ct {  </a:t>
            </a:r>
            <a:endParaRPr b="1" sz="17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int code;</a:t>
            </a:r>
            <a:endParaRPr b="1" sz="17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char * description;</a:t>
            </a:r>
            <a:endParaRPr b="1" sz="17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a:t>
            </a:r>
            <a:r>
              <a:rPr b="1" lang="es-AR" sz="1700">
                <a:solidFill>
                  <a:schemeClr val="dk1"/>
                </a:solidFill>
                <a:latin typeface="Consolas"/>
                <a:ea typeface="Consolas"/>
                <a:cs typeface="Consolas"/>
                <a:sym typeface="Consolas"/>
              </a:rPr>
              <a:t>itemType</a:t>
            </a:r>
            <a:r>
              <a:rPr b="1" lang="es-AR" sz="1700">
                <a:solidFill>
                  <a:schemeClr val="dk1"/>
                </a:solidFill>
                <a:latin typeface="Consolas"/>
                <a:ea typeface="Consolas"/>
                <a:cs typeface="Consolas"/>
                <a:sym typeface="Consolas"/>
              </a:rPr>
              <a:t>;</a:t>
            </a:r>
            <a:endParaRPr b="1" sz="1700">
              <a:solidFill>
                <a:schemeClr val="dk1"/>
              </a:solidFill>
              <a:latin typeface="Consolas"/>
              <a:ea typeface="Consolas"/>
              <a:cs typeface="Consolas"/>
              <a:sym typeface="Consolas"/>
            </a:endParaRPr>
          </a:p>
          <a:p>
            <a:pPr indent="0" lvl="0" marL="0" marR="0" rtl="0" algn="l">
              <a:lnSpc>
                <a:spcPct val="80000"/>
              </a:lnSpc>
              <a:spcBef>
                <a:spcPts val="160"/>
              </a:spcBef>
              <a:spcAft>
                <a:spcPts val="0"/>
              </a:spcAft>
              <a:buClr>
                <a:schemeClr val="dk1"/>
              </a:buClr>
              <a:buSzPts val="800"/>
              <a:buFont typeface="Courier New"/>
              <a:buNone/>
            </a:pPr>
            <a:r>
              <a:rPr b="1" lang="es-AR" sz="600">
                <a:solidFill>
                  <a:schemeClr val="dk1"/>
                </a:solidFill>
                <a:latin typeface="Consolas"/>
                <a:ea typeface="Consolas"/>
                <a:cs typeface="Consolas"/>
                <a:sym typeface="Consolas"/>
              </a:rPr>
              <a:t>  </a:t>
            </a:r>
            <a:endParaRPr b="1" sz="6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void change( </a:t>
            </a:r>
            <a:r>
              <a:rPr b="1" lang="es-AR" sz="1700">
                <a:solidFill>
                  <a:schemeClr val="dk1"/>
                </a:solidFill>
                <a:latin typeface="Consolas"/>
                <a:ea typeface="Consolas"/>
                <a:cs typeface="Consolas"/>
                <a:sym typeface="Consolas"/>
              </a:rPr>
              <a:t>itemType</a:t>
            </a:r>
            <a:r>
              <a:rPr b="1" lang="es-AR" sz="1700">
                <a:solidFill>
                  <a:schemeClr val="dk1"/>
                </a:solidFill>
                <a:latin typeface="Consolas"/>
                <a:ea typeface="Consolas"/>
                <a:cs typeface="Consolas"/>
                <a:sym typeface="Consolas"/>
              </a:rPr>
              <a:t> art) {</a:t>
            </a:r>
            <a:endParaRPr sz="12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art.code = 2;</a:t>
            </a:r>
            <a:endParaRPr b="1" sz="17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strcpy(art.description, "Zapatilla");</a:t>
            </a:r>
            <a:endParaRPr b="1" sz="17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return;</a:t>
            </a:r>
            <a:endParaRPr b="1" sz="17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a:t>
            </a:r>
            <a:endParaRPr sz="1200">
              <a:latin typeface="Consolas"/>
              <a:ea typeface="Consolas"/>
              <a:cs typeface="Consolas"/>
              <a:sym typeface="Consolas"/>
            </a:endParaRPr>
          </a:p>
          <a:p>
            <a:pPr indent="0" lvl="0" marL="0" marR="0" rtl="0" algn="just">
              <a:lnSpc>
                <a:spcPct val="80000"/>
              </a:lnSpc>
              <a:spcBef>
                <a:spcPts val="160"/>
              </a:spcBef>
              <a:spcAft>
                <a:spcPts val="0"/>
              </a:spcAft>
              <a:buClr>
                <a:schemeClr val="dk1"/>
              </a:buClr>
              <a:buSzPts val="800"/>
              <a:buFont typeface="Times New Roman"/>
              <a:buNone/>
            </a:pPr>
            <a:r>
              <a:t/>
            </a:r>
            <a:endParaRPr b="1" sz="600">
              <a:solidFill>
                <a:schemeClr val="dk1"/>
              </a:solidFill>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int main(void)</a:t>
            </a:r>
            <a:r>
              <a:rPr lang="es-AR" sz="1200">
                <a:latin typeface="Consolas"/>
                <a:ea typeface="Consolas"/>
                <a:cs typeface="Consolas"/>
                <a:sym typeface="Consolas"/>
              </a:rPr>
              <a:t> </a:t>
            </a:r>
            <a:r>
              <a:rPr b="1" lang="es-AR" sz="1700">
                <a:solidFill>
                  <a:schemeClr val="dk1"/>
                </a:solidFill>
                <a:latin typeface="Consolas"/>
                <a:ea typeface="Consolas"/>
                <a:cs typeface="Consolas"/>
                <a:sym typeface="Consolas"/>
              </a:rPr>
              <a:t>{</a:t>
            </a:r>
            <a:endParaRPr sz="1200">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char greet[30] = “Hola mundo”; </a:t>
            </a:r>
            <a:endParaRPr sz="1200">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a:t>
            </a:r>
            <a:r>
              <a:rPr b="1" lang="es-AR" sz="1700">
                <a:solidFill>
                  <a:schemeClr val="dk1"/>
                </a:solidFill>
                <a:latin typeface="Consolas"/>
                <a:ea typeface="Consolas"/>
                <a:cs typeface="Consolas"/>
                <a:sym typeface="Consolas"/>
              </a:rPr>
              <a:t>itemType</a:t>
            </a:r>
            <a:r>
              <a:rPr b="1" lang="es-AR" sz="1700">
                <a:solidFill>
                  <a:schemeClr val="dk1"/>
                </a:solidFill>
                <a:latin typeface="Consolas"/>
                <a:ea typeface="Consolas"/>
                <a:cs typeface="Consolas"/>
                <a:sym typeface="Consolas"/>
              </a:rPr>
              <a:t> art;</a:t>
            </a:r>
            <a:endParaRPr sz="1200">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art.code = 1;</a:t>
            </a:r>
            <a:endParaRPr sz="1200">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art.description = greet;</a:t>
            </a:r>
            <a:endParaRPr b="1" sz="1700">
              <a:solidFill>
                <a:schemeClr val="dk1"/>
              </a:solidFill>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change( art );</a:t>
            </a:r>
            <a:endParaRPr sz="1200">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printf("%d - %s \n", art.code, art.description);</a:t>
            </a:r>
            <a:endParaRPr sz="1200">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return 0;</a:t>
            </a:r>
            <a:endParaRPr sz="1200">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a:t>
            </a:r>
            <a:endParaRPr b="1" sz="1700">
              <a:solidFill>
                <a:schemeClr val="dk1"/>
              </a:solidFill>
              <a:latin typeface="Consolas"/>
              <a:ea typeface="Consolas"/>
              <a:cs typeface="Consolas"/>
              <a:sym typeface="Consola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3"/>
          <p:cNvSpPr/>
          <p:nvPr/>
        </p:nvSpPr>
        <p:spPr>
          <a:xfrm>
            <a:off x="228600" y="171450"/>
            <a:ext cx="8610600" cy="4857600"/>
          </a:xfrm>
          <a:prstGeom prst="roundRect">
            <a:avLst>
              <a:gd fmla="val 3426"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302" name="Google Shape;302;p33"/>
          <p:cNvSpPr txBox="1"/>
          <p:nvPr/>
        </p:nvSpPr>
        <p:spPr>
          <a:xfrm>
            <a:off x="304800" y="228600"/>
            <a:ext cx="8383500" cy="47601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typedef struct {  </a:t>
            </a:r>
            <a:endParaRPr b="1" sz="17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int code;</a:t>
            </a:r>
            <a:endParaRPr b="1" sz="17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char * description;</a:t>
            </a:r>
            <a:endParaRPr b="1" sz="17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a:t>
            </a:r>
            <a:r>
              <a:rPr b="1" lang="es-AR" sz="1700">
                <a:solidFill>
                  <a:schemeClr val="dk1"/>
                </a:solidFill>
                <a:latin typeface="Consolas"/>
                <a:ea typeface="Consolas"/>
                <a:cs typeface="Consolas"/>
                <a:sym typeface="Consolas"/>
              </a:rPr>
              <a:t>itemType</a:t>
            </a:r>
            <a:r>
              <a:rPr b="1" lang="es-AR" sz="1700">
                <a:solidFill>
                  <a:schemeClr val="dk1"/>
                </a:solidFill>
                <a:latin typeface="Consolas"/>
                <a:ea typeface="Consolas"/>
                <a:cs typeface="Consolas"/>
                <a:sym typeface="Consolas"/>
              </a:rPr>
              <a:t>;</a:t>
            </a:r>
            <a:endParaRPr b="1" sz="1700">
              <a:solidFill>
                <a:schemeClr val="dk1"/>
              </a:solidFill>
              <a:latin typeface="Consolas"/>
              <a:ea typeface="Consolas"/>
              <a:cs typeface="Consolas"/>
              <a:sym typeface="Consolas"/>
            </a:endParaRPr>
          </a:p>
          <a:p>
            <a:pPr indent="0" lvl="0" marL="0" marR="0" rtl="0" algn="l">
              <a:lnSpc>
                <a:spcPct val="80000"/>
              </a:lnSpc>
              <a:spcBef>
                <a:spcPts val="160"/>
              </a:spcBef>
              <a:spcAft>
                <a:spcPts val="0"/>
              </a:spcAft>
              <a:buClr>
                <a:schemeClr val="dk1"/>
              </a:buClr>
              <a:buSzPts val="800"/>
              <a:buFont typeface="Courier New"/>
              <a:buNone/>
            </a:pPr>
            <a:r>
              <a:rPr b="1" lang="es-AR" sz="600">
                <a:solidFill>
                  <a:schemeClr val="dk1"/>
                </a:solidFill>
                <a:latin typeface="Consolas"/>
                <a:ea typeface="Consolas"/>
                <a:cs typeface="Consolas"/>
                <a:sym typeface="Consolas"/>
              </a:rPr>
              <a:t>  </a:t>
            </a:r>
            <a:endParaRPr b="1" sz="6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itemType</a:t>
            </a:r>
            <a:r>
              <a:rPr b="1" lang="es-AR" sz="1700">
                <a:solidFill>
                  <a:schemeClr val="dk1"/>
                </a:solidFill>
                <a:latin typeface="Consolas"/>
                <a:ea typeface="Consolas"/>
                <a:cs typeface="Consolas"/>
                <a:sym typeface="Consolas"/>
              </a:rPr>
              <a:t> newItem(int code, char * description) {</a:t>
            </a:r>
            <a:endParaRPr sz="12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a:t>
            </a:r>
            <a:r>
              <a:rPr b="1" lang="es-AR" sz="1700">
                <a:solidFill>
                  <a:schemeClr val="dk1"/>
                </a:solidFill>
                <a:latin typeface="Consolas"/>
                <a:ea typeface="Consolas"/>
                <a:cs typeface="Consolas"/>
                <a:sym typeface="Consolas"/>
              </a:rPr>
              <a:t>itemType</a:t>
            </a:r>
            <a:r>
              <a:rPr b="1" lang="es-AR" sz="1700">
                <a:solidFill>
                  <a:schemeClr val="dk1"/>
                </a:solidFill>
                <a:latin typeface="Consolas"/>
                <a:ea typeface="Consolas"/>
                <a:cs typeface="Consolas"/>
                <a:sym typeface="Consolas"/>
              </a:rPr>
              <a:t> aux;</a:t>
            </a:r>
            <a:endParaRPr sz="12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aux.code = code;</a:t>
            </a:r>
            <a:endParaRPr sz="12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aux.description = malloc(strlen(description)+1);</a:t>
            </a:r>
            <a:endParaRPr b="1" sz="17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strcpy(aux.description, description);</a:t>
            </a:r>
            <a:endParaRPr b="1" sz="17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return aux;</a:t>
            </a:r>
            <a:endParaRPr b="1" sz="17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a:t>
            </a:r>
            <a:endParaRPr sz="1200">
              <a:latin typeface="Consolas"/>
              <a:ea typeface="Consolas"/>
              <a:cs typeface="Consolas"/>
              <a:sym typeface="Consolas"/>
            </a:endParaRPr>
          </a:p>
          <a:p>
            <a:pPr indent="0" lvl="0" marL="0" marR="0" rtl="0" algn="just">
              <a:lnSpc>
                <a:spcPct val="80000"/>
              </a:lnSpc>
              <a:spcBef>
                <a:spcPts val="160"/>
              </a:spcBef>
              <a:spcAft>
                <a:spcPts val="0"/>
              </a:spcAft>
              <a:buClr>
                <a:schemeClr val="dk1"/>
              </a:buClr>
              <a:buSzPts val="800"/>
              <a:buFont typeface="Times New Roman"/>
              <a:buNone/>
            </a:pPr>
            <a:r>
              <a:t/>
            </a:r>
            <a:endParaRPr b="1" sz="600">
              <a:solidFill>
                <a:schemeClr val="dk1"/>
              </a:solidFill>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int main(void)</a:t>
            </a:r>
            <a:r>
              <a:rPr lang="es-AR" sz="1200">
                <a:latin typeface="Consolas"/>
                <a:ea typeface="Consolas"/>
                <a:cs typeface="Consolas"/>
                <a:sym typeface="Consolas"/>
              </a:rPr>
              <a:t> </a:t>
            </a:r>
            <a:r>
              <a:rPr b="1" lang="es-AR" sz="1700">
                <a:solidFill>
                  <a:schemeClr val="dk1"/>
                </a:solidFill>
                <a:latin typeface="Consolas"/>
                <a:ea typeface="Consolas"/>
                <a:cs typeface="Consolas"/>
                <a:sym typeface="Consolas"/>
              </a:rPr>
              <a:t>{</a:t>
            </a:r>
            <a:endParaRPr sz="1200">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a:t>
            </a:r>
            <a:r>
              <a:rPr b="1" lang="es-AR" sz="1700">
                <a:solidFill>
                  <a:schemeClr val="dk1"/>
                </a:solidFill>
                <a:latin typeface="Consolas"/>
                <a:ea typeface="Consolas"/>
                <a:cs typeface="Consolas"/>
                <a:sym typeface="Consolas"/>
              </a:rPr>
              <a:t>itemType</a:t>
            </a:r>
            <a:r>
              <a:rPr b="1" lang="es-AR" sz="1700">
                <a:solidFill>
                  <a:schemeClr val="dk1"/>
                </a:solidFill>
                <a:latin typeface="Consolas"/>
                <a:ea typeface="Consolas"/>
                <a:cs typeface="Consolas"/>
                <a:sym typeface="Consolas"/>
              </a:rPr>
              <a:t> art;</a:t>
            </a:r>
            <a:endParaRPr sz="1200">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art = newItem(1, "Zapatilla");</a:t>
            </a:r>
            <a:endParaRPr sz="1200">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printf("%d - %s \n", art.code, art.description);</a:t>
            </a:r>
            <a:endParaRPr sz="1200">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free(art.description);</a:t>
            </a:r>
            <a:endParaRPr sz="1200">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return 0;</a:t>
            </a:r>
            <a:endParaRPr sz="1200">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a:t>
            </a:r>
            <a:endParaRPr b="1" sz="1700">
              <a:solidFill>
                <a:schemeClr val="dk1"/>
              </a:solidFill>
              <a:latin typeface="Consolas"/>
              <a:ea typeface="Consolas"/>
              <a:cs typeface="Consolas"/>
              <a:sym typeface="Consolas"/>
            </a:endParaRPr>
          </a:p>
        </p:txBody>
      </p:sp>
      <p:sp>
        <p:nvSpPr>
          <p:cNvPr id="303" name="Google Shape;303;p33"/>
          <p:cNvSpPr txBox="1"/>
          <p:nvPr/>
        </p:nvSpPr>
        <p:spPr>
          <a:xfrm>
            <a:off x="3276600" y="202406"/>
            <a:ext cx="5181600" cy="342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304" name="Google Shape;304;p33"/>
          <p:cNvSpPr txBox="1"/>
          <p:nvPr/>
        </p:nvSpPr>
        <p:spPr>
          <a:xfrm>
            <a:off x="3227000" y="285750"/>
            <a:ext cx="5529600" cy="600600"/>
          </a:xfrm>
          <a:prstGeom prst="rect">
            <a:avLst/>
          </a:prstGeom>
          <a:gradFill>
            <a:gsLst>
              <a:gs pos="0">
                <a:srgbClr val="CC99FF"/>
              </a:gs>
              <a:gs pos="100000">
                <a:schemeClr val="lt1"/>
              </a:gs>
            </a:gsLst>
            <a:lin ang="2700000" scaled="0"/>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3200"/>
              <a:buFont typeface="Times New Roman"/>
              <a:buNone/>
            </a:pPr>
            <a:r>
              <a:rPr lang="es-AR" sz="3200">
                <a:solidFill>
                  <a:schemeClr val="dk1"/>
                </a:solidFill>
                <a:latin typeface="Times New Roman"/>
                <a:ea typeface="Times New Roman"/>
                <a:cs typeface="Times New Roman"/>
                <a:sym typeface="Times New Roman"/>
              </a:rPr>
              <a:t>Función que retorna un struct</a:t>
            </a:r>
            <a:endParaRPr sz="320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4"/>
          <p:cNvSpPr/>
          <p:nvPr/>
        </p:nvSpPr>
        <p:spPr>
          <a:xfrm>
            <a:off x="228600" y="712050"/>
            <a:ext cx="8610600" cy="4317000"/>
          </a:xfrm>
          <a:prstGeom prst="roundRect">
            <a:avLst>
              <a:gd fmla="val 3426"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310" name="Google Shape;310;p34"/>
          <p:cNvSpPr txBox="1"/>
          <p:nvPr/>
        </p:nvSpPr>
        <p:spPr>
          <a:xfrm>
            <a:off x="304800" y="780225"/>
            <a:ext cx="8383500" cy="42084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char * copyStr(const char * s) {</a:t>
            </a:r>
            <a:endParaRPr b="1" sz="1700">
              <a:solidFill>
                <a:schemeClr val="dk1"/>
              </a:solidFill>
              <a:latin typeface="Consolas"/>
              <a:ea typeface="Consolas"/>
              <a:cs typeface="Consolas"/>
              <a:sym typeface="Consolas"/>
            </a:endParaRPr>
          </a:p>
          <a:p>
            <a:pPr indent="0" lvl="0" marL="0" marR="0" rtl="0" algn="l">
              <a:lnSpc>
                <a:spcPct val="80000"/>
              </a:lnSpc>
              <a:spcBef>
                <a:spcPts val="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char * aux = malloc(strlen(s)+1);</a:t>
            </a:r>
            <a:endParaRPr b="1" sz="1700">
              <a:solidFill>
                <a:schemeClr val="dk1"/>
              </a:solidFill>
              <a:latin typeface="Consolas"/>
              <a:ea typeface="Consolas"/>
              <a:cs typeface="Consolas"/>
              <a:sym typeface="Consolas"/>
            </a:endParaRPr>
          </a:p>
          <a:p>
            <a:pPr indent="0" lvl="0" marL="0" marR="0" rtl="0" algn="l">
              <a:lnSpc>
                <a:spcPct val="80000"/>
              </a:lnSpc>
              <a:spcBef>
                <a:spcPts val="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return strcpy(aux, s);</a:t>
            </a:r>
            <a:endParaRPr b="1" sz="1700">
              <a:solidFill>
                <a:schemeClr val="dk1"/>
              </a:solidFill>
              <a:latin typeface="Consolas"/>
              <a:ea typeface="Consolas"/>
              <a:cs typeface="Consolas"/>
              <a:sym typeface="Consolas"/>
            </a:endParaRPr>
          </a:p>
          <a:p>
            <a:pPr indent="0" lvl="0" marL="0" marR="0" rtl="0" algn="l">
              <a:lnSpc>
                <a:spcPct val="80000"/>
              </a:lnSpc>
              <a:spcBef>
                <a:spcPts val="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a:t>
            </a:r>
            <a:endParaRPr b="1" sz="1700">
              <a:solidFill>
                <a:schemeClr val="dk1"/>
              </a:solidFill>
              <a:latin typeface="Consolas"/>
              <a:ea typeface="Consolas"/>
              <a:cs typeface="Consolas"/>
              <a:sym typeface="Consolas"/>
            </a:endParaRPr>
          </a:p>
          <a:p>
            <a:pPr indent="0" lvl="0" marL="0" marR="0" rtl="0" algn="l">
              <a:lnSpc>
                <a:spcPct val="80000"/>
              </a:lnSpc>
              <a:spcBef>
                <a:spcPts val="0"/>
              </a:spcBef>
              <a:spcAft>
                <a:spcPts val="0"/>
              </a:spcAft>
              <a:buClr>
                <a:schemeClr val="dk1"/>
              </a:buClr>
              <a:buSzPts val="1900"/>
              <a:buFont typeface="Courier New"/>
              <a:buNone/>
            </a:pPr>
            <a:r>
              <a:t/>
            </a:r>
            <a:endParaRPr b="1" sz="1700">
              <a:solidFill>
                <a:schemeClr val="dk1"/>
              </a:solidFill>
              <a:latin typeface="Consolas"/>
              <a:ea typeface="Consolas"/>
              <a:cs typeface="Consolas"/>
              <a:sym typeface="Consolas"/>
            </a:endParaRPr>
          </a:p>
          <a:p>
            <a:pPr indent="0" lvl="0" marL="0" marR="0" rtl="0" algn="l">
              <a:lnSpc>
                <a:spcPct val="80000"/>
              </a:lnSpc>
              <a:spcBef>
                <a:spcPts val="0"/>
              </a:spcBef>
              <a:spcAft>
                <a:spcPts val="0"/>
              </a:spcAft>
              <a:buClr>
                <a:schemeClr val="dk1"/>
              </a:buClr>
              <a:buSzPts val="1900"/>
              <a:buFont typeface="Courier New"/>
              <a:buNone/>
            </a:pPr>
            <a:r>
              <a:t/>
            </a:r>
            <a:endParaRPr b="1" sz="1700">
              <a:solidFill>
                <a:schemeClr val="dk1"/>
              </a:solidFill>
              <a:latin typeface="Consolas"/>
              <a:ea typeface="Consolas"/>
              <a:cs typeface="Consolas"/>
              <a:sym typeface="Consolas"/>
            </a:endParaRPr>
          </a:p>
          <a:p>
            <a:pPr indent="0" lvl="0" marL="0" marR="0" rtl="0" algn="l">
              <a:lnSpc>
                <a:spcPct val="80000"/>
              </a:lnSpc>
              <a:spcBef>
                <a:spcPts val="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typedef struct {  </a:t>
            </a:r>
            <a:endParaRPr b="1" sz="17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int code;</a:t>
            </a:r>
            <a:endParaRPr b="1" sz="17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char * description;</a:t>
            </a:r>
            <a:endParaRPr b="1" sz="17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itemType;</a:t>
            </a:r>
            <a:endParaRPr b="1" sz="17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t/>
            </a:r>
            <a:endParaRPr b="1" sz="1700">
              <a:solidFill>
                <a:schemeClr val="dk1"/>
              </a:solidFill>
              <a:latin typeface="Consolas"/>
              <a:ea typeface="Consolas"/>
              <a:cs typeface="Consolas"/>
              <a:sym typeface="Consolas"/>
            </a:endParaRPr>
          </a:p>
          <a:p>
            <a:pPr indent="0" lvl="0" marL="0" marR="0" rtl="0" algn="l">
              <a:lnSpc>
                <a:spcPct val="80000"/>
              </a:lnSpc>
              <a:spcBef>
                <a:spcPts val="160"/>
              </a:spcBef>
              <a:spcAft>
                <a:spcPts val="0"/>
              </a:spcAft>
              <a:buClr>
                <a:schemeClr val="dk1"/>
              </a:buClr>
              <a:buSzPts val="800"/>
              <a:buFont typeface="Courier New"/>
              <a:buNone/>
            </a:pPr>
            <a:r>
              <a:rPr b="1" lang="es-AR" sz="600">
                <a:solidFill>
                  <a:schemeClr val="dk1"/>
                </a:solidFill>
                <a:latin typeface="Consolas"/>
                <a:ea typeface="Consolas"/>
                <a:cs typeface="Consolas"/>
                <a:sym typeface="Consolas"/>
              </a:rPr>
              <a:t>  </a:t>
            </a:r>
            <a:endParaRPr b="1" sz="6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itemType newItem(int code, char * description) {</a:t>
            </a:r>
            <a:endParaRPr sz="12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itemType aux;</a:t>
            </a:r>
            <a:endParaRPr sz="12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aux.code = code;</a:t>
            </a:r>
            <a:endParaRPr sz="12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aux.description = copyStr(description);</a:t>
            </a:r>
            <a:endParaRPr b="1" sz="17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return aux;</a:t>
            </a:r>
            <a:endParaRPr b="1" sz="17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a:t>
            </a:r>
            <a:endParaRPr sz="1200">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t/>
            </a:r>
            <a:endParaRPr b="1" sz="1700">
              <a:solidFill>
                <a:schemeClr val="dk1"/>
              </a:solidFill>
              <a:latin typeface="Consolas"/>
              <a:ea typeface="Consolas"/>
              <a:cs typeface="Consolas"/>
              <a:sym typeface="Consolas"/>
            </a:endParaRPr>
          </a:p>
        </p:txBody>
      </p:sp>
      <p:sp>
        <p:nvSpPr>
          <p:cNvPr id="311" name="Google Shape;311;p34"/>
          <p:cNvSpPr txBox="1"/>
          <p:nvPr/>
        </p:nvSpPr>
        <p:spPr>
          <a:xfrm>
            <a:off x="304800" y="141800"/>
            <a:ext cx="8277900" cy="342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rPr b="1" lang="es-AR" sz="2600">
                <a:solidFill>
                  <a:schemeClr val="dk1"/>
                </a:solidFill>
                <a:latin typeface="Times New Roman"/>
                <a:ea typeface="Times New Roman"/>
                <a:cs typeface="Times New Roman"/>
                <a:sym typeface="Times New Roman"/>
              </a:rPr>
              <a:t>Usando una función auxiliar para duplicar un string</a:t>
            </a:r>
            <a:endParaRPr b="1" sz="2600">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5"/>
          <p:cNvSpPr txBox="1"/>
          <p:nvPr>
            <p:ph type="title"/>
          </p:nvPr>
        </p:nvSpPr>
        <p:spPr>
          <a:xfrm>
            <a:off x="212100" y="38100"/>
            <a:ext cx="8491800" cy="514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i="1" lang="es-AR" sz="3600"/>
              <a:t>Las estructuras como unidad pueden ser ...</a:t>
            </a:r>
            <a:endParaRPr/>
          </a:p>
        </p:txBody>
      </p:sp>
      <p:sp>
        <p:nvSpPr>
          <p:cNvPr id="317" name="Google Shape;317;p35"/>
          <p:cNvSpPr txBox="1"/>
          <p:nvPr/>
        </p:nvSpPr>
        <p:spPr>
          <a:xfrm>
            <a:off x="265125" y="552300"/>
            <a:ext cx="7347900" cy="4022100"/>
          </a:xfrm>
          <a:prstGeom prst="rect">
            <a:avLst/>
          </a:prstGeom>
          <a:noFill/>
          <a:ln>
            <a:noFill/>
          </a:ln>
        </p:spPr>
        <p:txBody>
          <a:bodyPr anchorCtr="0" anchor="t" bIns="45700" lIns="91425" spcFirstLastPara="1" rIns="91425" wrap="square" tIns="45700">
            <a:noAutofit/>
          </a:bodyPr>
          <a:lstStyle/>
          <a:p>
            <a:pPr indent="-152400" lvl="0" marL="0" marR="0" rtl="0" algn="l">
              <a:spcBef>
                <a:spcPts val="0"/>
              </a:spcBef>
              <a:spcAft>
                <a:spcPts val="0"/>
              </a:spcAft>
              <a:buClr>
                <a:schemeClr val="accent2"/>
              </a:buClr>
              <a:buSzPts val="2400"/>
              <a:buFont typeface="Noto Sans Symbols"/>
              <a:buChar char="⮚"/>
            </a:pPr>
            <a:r>
              <a:rPr lang="es-AR" sz="2400">
                <a:solidFill>
                  <a:schemeClr val="accent2"/>
                </a:solidFill>
                <a:latin typeface="Comic Sans MS"/>
                <a:ea typeface="Comic Sans MS"/>
                <a:cs typeface="Comic Sans MS"/>
                <a:sym typeface="Comic Sans MS"/>
              </a:rPr>
              <a:t> inicializadas</a:t>
            </a:r>
            <a:endParaRPr/>
          </a:p>
          <a:p>
            <a:pPr indent="0" lvl="0" marL="0" marR="0" rtl="0" algn="l">
              <a:spcBef>
                <a:spcPts val="1200"/>
              </a:spcBef>
              <a:spcAft>
                <a:spcPts val="0"/>
              </a:spcAft>
              <a:buClr>
                <a:schemeClr val="dk1"/>
              </a:buClr>
              <a:buSzPts val="2400"/>
              <a:buFont typeface="Noto Sans Symbols"/>
              <a:buNone/>
            </a:pPr>
            <a:r>
              <a:t/>
            </a:r>
            <a:endParaRPr sz="2400">
              <a:solidFill>
                <a:schemeClr val="accent2"/>
              </a:solidFill>
              <a:latin typeface="Comic Sans MS"/>
              <a:ea typeface="Comic Sans MS"/>
              <a:cs typeface="Comic Sans MS"/>
              <a:sym typeface="Comic Sans MS"/>
            </a:endParaRPr>
          </a:p>
          <a:p>
            <a:pPr indent="0" lvl="0" marL="0" marR="0" rtl="0" algn="l">
              <a:spcBef>
                <a:spcPts val="1000"/>
              </a:spcBef>
              <a:spcAft>
                <a:spcPts val="0"/>
              </a:spcAft>
              <a:buClr>
                <a:schemeClr val="dk1"/>
              </a:buClr>
              <a:buSzPts val="2000"/>
              <a:buFont typeface="Noto Sans Symbols"/>
              <a:buNone/>
            </a:pPr>
            <a:r>
              <a:t/>
            </a:r>
            <a:endParaRPr sz="2000">
              <a:solidFill>
                <a:schemeClr val="accent2"/>
              </a:solidFill>
              <a:latin typeface="Comic Sans MS"/>
              <a:ea typeface="Comic Sans MS"/>
              <a:cs typeface="Comic Sans MS"/>
              <a:sym typeface="Comic Sans MS"/>
            </a:endParaRPr>
          </a:p>
          <a:p>
            <a:pPr indent="0" lvl="0" marL="0" marR="0" rtl="0" algn="l">
              <a:spcBef>
                <a:spcPts val="350"/>
              </a:spcBef>
              <a:spcAft>
                <a:spcPts val="0"/>
              </a:spcAft>
              <a:buClr>
                <a:schemeClr val="dk1"/>
              </a:buClr>
              <a:buSzPts val="700"/>
              <a:buFont typeface="Noto Sans Symbols"/>
              <a:buNone/>
            </a:pPr>
            <a:r>
              <a:t/>
            </a:r>
            <a:endParaRPr sz="700">
              <a:solidFill>
                <a:schemeClr val="accent2"/>
              </a:solidFill>
              <a:latin typeface="Comic Sans MS"/>
              <a:ea typeface="Comic Sans MS"/>
              <a:cs typeface="Comic Sans MS"/>
              <a:sym typeface="Comic Sans MS"/>
            </a:endParaRPr>
          </a:p>
          <a:p>
            <a:pPr indent="-152400" lvl="0" marL="0" marR="0" rtl="0" algn="l">
              <a:spcBef>
                <a:spcPts val="1200"/>
              </a:spcBef>
              <a:spcAft>
                <a:spcPts val="0"/>
              </a:spcAft>
              <a:buClr>
                <a:schemeClr val="accent2"/>
              </a:buClr>
              <a:buSzPts val="2400"/>
              <a:buFont typeface="Noto Sans Symbols"/>
              <a:buChar char="⮚"/>
            </a:pPr>
            <a:r>
              <a:rPr lang="es-AR" sz="2400">
                <a:solidFill>
                  <a:schemeClr val="accent2"/>
                </a:solidFill>
                <a:latin typeface="Comic Sans MS"/>
                <a:ea typeface="Comic Sans MS"/>
                <a:cs typeface="Comic Sans MS"/>
                <a:sym typeface="Comic Sans MS"/>
              </a:rPr>
              <a:t> asignadas</a:t>
            </a:r>
            <a:endParaRPr/>
          </a:p>
          <a:p>
            <a:pPr indent="0" lvl="0" marL="0" marR="0" rtl="0" algn="l">
              <a:spcBef>
                <a:spcPts val="1200"/>
              </a:spcBef>
              <a:spcAft>
                <a:spcPts val="0"/>
              </a:spcAft>
              <a:buClr>
                <a:schemeClr val="dk1"/>
              </a:buClr>
              <a:buSzPts val="2400"/>
              <a:buFont typeface="Noto Sans Symbols"/>
              <a:buNone/>
            </a:pPr>
            <a:r>
              <a:t/>
            </a:r>
            <a:endParaRPr sz="1800">
              <a:solidFill>
                <a:schemeClr val="accent2"/>
              </a:solidFill>
              <a:latin typeface="Comic Sans MS"/>
              <a:ea typeface="Comic Sans MS"/>
              <a:cs typeface="Comic Sans MS"/>
              <a:sym typeface="Comic Sans MS"/>
            </a:endParaRPr>
          </a:p>
          <a:p>
            <a:pPr indent="0" lvl="0" marL="0" marR="0" rtl="0" algn="l">
              <a:spcBef>
                <a:spcPts val="1200"/>
              </a:spcBef>
              <a:spcAft>
                <a:spcPts val="0"/>
              </a:spcAft>
              <a:buClr>
                <a:schemeClr val="dk1"/>
              </a:buClr>
              <a:buSzPts val="2400"/>
              <a:buFont typeface="Noto Sans Symbols"/>
              <a:buNone/>
            </a:pPr>
            <a:r>
              <a:t/>
            </a:r>
            <a:endParaRPr sz="100">
              <a:solidFill>
                <a:schemeClr val="accent2"/>
              </a:solidFill>
              <a:latin typeface="Comic Sans MS"/>
              <a:ea typeface="Comic Sans MS"/>
              <a:cs typeface="Comic Sans MS"/>
              <a:sym typeface="Comic Sans MS"/>
            </a:endParaRPr>
          </a:p>
          <a:p>
            <a:pPr indent="-152400" lvl="0" marL="0" marR="0" rtl="0" algn="l">
              <a:spcBef>
                <a:spcPts val="1200"/>
              </a:spcBef>
              <a:spcAft>
                <a:spcPts val="0"/>
              </a:spcAft>
              <a:buClr>
                <a:schemeClr val="accent2"/>
              </a:buClr>
              <a:buSzPts val="2400"/>
              <a:buFont typeface="Noto Sans Symbols"/>
              <a:buChar char="⮚"/>
            </a:pPr>
            <a:r>
              <a:rPr lang="es-AR" sz="2400">
                <a:solidFill>
                  <a:schemeClr val="accent2"/>
                </a:solidFill>
                <a:latin typeface="Comic Sans MS"/>
                <a:ea typeface="Comic Sans MS"/>
                <a:cs typeface="Comic Sans MS"/>
                <a:sym typeface="Comic Sans MS"/>
              </a:rPr>
              <a:t> pasadas como parámetro a una función</a:t>
            </a:r>
            <a:endParaRPr sz="2400">
              <a:solidFill>
                <a:schemeClr val="accent2"/>
              </a:solidFill>
              <a:latin typeface="Comic Sans MS"/>
              <a:ea typeface="Comic Sans MS"/>
              <a:cs typeface="Comic Sans MS"/>
              <a:sym typeface="Comic Sans MS"/>
            </a:endParaRPr>
          </a:p>
          <a:p>
            <a:pPr indent="0" lvl="0" marL="457200" marR="0" rtl="0" algn="l">
              <a:spcBef>
                <a:spcPts val="1200"/>
              </a:spcBef>
              <a:spcAft>
                <a:spcPts val="0"/>
              </a:spcAft>
              <a:buNone/>
            </a:pPr>
            <a:r>
              <a:t/>
            </a:r>
            <a:endParaRPr sz="500">
              <a:solidFill>
                <a:schemeClr val="accent2"/>
              </a:solidFill>
              <a:latin typeface="Comic Sans MS"/>
              <a:ea typeface="Comic Sans MS"/>
              <a:cs typeface="Comic Sans MS"/>
              <a:sym typeface="Comic Sans MS"/>
            </a:endParaRPr>
          </a:p>
          <a:p>
            <a:pPr indent="-152400" lvl="0" marL="0" marR="0" rtl="0" algn="l">
              <a:spcBef>
                <a:spcPts val="1200"/>
              </a:spcBef>
              <a:spcAft>
                <a:spcPts val="0"/>
              </a:spcAft>
              <a:buClr>
                <a:schemeClr val="accent2"/>
              </a:buClr>
              <a:buSzPts val="2400"/>
              <a:buFont typeface="Noto Sans Symbols"/>
              <a:buChar char="⮚"/>
            </a:pPr>
            <a:r>
              <a:rPr lang="es-AR" sz="2400">
                <a:solidFill>
                  <a:schemeClr val="accent2"/>
                </a:solidFill>
                <a:latin typeface="Comic Sans MS"/>
                <a:ea typeface="Comic Sans MS"/>
                <a:cs typeface="Comic Sans MS"/>
                <a:sym typeface="Comic Sans MS"/>
              </a:rPr>
              <a:t>retornadas en el nombre de una función</a:t>
            </a:r>
            <a:endParaRPr sz="2400">
              <a:solidFill>
                <a:schemeClr val="accent2"/>
              </a:solidFill>
              <a:latin typeface="Comic Sans MS"/>
              <a:ea typeface="Comic Sans MS"/>
              <a:cs typeface="Comic Sans MS"/>
              <a:sym typeface="Comic Sans MS"/>
            </a:endParaRPr>
          </a:p>
        </p:txBody>
      </p:sp>
      <p:grpSp>
        <p:nvGrpSpPr>
          <p:cNvPr id="318" name="Google Shape;318;p35"/>
          <p:cNvGrpSpPr/>
          <p:nvPr/>
        </p:nvGrpSpPr>
        <p:grpSpPr>
          <a:xfrm>
            <a:off x="2242250" y="558075"/>
            <a:ext cx="6423675" cy="1655025"/>
            <a:chOff x="1393" y="584"/>
            <a:chExt cx="4580" cy="1252"/>
          </a:xfrm>
        </p:grpSpPr>
        <p:sp>
          <p:nvSpPr>
            <p:cNvPr id="319" name="Google Shape;319;p35"/>
            <p:cNvSpPr/>
            <p:nvPr/>
          </p:nvSpPr>
          <p:spPr>
            <a:xfrm>
              <a:off x="1393" y="584"/>
              <a:ext cx="4500" cy="1200"/>
            </a:xfrm>
            <a:prstGeom prst="roundRect">
              <a:avLst>
                <a:gd fmla="val 5917"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320" name="Google Shape;320;p35"/>
            <p:cNvSpPr txBox="1"/>
            <p:nvPr/>
          </p:nvSpPr>
          <p:spPr>
            <a:xfrm>
              <a:off x="1474" y="636"/>
              <a:ext cx="4500" cy="12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000"/>
                <a:buFont typeface="Courier New"/>
                <a:buNone/>
              </a:pPr>
              <a:r>
                <a:rPr b="1" lang="es-AR" sz="2000">
                  <a:solidFill>
                    <a:schemeClr val="dk1"/>
                  </a:solidFill>
                  <a:latin typeface="Courier New"/>
                  <a:ea typeface="Courier New"/>
                  <a:cs typeface="Courier New"/>
                  <a:sym typeface="Courier New"/>
                </a:rPr>
                <a:t>typedef struct {</a:t>
              </a:r>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urier New"/>
                  <a:ea typeface="Courier New"/>
                  <a:cs typeface="Courier New"/>
                  <a:sym typeface="Courier New"/>
                </a:rPr>
                <a:t>	char 	nombre[30];</a:t>
              </a:r>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urier New"/>
                  <a:ea typeface="Courier New"/>
                  <a:cs typeface="Courier New"/>
                  <a:sym typeface="Courier New"/>
                </a:rPr>
                <a:t>	int 	legajo;</a:t>
              </a:r>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urier New"/>
                  <a:ea typeface="Courier New"/>
                  <a:cs typeface="Courier New"/>
                  <a:sym typeface="Courier New"/>
                </a:rPr>
                <a:t>} tipoAlumno;</a:t>
              </a:r>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urier New"/>
                  <a:ea typeface="Courier New"/>
                  <a:cs typeface="Courier New"/>
                  <a:sym typeface="Courier New"/>
                </a:rPr>
                <a:t>tipoAlumno alu = {"Juan Perez",39205};</a:t>
              </a:r>
              <a:endParaRPr b="1" sz="2000">
                <a:solidFill>
                  <a:schemeClr val="dk1"/>
                </a:solidFill>
                <a:latin typeface="Courier New"/>
                <a:ea typeface="Courier New"/>
                <a:cs typeface="Courier New"/>
                <a:sym typeface="Courier New"/>
              </a:endParaRPr>
            </a:p>
          </p:txBody>
        </p:sp>
      </p:grpSp>
      <p:grpSp>
        <p:nvGrpSpPr>
          <p:cNvPr id="321" name="Google Shape;321;p35"/>
          <p:cNvGrpSpPr/>
          <p:nvPr/>
        </p:nvGrpSpPr>
        <p:grpSpPr>
          <a:xfrm>
            <a:off x="2295250" y="2233538"/>
            <a:ext cx="6581921" cy="1071574"/>
            <a:chOff x="624" y="2212"/>
            <a:chExt cx="5020" cy="900"/>
          </a:xfrm>
        </p:grpSpPr>
        <p:sp>
          <p:nvSpPr>
            <p:cNvPr id="322" name="Google Shape;322;p35"/>
            <p:cNvSpPr/>
            <p:nvPr/>
          </p:nvSpPr>
          <p:spPr>
            <a:xfrm>
              <a:off x="624" y="2212"/>
              <a:ext cx="4800" cy="900"/>
            </a:xfrm>
            <a:prstGeom prst="roundRect">
              <a:avLst>
                <a:gd fmla="val 5917"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323" name="Google Shape;323;p35"/>
            <p:cNvSpPr txBox="1"/>
            <p:nvPr/>
          </p:nvSpPr>
          <p:spPr>
            <a:xfrm>
              <a:off x="844" y="2212"/>
              <a:ext cx="4800" cy="6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000"/>
                <a:buFont typeface="Courier New"/>
                <a:buNone/>
              </a:pPr>
              <a:r>
                <a:rPr b="1" lang="es-AR" sz="2000">
                  <a:solidFill>
                    <a:schemeClr val="dk1"/>
                  </a:solidFill>
                  <a:latin typeface="Courier New"/>
                  <a:ea typeface="Courier New"/>
                  <a:cs typeface="Courier New"/>
                  <a:sym typeface="Courier New"/>
                </a:rPr>
                <a:t>tipoAlumno alu1 = {"Juan P.",39205}, alu2;</a:t>
              </a:r>
              <a:endParaRPr/>
            </a:p>
            <a:p>
              <a:pPr indent="0" lvl="0" marL="0" marR="0" rtl="0" algn="l">
                <a:lnSpc>
                  <a:spcPct val="80000"/>
                </a:lnSpc>
                <a:spcBef>
                  <a:spcPts val="280"/>
                </a:spcBef>
                <a:spcAft>
                  <a:spcPts val="0"/>
                </a:spcAft>
                <a:buClr>
                  <a:schemeClr val="dk1"/>
                </a:buClr>
                <a:buSzPts val="1400"/>
                <a:buFont typeface="Courier New"/>
                <a:buNone/>
              </a:pPr>
              <a:r>
                <a:rPr b="1" lang="es-AR" sz="1400">
                  <a:solidFill>
                    <a:schemeClr val="dk1"/>
                  </a:solidFill>
                  <a:latin typeface="Courier New"/>
                  <a:ea typeface="Courier New"/>
                  <a:cs typeface="Courier New"/>
                  <a:sym typeface="Courier New"/>
                </a:rPr>
                <a:t>...</a:t>
              </a:r>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urier New"/>
                  <a:ea typeface="Courier New"/>
                  <a:cs typeface="Courier New"/>
                  <a:sym typeface="Courier New"/>
                </a:rPr>
                <a:t>alu1 = alu2;</a:t>
              </a:r>
              <a:endParaRPr b="1" sz="2000">
                <a:solidFill>
                  <a:schemeClr val="dk1"/>
                </a:solidFill>
                <a:latin typeface="Courier New"/>
                <a:ea typeface="Courier New"/>
                <a:cs typeface="Courier New"/>
                <a:sym typeface="Courier New"/>
              </a:endParaRPr>
            </a:p>
          </p:txBody>
        </p:sp>
      </p:grpSp>
      <p:grpSp>
        <p:nvGrpSpPr>
          <p:cNvPr id="324" name="Google Shape;324;p35"/>
          <p:cNvGrpSpPr/>
          <p:nvPr/>
        </p:nvGrpSpPr>
        <p:grpSpPr>
          <a:xfrm>
            <a:off x="990600" y="3684975"/>
            <a:ext cx="5963350" cy="342900"/>
            <a:chOff x="624" y="3552"/>
            <a:chExt cx="4704" cy="288"/>
          </a:xfrm>
        </p:grpSpPr>
        <p:sp>
          <p:nvSpPr>
            <p:cNvPr id="325" name="Google Shape;325;p35"/>
            <p:cNvSpPr/>
            <p:nvPr/>
          </p:nvSpPr>
          <p:spPr>
            <a:xfrm>
              <a:off x="624" y="3552"/>
              <a:ext cx="4704" cy="288"/>
            </a:xfrm>
            <a:prstGeom prst="roundRect">
              <a:avLst>
                <a:gd fmla="val 5917"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326" name="Google Shape;326;p35"/>
            <p:cNvSpPr txBox="1"/>
            <p:nvPr/>
          </p:nvSpPr>
          <p:spPr>
            <a:xfrm>
              <a:off x="722" y="3594"/>
              <a:ext cx="4549" cy="212"/>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000"/>
                <a:buFont typeface="Courier New"/>
                <a:buNone/>
              </a:pPr>
              <a:r>
                <a:rPr b="1" lang="es-AR" sz="2000">
                  <a:solidFill>
                    <a:schemeClr val="dk1"/>
                  </a:solidFill>
                  <a:latin typeface="Courier New"/>
                  <a:ea typeface="Courier New"/>
                  <a:cs typeface="Courier New"/>
                  <a:sym typeface="Courier New"/>
                </a:rPr>
                <a:t>respuesta = procesarAlumno(alu);</a:t>
              </a:r>
              <a:endParaRPr b="1" sz="2000">
                <a:solidFill>
                  <a:schemeClr val="dk1"/>
                </a:solidFill>
                <a:latin typeface="Courier New"/>
                <a:ea typeface="Courier New"/>
                <a:cs typeface="Courier New"/>
                <a:sym typeface="Courier New"/>
              </a:endParaRPr>
            </a:p>
          </p:txBody>
        </p:sp>
      </p:grpSp>
      <p:grpSp>
        <p:nvGrpSpPr>
          <p:cNvPr id="327" name="Google Shape;327;p35"/>
          <p:cNvGrpSpPr/>
          <p:nvPr/>
        </p:nvGrpSpPr>
        <p:grpSpPr>
          <a:xfrm>
            <a:off x="990600" y="4476750"/>
            <a:ext cx="5963350" cy="342900"/>
            <a:chOff x="624" y="3552"/>
            <a:chExt cx="4704" cy="288"/>
          </a:xfrm>
        </p:grpSpPr>
        <p:sp>
          <p:nvSpPr>
            <p:cNvPr id="328" name="Google Shape;328;p35"/>
            <p:cNvSpPr/>
            <p:nvPr/>
          </p:nvSpPr>
          <p:spPr>
            <a:xfrm>
              <a:off x="624" y="3552"/>
              <a:ext cx="4704" cy="288"/>
            </a:xfrm>
            <a:prstGeom prst="roundRect">
              <a:avLst>
                <a:gd fmla="val 5917"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329" name="Google Shape;329;p35"/>
            <p:cNvSpPr txBox="1"/>
            <p:nvPr/>
          </p:nvSpPr>
          <p:spPr>
            <a:xfrm>
              <a:off x="722" y="3594"/>
              <a:ext cx="4549" cy="212"/>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000"/>
                <a:buFont typeface="Courier New"/>
                <a:buNone/>
              </a:pPr>
              <a:r>
                <a:rPr b="1" lang="es-AR" sz="2000">
                  <a:solidFill>
                    <a:schemeClr val="dk1"/>
                  </a:solidFill>
                  <a:latin typeface="Courier New"/>
                  <a:ea typeface="Courier New"/>
                  <a:cs typeface="Courier New"/>
                  <a:sym typeface="Courier New"/>
                </a:rPr>
                <a:t>alu = leerAlumno();</a:t>
              </a:r>
              <a:endParaRPr b="1" sz="2000">
                <a:solidFill>
                  <a:schemeClr val="dk1"/>
                </a:solidFill>
                <a:latin typeface="Courier New"/>
                <a:ea typeface="Courier New"/>
                <a:cs typeface="Courier New"/>
                <a:sym typeface="Courier New"/>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6"/>
          <p:cNvSpPr txBox="1"/>
          <p:nvPr>
            <p:ph type="title"/>
          </p:nvPr>
        </p:nvSpPr>
        <p:spPr>
          <a:xfrm>
            <a:off x="381000" y="133350"/>
            <a:ext cx="8458200" cy="514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i="1" lang="es-AR" sz="3600"/>
              <a:t>Las estructuras como unidad NO pueden ...</a:t>
            </a:r>
            <a:endParaRPr/>
          </a:p>
        </p:txBody>
      </p:sp>
      <p:sp>
        <p:nvSpPr>
          <p:cNvPr id="335" name="Google Shape;335;p36"/>
          <p:cNvSpPr txBox="1"/>
          <p:nvPr/>
        </p:nvSpPr>
        <p:spPr>
          <a:xfrm>
            <a:off x="533400" y="742950"/>
            <a:ext cx="6324600" cy="342900"/>
          </a:xfrm>
          <a:prstGeom prst="rect">
            <a:avLst/>
          </a:prstGeom>
          <a:noFill/>
          <a:ln>
            <a:noFill/>
          </a:ln>
        </p:spPr>
        <p:txBody>
          <a:bodyPr anchorCtr="0" anchor="t" bIns="45700" lIns="91425" spcFirstLastPara="1" rIns="91425" wrap="square" tIns="45700">
            <a:noAutofit/>
          </a:bodyPr>
          <a:lstStyle/>
          <a:p>
            <a:pPr indent="-152400" lvl="0" marL="0" marR="0" rtl="0" algn="l">
              <a:spcBef>
                <a:spcPts val="0"/>
              </a:spcBef>
              <a:spcAft>
                <a:spcPts val="0"/>
              </a:spcAft>
              <a:buClr>
                <a:srgbClr val="CC0066"/>
              </a:buClr>
              <a:buSzPts val="2400"/>
              <a:buFont typeface="Noto Sans Symbols"/>
              <a:buChar char="⮚"/>
            </a:pPr>
            <a:r>
              <a:rPr lang="es-AR" sz="2400">
                <a:solidFill>
                  <a:srgbClr val="CC0066"/>
                </a:solidFill>
                <a:latin typeface="Comic Sans MS"/>
                <a:ea typeface="Comic Sans MS"/>
                <a:cs typeface="Comic Sans MS"/>
                <a:sym typeface="Comic Sans MS"/>
              </a:rPr>
              <a:t> Ser comparadas</a:t>
            </a:r>
            <a:endParaRPr sz="700">
              <a:solidFill>
                <a:srgbClr val="CC0066"/>
              </a:solidFill>
              <a:latin typeface="Comic Sans MS"/>
              <a:ea typeface="Comic Sans MS"/>
              <a:cs typeface="Comic Sans MS"/>
              <a:sym typeface="Comic Sans MS"/>
            </a:endParaRPr>
          </a:p>
        </p:txBody>
      </p:sp>
      <p:grpSp>
        <p:nvGrpSpPr>
          <p:cNvPr id="336" name="Google Shape;336;p36"/>
          <p:cNvGrpSpPr/>
          <p:nvPr/>
        </p:nvGrpSpPr>
        <p:grpSpPr>
          <a:xfrm>
            <a:off x="1828800" y="1257300"/>
            <a:ext cx="6667500" cy="2953659"/>
            <a:chOff x="576" y="1248"/>
            <a:chExt cx="4200" cy="2100"/>
          </a:xfrm>
        </p:grpSpPr>
        <p:sp>
          <p:nvSpPr>
            <p:cNvPr id="337" name="Google Shape;337;p36"/>
            <p:cNvSpPr/>
            <p:nvPr/>
          </p:nvSpPr>
          <p:spPr>
            <a:xfrm>
              <a:off x="576" y="1248"/>
              <a:ext cx="4200" cy="2100"/>
            </a:xfrm>
            <a:prstGeom prst="roundRect">
              <a:avLst>
                <a:gd fmla="val 5917"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338" name="Google Shape;338;p36"/>
            <p:cNvSpPr txBox="1"/>
            <p:nvPr/>
          </p:nvSpPr>
          <p:spPr>
            <a:xfrm>
              <a:off x="672" y="1299"/>
              <a:ext cx="3984" cy="194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000"/>
                <a:buFont typeface="Courier New"/>
                <a:buNone/>
              </a:pPr>
              <a:r>
                <a:rPr b="1" lang="es-AR" sz="2000">
                  <a:solidFill>
                    <a:schemeClr val="dk1"/>
                  </a:solidFill>
                  <a:latin typeface="Courier New"/>
                  <a:ea typeface="Courier New"/>
                  <a:cs typeface="Courier New"/>
                  <a:sym typeface="Courier New"/>
                </a:rPr>
                <a:t>typedef struct {</a:t>
              </a:r>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urier New"/>
                  <a:ea typeface="Courier New"/>
                  <a:cs typeface="Courier New"/>
                  <a:sym typeface="Courier New"/>
                </a:rPr>
                <a:t>	char 	nombre[30];</a:t>
              </a:r>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urier New"/>
                  <a:ea typeface="Courier New"/>
                  <a:cs typeface="Courier New"/>
                  <a:sym typeface="Courier New"/>
                </a:rPr>
                <a:t>	int 	legajo;</a:t>
              </a:r>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urier New"/>
                  <a:ea typeface="Courier New"/>
                  <a:cs typeface="Courier New"/>
                  <a:sym typeface="Courier New"/>
                </a:rPr>
                <a:t>} tipoAlumno;</a:t>
              </a:r>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urier New"/>
                  <a:ea typeface="Courier New"/>
                  <a:cs typeface="Courier New"/>
                  <a:sym typeface="Courier New"/>
                </a:rPr>
                <a:t>tipoAlumno alu1 = {"Juan Perez",39205};</a:t>
              </a:r>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urier New"/>
                  <a:ea typeface="Courier New"/>
                  <a:cs typeface="Courier New"/>
                  <a:sym typeface="Courier New"/>
                </a:rPr>
                <a:t>tipoAlumno alu2 = {"Jose Garcia",38205};</a:t>
              </a:r>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urier New"/>
                  <a:ea typeface="Courier New"/>
                  <a:cs typeface="Courier New"/>
                  <a:sym typeface="Courier New"/>
                </a:rPr>
                <a:t>...</a:t>
              </a:r>
              <a:endParaRPr/>
            </a:p>
            <a:p>
              <a:pPr indent="0" lvl="0" marL="0" marR="0" rtl="0" algn="l">
                <a:lnSpc>
                  <a:spcPct val="80000"/>
                </a:lnSpc>
                <a:spcBef>
                  <a:spcPts val="400"/>
                </a:spcBef>
                <a:spcAft>
                  <a:spcPts val="0"/>
                </a:spcAft>
                <a:buClr>
                  <a:srgbClr val="FF3300"/>
                </a:buClr>
                <a:buSzPts val="2000"/>
                <a:buFont typeface="Courier New"/>
                <a:buNone/>
              </a:pPr>
              <a:r>
                <a:rPr b="1" lang="es-AR" sz="2000">
                  <a:solidFill>
                    <a:srgbClr val="FF3300"/>
                  </a:solidFill>
                  <a:latin typeface="Courier New"/>
                  <a:ea typeface="Courier New"/>
                  <a:cs typeface="Courier New"/>
                  <a:sym typeface="Courier New"/>
                </a:rPr>
                <a:t>if (alu1 == alu2)</a:t>
              </a:r>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urier New"/>
                  <a:ea typeface="Courier New"/>
                  <a:cs typeface="Courier New"/>
                  <a:sym typeface="Courier New"/>
                </a:rPr>
                <a:t>	...</a:t>
              </a:r>
              <a:endParaRPr/>
            </a:p>
            <a:p>
              <a:pPr indent="0" lvl="0" marL="0" marR="0" rtl="0" algn="l">
                <a:lnSpc>
                  <a:spcPct val="80000"/>
                </a:lnSpc>
                <a:spcBef>
                  <a:spcPts val="400"/>
                </a:spcBef>
                <a:spcAft>
                  <a:spcPts val="0"/>
                </a:spcAft>
                <a:buClr>
                  <a:schemeClr val="dk1"/>
                </a:buClr>
                <a:buSzPts val="2000"/>
                <a:buFont typeface="Times New Roman"/>
                <a:buNone/>
              </a:pPr>
              <a:r>
                <a:t/>
              </a:r>
              <a:endParaRPr b="1" sz="2000">
                <a:solidFill>
                  <a:schemeClr val="dk1"/>
                </a:solidFill>
                <a:latin typeface="Courier New"/>
                <a:ea typeface="Courier New"/>
                <a:cs typeface="Courier New"/>
                <a:sym typeface="Courier New"/>
              </a:endParaRPr>
            </a:p>
          </p:txBody>
        </p:sp>
      </p:grpSp>
      <p:sp>
        <p:nvSpPr>
          <p:cNvPr id="339" name="Google Shape;339;p36"/>
          <p:cNvSpPr/>
          <p:nvPr/>
        </p:nvSpPr>
        <p:spPr>
          <a:xfrm>
            <a:off x="2895600" y="4277325"/>
            <a:ext cx="4343396" cy="656036"/>
          </a:xfrm>
          <a:prstGeom prst="rect">
            <a:avLst/>
          </a:prstGeom>
        </p:spPr>
        <p:txBody>
          <a:bodyPr>
            <a:prstTxWarp prst="textPlain"/>
          </a:bodyPr>
          <a:lstStyle/>
          <a:p>
            <a:pPr lvl="0" algn="ctr"/>
            <a:r>
              <a:rPr b="0" i="0">
                <a:ln>
                  <a:noFill/>
                </a:ln>
                <a:gradFill>
                  <a:gsLst>
                    <a:gs pos="0">
                      <a:srgbClr val="FFE701"/>
                    </a:gs>
                    <a:gs pos="100000">
                      <a:srgbClr val="FE3E02"/>
                    </a:gs>
                  </a:gsLst>
                  <a:lin ang="5400000" scaled="0"/>
                </a:gradFill>
                <a:latin typeface="Impact"/>
              </a:rPr>
              <a:t>¿ Por qué ?</a:t>
            </a:r>
          </a:p>
        </p:txBody>
      </p:sp>
      <p:pic>
        <p:nvPicPr>
          <p:cNvPr descr="POLICE03" id="340" name="Google Shape;340;p36"/>
          <p:cNvPicPr preferRelativeResize="0"/>
          <p:nvPr/>
        </p:nvPicPr>
        <p:blipFill rotWithShape="1">
          <a:blip r:embed="rId3">
            <a:alphaModFix/>
          </a:blip>
          <a:srcRect b="0" l="0" r="0" t="0"/>
          <a:stretch/>
        </p:blipFill>
        <p:spPr>
          <a:xfrm>
            <a:off x="381000" y="2743200"/>
            <a:ext cx="1200151" cy="18288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7"/>
          <p:cNvSpPr txBox="1"/>
          <p:nvPr>
            <p:ph type="title"/>
          </p:nvPr>
        </p:nvSpPr>
        <p:spPr>
          <a:xfrm>
            <a:off x="143925" y="133350"/>
            <a:ext cx="8726400" cy="509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i="1" lang="es-AR" sz="3400"/>
              <a:t>Almacenamiento de una estructura en memoria</a:t>
            </a:r>
            <a:endParaRPr b="1" i="1" sz="3400"/>
          </a:p>
        </p:txBody>
      </p:sp>
      <p:sp>
        <p:nvSpPr>
          <p:cNvPr id="346" name="Google Shape;346;p37"/>
          <p:cNvSpPr txBox="1"/>
          <p:nvPr/>
        </p:nvSpPr>
        <p:spPr>
          <a:xfrm>
            <a:off x="228600" y="647700"/>
            <a:ext cx="8490300" cy="890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accent2"/>
              </a:buClr>
              <a:buSzPts val="2400"/>
              <a:buFont typeface="Comic Sans MS"/>
              <a:buNone/>
            </a:pPr>
            <a:r>
              <a:rPr b="1" lang="es-AR" sz="2400">
                <a:solidFill>
                  <a:schemeClr val="accent2"/>
                </a:solidFill>
                <a:latin typeface="Comic Sans MS"/>
                <a:ea typeface="Comic Sans MS"/>
                <a:cs typeface="Comic Sans MS"/>
                <a:sym typeface="Comic Sans MS"/>
              </a:rPr>
              <a:t>Se almacenan sus campos en forma contigua siguiendo el orden de la declaración pero pueden quedar espacios vacíos entre ellos debido al </a:t>
            </a:r>
            <a:r>
              <a:rPr b="1" lang="es-AR" sz="2400" u="sng">
                <a:solidFill>
                  <a:schemeClr val="accent2"/>
                </a:solidFill>
                <a:latin typeface="Comic Sans MS"/>
                <a:ea typeface="Comic Sans MS"/>
                <a:cs typeface="Comic Sans MS"/>
                <a:sym typeface="Comic Sans MS"/>
              </a:rPr>
              <a:t>alineamiento</a:t>
            </a:r>
            <a:endParaRPr b="1" sz="2400" u="sng">
              <a:solidFill>
                <a:schemeClr val="accent2"/>
              </a:solidFill>
              <a:latin typeface="Comic Sans MS"/>
              <a:ea typeface="Comic Sans MS"/>
              <a:cs typeface="Comic Sans MS"/>
              <a:sym typeface="Comic Sans MS"/>
            </a:endParaRPr>
          </a:p>
        </p:txBody>
      </p:sp>
      <p:grpSp>
        <p:nvGrpSpPr>
          <p:cNvPr id="347" name="Google Shape;347;p37"/>
          <p:cNvGrpSpPr/>
          <p:nvPr/>
        </p:nvGrpSpPr>
        <p:grpSpPr>
          <a:xfrm>
            <a:off x="304800" y="1856172"/>
            <a:ext cx="8305800" cy="2201475"/>
            <a:chOff x="144" y="2688"/>
            <a:chExt cx="2640" cy="1392"/>
          </a:xfrm>
        </p:grpSpPr>
        <p:sp>
          <p:nvSpPr>
            <p:cNvPr id="348" name="Google Shape;348;p37"/>
            <p:cNvSpPr/>
            <p:nvPr/>
          </p:nvSpPr>
          <p:spPr>
            <a:xfrm>
              <a:off x="144" y="2688"/>
              <a:ext cx="2640" cy="1392"/>
            </a:xfrm>
            <a:prstGeom prst="roundRect">
              <a:avLst>
                <a:gd fmla="val 5917"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349" name="Google Shape;349;p37"/>
            <p:cNvSpPr txBox="1"/>
            <p:nvPr/>
          </p:nvSpPr>
          <p:spPr>
            <a:xfrm>
              <a:off x="192" y="2754"/>
              <a:ext cx="2496" cy="1282"/>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200"/>
                <a:buFont typeface="Courier New"/>
                <a:buNone/>
              </a:pPr>
              <a:r>
                <a:rPr b="1" lang="es-AR" sz="2200">
                  <a:solidFill>
                    <a:schemeClr val="dk1"/>
                  </a:solidFill>
                  <a:latin typeface="Courier New"/>
                  <a:ea typeface="Courier New"/>
                  <a:cs typeface="Courier New"/>
                  <a:sym typeface="Courier New"/>
                </a:rPr>
                <a:t>struct tipoAlumno {</a:t>
              </a:r>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urier New"/>
                  <a:ea typeface="Courier New"/>
                  <a:cs typeface="Courier New"/>
                  <a:sym typeface="Courier New"/>
                </a:rPr>
                <a:t>	char 	nombre[25];</a:t>
              </a:r>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urier New"/>
                  <a:ea typeface="Courier New"/>
                  <a:cs typeface="Courier New"/>
                  <a:sym typeface="Courier New"/>
                </a:rPr>
                <a:t>	int legajo;</a:t>
              </a:r>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urier New"/>
                  <a:ea typeface="Courier New"/>
                  <a:cs typeface="Courier New"/>
                  <a:sym typeface="Courier New"/>
                </a:rPr>
                <a:t>	int anio;</a:t>
              </a:r>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urier New"/>
                  <a:ea typeface="Courier New"/>
                  <a:cs typeface="Courier New"/>
                  <a:sym typeface="Courier New"/>
                </a:rPr>
                <a:t>	char curso;</a:t>
              </a:r>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urier New"/>
                  <a:ea typeface="Courier New"/>
                  <a:cs typeface="Courier New"/>
                  <a:sym typeface="Courier New"/>
                </a:rPr>
                <a:t>};</a:t>
              </a:r>
              <a:endParaRPr b="1" sz="2200">
                <a:solidFill>
                  <a:schemeClr val="dk1"/>
                </a:solidFill>
                <a:latin typeface="Courier New"/>
                <a:ea typeface="Courier New"/>
                <a:cs typeface="Courier New"/>
                <a:sym typeface="Courier New"/>
              </a:endParaRPr>
            </a:p>
          </p:txBody>
        </p:sp>
      </p:grpSp>
      <p:grpSp>
        <p:nvGrpSpPr>
          <p:cNvPr id="350" name="Google Shape;350;p37"/>
          <p:cNvGrpSpPr/>
          <p:nvPr/>
        </p:nvGrpSpPr>
        <p:grpSpPr>
          <a:xfrm>
            <a:off x="3962400" y="2218135"/>
            <a:ext cx="3448050" cy="357188"/>
            <a:chOff x="2784" y="2183"/>
            <a:chExt cx="2172" cy="300"/>
          </a:xfrm>
        </p:grpSpPr>
        <p:cxnSp>
          <p:nvCxnSpPr>
            <p:cNvPr id="351" name="Google Shape;351;p37"/>
            <p:cNvCxnSpPr/>
            <p:nvPr/>
          </p:nvCxnSpPr>
          <p:spPr>
            <a:xfrm>
              <a:off x="2784" y="2391"/>
              <a:ext cx="768" cy="0"/>
            </a:xfrm>
            <a:prstGeom prst="straightConnector1">
              <a:avLst/>
            </a:prstGeom>
            <a:noFill/>
            <a:ln cap="flat" cmpd="sng" w="38100">
              <a:solidFill>
                <a:srgbClr val="FFCC00"/>
              </a:solidFill>
              <a:prstDash val="solid"/>
              <a:round/>
              <a:headEnd len="med" w="med" type="none"/>
              <a:tailEnd len="med" w="med" type="triangle"/>
            </a:ln>
          </p:spPr>
        </p:cxnSp>
        <p:sp>
          <p:nvSpPr>
            <p:cNvPr id="352" name="Google Shape;352;p37"/>
            <p:cNvSpPr txBox="1"/>
            <p:nvPr/>
          </p:nvSpPr>
          <p:spPr>
            <a:xfrm>
              <a:off x="3456" y="2183"/>
              <a:ext cx="1500" cy="3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C0066"/>
                </a:buClr>
                <a:buSzPts val="2400"/>
                <a:buFont typeface="Arial Black"/>
                <a:buNone/>
              </a:pPr>
              <a:r>
                <a:rPr lang="es-AR" sz="2400">
                  <a:solidFill>
                    <a:srgbClr val="CC0066"/>
                  </a:solidFill>
                  <a:latin typeface="Arial Black"/>
                  <a:ea typeface="Arial Black"/>
                  <a:cs typeface="Arial Black"/>
                  <a:sym typeface="Arial Black"/>
                </a:rPr>
                <a:t>25 bytes +</a:t>
              </a:r>
              <a:endParaRPr sz="2400">
                <a:solidFill>
                  <a:srgbClr val="CC0066"/>
                </a:solidFill>
                <a:latin typeface="Arial Black"/>
                <a:ea typeface="Arial Black"/>
                <a:cs typeface="Arial Black"/>
                <a:sym typeface="Arial Black"/>
              </a:endParaRPr>
            </a:p>
          </p:txBody>
        </p:sp>
      </p:grpSp>
      <p:grpSp>
        <p:nvGrpSpPr>
          <p:cNvPr id="353" name="Google Shape;353;p37"/>
          <p:cNvGrpSpPr/>
          <p:nvPr/>
        </p:nvGrpSpPr>
        <p:grpSpPr>
          <a:xfrm>
            <a:off x="3781425" y="2609850"/>
            <a:ext cx="3276600" cy="342900"/>
            <a:chOff x="2190" y="2448"/>
            <a:chExt cx="2064" cy="288"/>
          </a:xfrm>
        </p:grpSpPr>
        <p:cxnSp>
          <p:nvCxnSpPr>
            <p:cNvPr id="354" name="Google Shape;354;p37"/>
            <p:cNvCxnSpPr/>
            <p:nvPr/>
          </p:nvCxnSpPr>
          <p:spPr>
            <a:xfrm>
              <a:off x="2190" y="2592"/>
              <a:ext cx="768" cy="0"/>
            </a:xfrm>
            <a:prstGeom prst="straightConnector1">
              <a:avLst/>
            </a:prstGeom>
            <a:noFill/>
            <a:ln cap="flat" cmpd="sng" w="38100">
              <a:solidFill>
                <a:srgbClr val="FFCC00"/>
              </a:solidFill>
              <a:prstDash val="solid"/>
              <a:round/>
              <a:headEnd len="med" w="med" type="none"/>
              <a:tailEnd len="med" w="med" type="triangle"/>
            </a:ln>
          </p:spPr>
        </p:cxnSp>
        <p:sp>
          <p:nvSpPr>
            <p:cNvPr id="355" name="Google Shape;355;p37"/>
            <p:cNvSpPr txBox="1"/>
            <p:nvPr/>
          </p:nvSpPr>
          <p:spPr>
            <a:xfrm>
              <a:off x="2862" y="2448"/>
              <a:ext cx="1392" cy="28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C0066"/>
                </a:buClr>
                <a:buSzPts val="2400"/>
                <a:buFont typeface="Arial Black"/>
                <a:buNone/>
              </a:pPr>
              <a:r>
                <a:rPr lang="es-AR" sz="2400">
                  <a:solidFill>
                    <a:srgbClr val="CC0066"/>
                  </a:solidFill>
                  <a:latin typeface="Arial Black"/>
                  <a:ea typeface="Arial Black"/>
                  <a:cs typeface="Arial Black"/>
                  <a:sym typeface="Arial Black"/>
                </a:rPr>
                <a:t>4 bytes +</a:t>
              </a:r>
              <a:endParaRPr sz="2400">
                <a:solidFill>
                  <a:srgbClr val="CC0066"/>
                </a:solidFill>
                <a:latin typeface="Arial Black"/>
                <a:ea typeface="Arial Black"/>
                <a:cs typeface="Arial Black"/>
                <a:sym typeface="Arial Black"/>
              </a:endParaRPr>
            </a:p>
          </p:txBody>
        </p:sp>
      </p:grpSp>
      <p:grpSp>
        <p:nvGrpSpPr>
          <p:cNvPr id="356" name="Google Shape;356;p37"/>
          <p:cNvGrpSpPr/>
          <p:nvPr/>
        </p:nvGrpSpPr>
        <p:grpSpPr>
          <a:xfrm>
            <a:off x="2971800" y="2884885"/>
            <a:ext cx="3276600" cy="342900"/>
            <a:chOff x="1920" y="2679"/>
            <a:chExt cx="2064" cy="288"/>
          </a:xfrm>
        </p:grpSpPr>
        <p:cxnSp>
          <p:nvCxnSpPr>
            <p:cNvPr id="357" name="Google Shape;357;p37"/>
            <p:cNvCxnSpPr/>
            <p:nvPr/>
          </p:nvCxnSpPr>
          <p:spPr>
            <a:xfrm>
              <a:off x="1920" y="2823"/>
              <a:ext cx="768" cy="0"/>
            </a:xfrm>
            <a:prstGeom prst="straightConnector1">
              <a:avLst/>
            </a:prstGeom>
            <a:noFill/>
            <a:ln cap="flat" cmpd="sng" w="38100">
              <a:solidFill>
                <a:srgbClr val="FFCC00"/>
              </a:solidFill>
              <a:prstDash val="solid"/>
              <a:round/>
              <a:headEnd len="med" w="med" type="none"/>
              <a:tailEnd len="med" w="med" type="triangle"/>
            </a:ln>
          </p:spPr>
        </p:cxnSp>
        <p:sp>
          <p:nvSpPr>
            <p:cNvPr id="358" name="Google Shape;358;p37"/>
            <p:cNvSpPr txBox="1"/>
            <p:nvPr/>
          </p:nvSpPr>
          <p:spPr>
            <a:xfrm>
              <a:off x="2592" y="2679"/>
              <a:ext cx="1392" cy="28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C0066"/>
                </a:buClr>
                <a:buSzPts val="2400"/>
                <a:buFont typeface="Arial Black"/>
                <a:buNone/>
              </a:pPr>
              <a:r>
                <a:rPr lang="es-AR" sz="2400">
                  <a:solidFill>
                    <a:srgbClr val="CC0066"/>
                  </a:solidFill>
                  <a:latin typeface="Arial Black"/>
                  <a:ea typeface="Arial Black"/>
                  <a:cs typeface="Arial Black"/>
                  <a:sym typeface="Arial Black"/>
                </a:rPr>
                <a:t>4 bytes +</a:t>
              </a:r>
              <a:endParaRPr sz="2400">
                <a:solidFill>
                  <a:srgbClr val="CC0066"/>
                </a:solidFill>
                <a:latin typeface="Arial Black"/>
                <a:ea typeface="Arial Black"/>
                <a:cs typeface="Arial Black"/>
                <a:sym typeface="Arial Black"/>
              </a:endParaRPr>
            </a:p>
          </p:txBody>
        </p:sp>
      </p:grpSp>
      <p:grpSp>
        <p:nvGrpSpPr>
          <p:cNvPr id="359" name="Google Shape;359;p37"/>
          <p:cNvGrpSpPr/>
          <p:nvPr/>
        </p:nvGrpSpPr>
        <p:grpSpPr>
          <a:xfrm>
            <a:off x="3257550" y="3287316"/>
            <a:ext cx="2762250" cy="342900"/>
            <a:chOff x="2100" y="2889"/>
            <a:chExt cx="1740" cy="288"/>
          </a:xfrm>
        </p:grpSpPr>
        <p:cxnSp>
          <p:nvCxnSpPr>
            <p:cNvPr id="360" name="Google Shape;360;p37"/>
            <p:cNvCxnSpPr/>
            <p:nvPr/>
          </p:nvCxnSpPr>
          <p:spPr>
            <a:xfrm>
              <a:off x="2100" y="3033"/>
              <a:ext cx="768" cy="0"/>
            </a:xfrm>
            <a:prstGeom prst="straightConnector1">
              <a:avLst/>
            </a:prstGeom>
            <a:noFill/>
            <a:ln cap="flat" cmpd="sng" w="38100">
              <a:solidFill>
                <a:srgbClr val="FFCC00"/>
              </a:solidFill>
              <a:prstDash val="solid"/>
              <a:round/>
              <a:headEnd len="med" w="med" type="none"/>
              <a:tailEnd len="med" w="med" type="triangle"/>
            </a:ln>
          </p:spPr>
        </p:cxnSp>
        <p:sp>
          <p:nvSpPr>
            <p:cNvPr id="361" name="Google Shape;361;p37"/>
            <p:cNvSpPr txBox="1"/>
            <p:nvPr/>
          </p:nvSpPr>
          <p:spPr>
            <a:xfrm>
              <a:off x="2772" y="2889"/>
              <a:ext cx="1068" cy="28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C0066"/>
                </a:buClr>
                <a:buSzPts val="2400"/>
                <a:buFont typeface="Arial Black"/>
                <a:buNone/>
              </a:pPr>
              <a:r>
                <a:rPr lang="es-AR" sz="2400">
                  <a:solidFill>
                    <a:srgbClr val="CC0066"/>
                  </a:solidFill>
                  <a:latin typeface="Arial Black"/>
                  <a:ea typeface="Arial Black"/>
                  <a:cs typeface="Arial Black"/>
                  <a:sym typeface="Arial Black"/>
                </a:rPr>
                <a:t>1 byte</a:t>
              </a:r>
              <a:endParaRPr sz="2400">
                <a:solidFill>
                  <a:srgbClr val="CC0066"/>
                </a:solidFill>
                <a:latin typeface="Arial Black"/>
                <a:ea typeface="Arial Black"/>
                <a:cs typeface="Arial Black"/>
                <a:sym typeface="Arial Black"/>
              </a:endParaRPr>
            </a:p>
          </p:txBody>
        </p:sp>
      </p:grpSp>
      <p:sp>
        <p:nvSpPr>
          <p:cNvPr id="362" name="Google Shape;362;p37"/>
          <p:cNvSpPr txBox="1"/>
          <p:nvPr/>
        </p:nvSpPr>
        <p:spPr>
          <a:xfrm>
            <a:off x="4705350" y="3638550"/>
            <a:ext cx="3905100" cy="342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C0066"/>
              </a:buClr>
              <a:buSzPts val="2400"/>
              <a:buFont typeface="Arial Black"/>
              <a:buNone/>
            </a:pPr>
            <a:r>
              <a:rPr lang="es-AR" sz="2400">
                <a:solidFill>
                  <a:srgbClr val="CC0066"/>
                </a:solidFill>
                <a:latin typeface="Arial Black"/>
                <a:ea typeface="Arial Black"/>
                <a:cs typeface="Arial Black"/>
                <a:sym typeface="Arial Black"/>
              </a:rPr>
              <a:t>Total = 34 bytes</a:t>
            </a:r>
            <a:endParaRPr sz="2400">
              <a:solidFill>
                <a:srgbClr val="CC0066"/>
              </a:solidFill>
              <a:latin typeface="Arial Black"/>
              <a:ea typeface="Arial Black"/>
              <a:cs typeface="Arial Black"/>
              <a:sym typeface="Arial Black"/>
            </a:endParaRPr>
          </a:p>
        </p:txBody>
      </p:sp>
      <p:sp>
        <p:nvSpPr>
          <p:cNvPr id="363" name="Google Shape;363;p37"/>
          <p:cNvSpPr/>
          <p:nvPr/>
        </p:nvSpPr>
        <p:spPr>
          <a:xfrm>
            <a:off x="6400800" y="2944416"/>
            <a:ext cx="2438403" cy="656034"/>
          </a:xfrm>
          <a:prstGeom prst="rect">
            <a:avLst/>
          </a:prstGeom>
        </p:spPr>
        <p:txBody>
          <a:bodyPr>
            <a:prstTxWarp prst="textPlain"/>
          </a:bodyPr>
          <a:lstStyle/>
          <a:p>
            <a:pPr lvl="0" algn="ctr"/>
            <a:r>
              <a:rPr b="0" i="0">
                <a:ln>
                  <a:noFill/>
                </a:ln>
                <a:gradFill>
                  <a:gsLst>
                    <a:gs pos="0">
                      <a:srgbClr val="FFE701"/>
                    </a:gs>
                    <a:gs pos="100000">
                      <a:srgbClr val="FE3E02"/>
                    </a:gs>
                  </a:gsLst>
                  <a:lin ang="5400000" scaled="0"/>
                </a:gradFill>
                <a:latin typeface="Impact"/>
              </a:rPr>
              <a:t>Error !!!</a:t>
            </a:r>
          </a:p>
        </p:txBody>
      </p:sp>
      <p:sp>
        <p:nvSpPr>
          <p:cNvPr id="364" name="Google Shape;364;p37"/>
          <p:cNvSpPr txBox="1"/>
          <p:nvPr/>
        </p:nvSpPr>
        <p:spPr>
          <a:xfrm>
            <a:off x="228600" y="4171950"/>
            <a:ext cx="8610600" cy="616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800080"/>
              </a:buClr>
              <a:buSzPts val="2400"/>
              <a:buFont typeface="Comic Sans MS"/>
              <a:buNone/>
            </a:pPr>
            <a:r>
              <a:rPr lang="es-AR" sz="2400">
                <a:solidFill>
                  <a:srgbClr val="800080"/>
                </a:solidFill>
                <a:latin typeface="Comic Sans MS"/>
                <a:ea typeface="Comic Sans MS"/>
                <a:cs typeface="Comic Sans MS"/>
                <a:sym typeface="Comic Sans MS"/>
              </a:rPr>
              <a:t>Los campos se alinean a palabra, es decir que cada campo comienza en una posición de memoria múltiplo de la palabra</a:t>
            </a:r>
            <a:endParaRPr sz="2400">
              <a:solidFill>
                <a:srgbClr val="800080"/>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50"/>
                                        </p:tgtEl>
                                        <p:attrNameLst>
                                          <p:attrName>style.visibility</p:attrName>
                                        </p:attrNameLst>
                                      </p:cBhvr>
                                      <p:to>
                                        <p:strVal val="visible"/>
                                      </p:to>
                                    </p:set>
                                    <p:anim calcmode="lin" valueType="num">
                                      <p:cBhvr additive="base">
                                        <p:cTn dur="500"/>
                                        <p:tgtEl>
                                          <p:spTgt spid="35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53"/>
                                        </p:tgtEl>
                                        <p:attrNameLst>
                                          <p:attrName>style.visibility</p:attrName>
                                        </p:attrNameLst>
                                      </p:cBhvr>
                                      <p:to>
                                        <p:strVal val="visible"/>
                                      </p:to>
                                    </p:set>
                                    <p:anim calcmode="lin" valueType="num">
                                      <p:cBhvr additive="base">
                                        <p:cTn dur="500"/>
                                        <p:tgtEl>
                                          <p:spTgt spid="35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56"/>
                                        </p:tgtEl>
                                        <p:attrNameLst>
                                          <p:attrName>style.visibility</p:attrName>
                                        </p:attrNameLst>
                                      </p:cBhvr>
                                      <p:to>
                                        <p:strVal val="visible"/>
                                      </p:to>
                                    </p:set>
                                    <p:anim calcmode="lin" valueType="num">
                                      <p:cBhvr additive="base">
                                        <p:cTn dur="500"/>
                                        <p:tgtEl>
                                          <p:spTgt spid="35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59"/>
                                        </p:tgtEl>
                                        <p:attrNameLst>
                                          <p:attrName>style.visibility</p:attrName>
                                        </p:attrNameLst>
                                      </p:cBhvr>
                                      <p:to>
                                        <p:strVal val="visible"/>
                                      </p:to>
                                    </p:set>
                                    <p:anim calcmode="lin" valueType="num">
                                      <p:cBhvr additive="base">
                                        <p:cTn dur="500"/>
                                        <p:tgtEl>
                                          <p:spTgt spid="35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62"/>
                                        </p:tgtEl>
                                        <p:attrNameLst>
                                          <p:attrName>style.visibility</p:attrName>
                                        </p:attrNameLst>
                                      </p:cBhvr>
                                      <p:to>
                                        <p:strVal val="visible"/>
                                      </p:to>
                                    </p:set>
                                    <p:anim calcmode="lin" valueType="num">
                                      <p:cBhvr additive="base">
                                        <p:cTn dur="500"/>
                                        <p:tgtEl>
                                          <p:spTgt spid="362"/>
                                        </p:tgtEl>
                                        <p:attrNameLst>
                                          <p:attrName>ppt_w</p:attrName>
                                        </p:attrNameLst>
                                      </p:cBhvr>
                                      <p:tavLst>
                                        <p:tav fmla="" tm="0">
                                          <p:val>
                                            <p:strVal val="0"/>
                                          </p:val>
                                        </p:tav>
                                        <p:tav fmla="" tm="100000">
                                          <p:val>
                                            <p:strVal val="#ppt_w"/>
                                          </p:val>
                                        </p:tav>
                                      </p:tavLst>
                                    </p:anim>
                                    <p:anim calcmode="lin" valueType="num">
                                      <p:cBhvr additive="base">
                                        <p:cTn dur="500"/>
                                        <p:tgtEl>
                                          <p:spTgt spid="36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63"/>
                                        </p:tgtEl>
                                        <p:attrNameLst>
                                          <p:attrName>style.visibility</p:attrName>
                                        </p:attrNameLst>
                                      </p:cBhvr>
                                      <p:to>
                                        <p:strVal val="visible"/>
                                      </p:to>
                                    </p:set>
                                    <p:anim calcmode="lin" valueType="num">
                                      <p:cBhvr additive="base">
                                        <p:cTn dur="500"/>
                                        <p:tgtEl>
                                          <p:spTgt spid="363"/>
                                        </p:tgtEl>
                                        <p:attrNameLst>
                                          <p:attrName>ppt_w</p:attrName>
                                        </p:attrNameLst>
                                      </p:cBhvr>
                                      <p:tavLst>
                                        <p:tav fmla="" tm="0">
                                          <p:val>
                                            <p:strVal val="0"/>
                                          </p:val>
                                        </p:tav>
                                        <p:tav fmla="" tm="100000">
                                          <p:val>
                                            <p:strVal val="#ppt_w"/>
                                          </p:val>
                                        </p:tav>
                                      </p:tavLst>
                                    </p:anim>
                                    <p:anim calcmode="lin" valueType="num">
                                      <p:cBhvr additive="base">
                                        <p:cTn dur="500"/>
                                        <p:tgtEl>
                                          <p:spTgt spid="36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38"/>
          <p:cNvSpPr txBox="1"/>
          <p:nvPr>
            <p:ph type="title"/>
          </p:nvPr>
        </p:nvSpPr>
        <p:spPr>
          <a:xfrm>
            <a:off x="228600" y="209550"/>
            <a:ext cx="8604000" cy="4035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i="1" lang="es-AR" sz="3300"/>
              <a:t>Almacenamiento de una estructura en memoria</a:t>
            </a:r>
            <a:endParaRPr sz="4100"/>
          </a:p>
        </p:txBody>
      </p:sp>
      <p:grpSp>
        <p:nvGrpSpPr>
          <p:cNvPr id="370" name="Google Shape;370;p38"/>
          <p:cNvGrpSpPr/>
          <p:nvPr/>
        </p:nvGrpSpPr>
        <p:grpSpPr>
          <a:xfrm>
            <a:off x="304800" y="2732471"/>
            <a:ext cx="8305800" cy="2251950"/>
            <a:chOff x="144" y="2688"/>
            <a:chExt cx="2640" cy="1392"/>
          </a:xfrm>
        </p:grpSpPr>
        <p:sp>
          <p:nvSpPr>
            <p:cNvPr id="371" name="Google Shape;371;p38"/>
            <p:cNvSpPr/>
            <p:nvPr/>
          </p:nvSpPr>
          <p:spPr>
            <a:xfrm>
              <a:off x="144" y="2688"/>
              <a:ext cx="2640" cy="1392"/>
            </a:xfrm>
            <a:prstGeom prst="roundRect">
              <a:avLst>
                <a:gd fmla="val 5917"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372" name="Google Shape;372;p38"/>
            <p:cNvSpPr txBox="1"/>
            <p:nvPr/>
          </p:nvSpPr>
          <p:spPr>
            <a:xfrm>
              <a:off x="192" y="2754"/>
              <a:ext cx="2496" cy="1282"/>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200"/>
                <a:buFont typeface="Courier New"/>
                <a:buNone/>
              </a:pPr>
              <a:r>
                <a:rPr b="1" lang="es-AR" sz="2200">
                  <a:solidFill>
                    <a:schemeClr val="dk1"/>
                  </a:solidFill>
                  <a:latin typeface="Courier New"/>
                  <a:ea typeface="Courier New"/>
                  <a:cs typeface="Courier New"/>
                  <a:sym typeface="Courier New"/>
                </a:rPr>
                <a:t>struct tipoAlumno {</a:t>
              </a:r>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urier New"/>
                  <a:ea typeface="Courier New"/>
                  <a:cs typeface="Courier New"/>
                  <a:sym typeface="Courier New"/>
                </a:rPr>
                <a:t>	char 	nombre[25];</a:t>
              </a:r>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urier New"/>
                  <a:ea typeface="Courier New"/>
                  <a:cs typeface="Courier New"/>
                  <a:sym typeface="Courier New"/>
                </a:rPr>
                <a:t>	int legajo;</a:t>
              </a:r>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urier New"/>
                  <a:ea typeface="Courier New"/>
                  <a:cs typeface="Courier New"/>
                  <a:sym typeface="Courier New"/>
                </a:rPr>
                <a:t>	int anio;</a:t>
              </a:r>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urier New"/>
                  <a:ea typeface="Courier New"/>
                  <a:cs typeface="Courier New"/>
                  <a:sym typeface="Courier New"/>
                </a:rPr>
                <a:t>	char curso;</a:t>
              </a:r>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urier New"/>
                  <a:ea typeface="Courier New"/>
                  <a:cs typeface="Courier New"/>
                  <a:sym typeface="Courier New"/>
                </a:rPr>
                <a:t>};</a:t>
              </a:r>
              <a:endParaRPr b="1" sz="2200">
                <a:solidFill>
                  <a:schemeClr val="dk1"/>
                </a:solidFill>
                <a:latin typeface="Courier New"/>
                <a:ea typeface="Courier New"/>
                <a:cs typeface="Courier New"/>
                <a:sym typeface="Courier New"/>
              </a:endParaRPr>
            </a:p>
          </p:txBody>
        </p:sp>
      </p:grpSp>
      <p:grpSp>
        <p:nvGrpSpPr>
          <p:cNvPr id="373" name="Google Shape;373;p38"/>
          <p:cNvGrpSpPr/>
          <p:nvPr/>
        </p:nvGrpSpPr>
        <p:grpSpPr>
          <a:xfrm>
            <a:off x="4419600" y="3018235"/>
            <a:ext cx="3886200" cy="342900"/>
            <a:chOff x="2784" y="2919"/>
            <a:chExt cx="2448" cy="288"/>
          </a:xfrm>
        </p:grpSpPr>
        <p:cxnSp>
          <p:nvCxnSpPr>
            <p:cNvPr id="374" name="Google Shape;374;p38"/>
            <p:cNvCxnSpPr/>
            <p:nvPr/>
          </p:nvCxnSpPr>
          <p:spPr>
            <a:xfrm>
              <a:off x="2784" y="3063"/>
              <a:ext cx="768" cy="0"/>
            </a:xfrm>
            <a:prstGeom prst="straightConnector1">
              <a:avLst/>
            </a:prstGeom>
            <a:noFill/>
            <a:ln cap="flat" cmpd="sng" w="38100">
              <a:solidFill>
                <a:srgbClr val="FFCC00"/>
              </a:solidFill>
              <a:prstDash val="solid"/>
              <a:round/>
              <a:headEnd len="med" w="med" type="none"/>
              <a:tailEnd len="med" w="med" type="triangle"/>
            </a:ln>
          </p:spPr>
        </p:cxnSp>
        <p:sp>
          <p:nvSpPr>
            <p:cNvPr id="375" name="Google Shape;375;p38"/>
            <p:cNvSpPr txBox="1"/>
            <p:nvPr/>
          </p:nvSpPr>
          <p:spPr>
            <a:xfrm>
              <a:off x="3456" y="2919"/>
              <a:ext cx="1776" cy="28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C0066"/>
                </a:buClr>
                <a:buSzPts val="2400"/>
                <a:buFont typeface="Arial Black"/>
                <a:buNone/>
              </a:pPr>
              <a:r>
                <a:rPr lang="es-AR" sz="2400">
                  <a:solidFill>
                    <a:srgbClr val="CC0066"/>
                  </a:solidFill>
                  <a:latin typeface="Arial Black"/>
                  <a:ea typeface="Arial Black"/>
                  <a:cs typeface="Arial Black"/>
                  <a:sym typeface="Arial Black"/>
                </a:rPr>
                <a:t>25 + </a:t>
              </a:r>
              <a:r>
                <a:rPr lang="es-AR" sz="2400" u="sng">
                  <a:solidFill>
                    <a:srgbClr val="CC0066"/>
                  </a:solidFill>
                  <a:latin typeface="Arial Black"/>
                  <a:ea typeface="Arial Black"/>
                  <a:cs typeface="Arial Black"/>
                  <a:sym typeface="Arial Black"/>
                </a:rPr>
                <a:t>3 bytes</a:t>
              </a:r>
              <a:r>
                <a:rPr lang="es-AR" sz="2400">
                  <a:solidFill>
                    <a:srgbClr val="CC0066"/>
                  </a:solidFill>
                  <a:latin typeface="Arial Black"/>
                  <a:ea typeface="Arial Black"/>
                  <a:cs typeface="Arial Black"/>
                  <a:sym typeface="Arial Black"/>
                </a:rPr>
                <a:t> +</a:t>
              </a:r>
              <a:endParaRPr sz="2400">
                <a:solidFill>
                  <a:srgbClr val="CC0066"/>
                </a:solidFill>
                <a:latin typeface="Arial Black"/>
                <a:ea typeface="Arial Black"/>
                <a:cs typeface="Arial Black"/>
                <a:sym typeface="Arial Black"/>
              </a:endParaRPr>
            </a:p>
          </p:txBody>
        </p:sp>
      </p:grpSp>
      <p:grpSp>
        <p:nvGrpSpPr>
          <p:cNvPr id="376" name="Google Shape;376;p38"/>
          <p:cNvGrpSpPr/>
          <p:nvPr/>
        </p:nvGrpSpPr>
        <p:grpSpPr>
          <a:xfrm>
            <a:off x="3476625" y="3409950"/>
            <a:ext cx="3276600" cy="342900"/>
            <a:chOff x="2190" y="2448"/>
            <a:chExt cx="2064" cy="288"/>
          </a:xfrm>
        </p:grpSpPr>
        <p:cxnSp>
          <p:nvCxnSpPr>
            <p:cNvPr id="377" name="Google Shape;377;p38"/>
            <p:cNvCxnSpPr/>
            <p:nvPr/>
          </p:nvCxnSpPr>
          <p:spPr>
            <a:xfrm>
              <a:off x="2190" y="2592"/>
              <a:ext cx="768" cy="0"/>
            </a:xfrm>
            <a:prstGeom prst="straightConnector1">
              <a:avLst/>
            </a:prstGeom>
            <a:noFill/>
            <a:ln cap="flat" cmpd="sng" w="38100">
              <a:solidFill>
                <a:srgbClr val="FFCC00"/>
              </a:solidFill>
              <a:prstDash val="solid"/>
              <a:round/>
              <a:headEnd len="med" w="med" type="none"/>
              <a:tailEnd len="med" w="med" type="triangle"/>
            </a:ln>
          </p:spPr>
        </p:cxnSp>
        <p:sp>
          <p:nvSpPr>
            <p:cNvPr id="378" name="Google Shape;378;p38"/>
            <p:cNvSpPr txBox="1"/>
            <p:nvPr/>
          </p:nvSpPr>
          <p:spPr>
            <a:xfrm>
              <a:off x="2862" y="2448"/>
              <a:ext cx="1392" cy="28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C0066"/>
                </a:buClr>
                <a:buSzPts val="2400"/>
                <a:buFont typeface="Arial Black"/>
                <a:buNone/>
              </a:pPr>
              <a:r>
                <a:rPr lang="es-AR" sz="2400">
                  <a:solidFill>
                    <a:srgbClr val="CC0066"/>
                  </a:solidFill>
                  <a:latin typeface="Arial Black"/>
                  <a:ea typeface="Arial Black"/>
                  <a:cs typeface="Arial Black"/>
                  <a:sym typeface="Arial Black"/>
                </a:rPr>
                <a:t>4 bytes +</a:t>
              </a:r>
              <a:endParaRPr sz="2400">
                <a:solidFill>
                  <a:srgbClr val="CC0066"/>
                </a:solidFill>
                <a:latin typeface="Arial Black"/>
                <a:ea typeface="Arial Black"/>
                <a:cs typeface="Arial Black"/>
                <a:sym typeface="Arial Black"/>
              </a:endParaRPr>
            </a:p>
          </p:txBody>
        </p:sp>
      </p:grpSp>
      <p:grpSp>
        <p:nvGrpSpPr>
          <p:cNvPr id="379" name="Google Shape;379;p38"/>
          <p:cNvGrpSpPr/>
          <p:nvPr/>
        </p:nvGrpSpPr>
        <p:grpSpPr>
          <a:xfrm>
            <a:off x="3048000" y="3837385"/>
            <a:ext cx="3276600" cy="342900"/>
            <a:chOff x="1920" y="2679"/>
            <a:chExt cx="2064" cy="288"/>
          </a:xfrm>
        </p:grpSpPr>
        <p:cxnSp>
          <p:nvCxnSpPr>
            <p:cNvPr id="380" name="Google Shape;380;p38"/>
            <p:cNvCxnSpPr/>
            <p:nvPr/>
          </p:nvCxnSpPr>
          <p:spPr>
            <a:xfrm>
              <a:off x="1920" y="2823"/>
              <a:ext cx="768" cy="0"/>
            </a:xfrm>
            <a:prstGeom prst="straightConnector1">
              <a:avLst/>
            </a:prstGeom>
            <a:noFill/>
            <a:ln cap="flat" cmpd="sng" w="38100">
              <a:solidFill>
                <a:srgbClr val="FFCC00"/>
              </a:solidFill>
              <a:prstDash val="solid"/>
              <a:round/>
              <a:headEnd len="med" w="med" type="none"/>
              <a:tailEnd len="med" w="med" type="triangle"/>
            </a:ln>
          </p:spPr>
        </p:cxnSp>
        <p:sp>
          <p:nvSpPr>
            <p:cNvPr id="381" name="Google Shape;381;p38"/>
            <p:cNvSpPr txBox="1"/>
            <p:nvPr/>
          </p:nvSpPr>
          <p:spPr>
            <a:xfrm>
              <a:off x="2592" y="2679"/>
              <a:ext cx="1392" cy="28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C0066"/>
                </a:buClr>
                <a:buSzPts val="2400"/>
                <a:buFont typeface="Arial Black"/>
                <a:buNone/>
              </a:pPr>
              <a:r>
                <a:rPr lang="es-AR" sz="2400">
                  <a:solidFill>
                    <a:srgbClr val="CC0066"/>
                  </a:solidFill>
                  <a:latin typeface="Arial Black"/>
                  <a:ea typeface="Arial Black"/>
                  <a:cs typeface="Arial Black"/>
                  <a:sym typeface="Arial Black"/>
                </a:rPr>
                <a:t>4 bytes +</a:t>
              </a:r>
              <a:endParaRPr sz="2400">
                <a:solidFill>
                  <a:srgbClr val="CC0066"/>
                </a:solidFill>
                <a:latin typeface="Arial Black"/>
                <a:ea typeface="Arial Black"/>
                <a:cs typeface="Arial Black"/>
                <a:sym typeface="Arial Black"/>
              </a:endParaRPr>
            </a:p>
          </p:txBody>
        </p:sp>
      </p:grpSp>
      <p:sp>
        <p:nvSpPr>
          <p:cNvPr id="382" name="Google Shape;382;p38"/>
          <p:cNvSpPr txBox="1"/>
          <p:nvPr/>
        </p:nvSpPr>
        <p:spPr>
          <a:xfrm>
            <a:off x="4705350" y="4514850"/>
            <a:ext cx="3905100" cy="342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C0066"/>
              </a:buClr>
              <a:buSzPts val="2400"/>
              <a:buFont typeface="Arial Black"/>
              <a:buNone/>
            </a:pPr>
            <a:r>
              <a:rPr lang="es-AR" sz="2400">
                <a:solidFill>
                  <a:srgbClr val="CC0066"/>
                </a:solidFill>
                <a:latin typeface="Arial Black"/>
                <a:ea typeface="Arial Black"/>
                <a:cs typeface="Arial Black"/>
                <a:sym typeface="Arial Black"/>
              </a:rPr>
              <a:t>Total = 40 bytes</a:t>
            </a:r>
            <a:endParaRPr sz="2400">
              <a:solidFill>
                <a:srgbClr val="CC0066"/>
              </a:solidFill>
              <a:latin typeface="Arial Black"/>
              <a:ea typeface="Arial Black"/>
              <a:cs typeface="Arial Black"/>
              <a:sym typeface="Arial Black"/>
            </a:endParaRPr>
          </a:p>
        </p:txBody>
      </p:sp>
      <p:graphicFrame>
        <p:nvGraphicFramePr>
          <p:cNvPr id="383" name="Google Shape;383;p38"/>
          <p:cNvGraphicFramePr/>
          <p:nvPr/>
        </p:nvGraphicFramePr>
        <p:xfrm>
          <a:off x="228600" y="738188"/>
          <a:ext cx="3000000" cy="3000000"/>
        </p:xfrm>
        <a:graphic>
          <a:graphicData uri="http://schemas.openxmlformats.org/drawingml/2006/table">
            <a:tbl>
              <a:tblPr>
                <a:noFill/>
                <a:tableStyleId>{9227C4BA-BEBC-4B85-A6AE-D0DD03BA919B}</a:tableStyleId>
              </a:tblPr>
              <a:tblGrid>
                <a:gridCol w="542925"/>
                <a:gridCol w="542925"/>
                <a:gridCol w="542925"/>
                <a:gridCol w="542925"/>
                <a:gridCol w="542925"/>
                <a:gridCol w="542925"/>
                <a:gridCol w="542925"/>
                <a:gridCol w="542925"/>
                <a:gridCol w="542925"/>
                <a:gridCol w="542925"/>
                <a:gridCol w="542925"/>
                <a:gridCol w="504825"/>
                <a:gridCol w="581025"/>
                <a:gridCol w="542925"/>
                <a:gridCol w="542925"/>
                <a:gridCol w="542925"/>
              </a:tblGrid>
              <a:tr h="281075">
                <a:tc gridSpan="2">
                  <a:txBody>
                    <a:bodyPr/>
                    <a:lstStyle/>
                    <a:p>
                      <a:pPr indent="0" lvl="0" marL="0" marR="0" rtl="0" algn="l">
                        <a:lnSpc>
                          <a:spcPct val="100000"/>
                        </a:lnSpc>
                        <a:spcBef>
                          <a:spcPts val="0"/>
                        </a:spcBef>
                        <a:spcAft>
                          <a:spcPts val="0"/>
                        </a:spcAft>
                        <a:buClr>
                          <a:schemeClr val="dk1"/>
                        </a:buClr>
                        <a:buSzPts val="1400"/>
                        <a:buFont typeface="Times New Roman"/>
                        <a:buNone/>
                      </a:pPr>
                      <a:r>
                        <a:rPr b="1" i="0" lang="es-AR" sz="1400" u="none" cap="none" strike="noStrike">
                          <a:solidFill>
                            <a:schemeClr val="dk1"/>
                          </a:solidFill>
                          <a:latin typeface="Times New Roman"/>
                          <a:ea typeface="Times New Roman"/>
                          <a:cs typeface="Times New Roman"/>
                          <a:sym typeface="Times New Roman"/>
                        </a:rPr>
                        <a:t>$0FF0</a:t>
                      </a:r>
                      <a:endParaRPr b="1"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1400"/>
                        <a:buFont typeface="Times New Roman"/>
                        <a:buNone/>
                      </a:pPr>
                      <a:r>
                        <a:rPr b="1" i="0" lang="es-AR" sz="1400" u="none" cap="none" strike="noStrike">
                          <a:solidFill>
                            <a:schemeClr val="dk1"/>
                          </a:solidFill>
                          <a:latin typeface="Times New Roman"/>
                          <a:ea typeface="Times New Roman"/>
                          <a:cs typeface="Times New Roman"/>
                          <a:sym typeface="Times New Roman"/>
                        </a:rPr>
                        <a:t>$0FF2</a:t>
                      </a:r>
                      <a:endParaRPr b="1"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1400"/>
                        <a:buFont typeface="Times New Roman"/>
                        <a:buNone/>
                      </a:pPr>
                      <a:r>
                        <a:rPr b="1" i="0" lang="es-AR" sz="1400" u="none" cap="none" strike="noStrike">
                          <a:solidFill>
                            <a:schemeClr val="dk1"/>
                          </a:solidFill>
                          <a:latin typeface="Times New Roman"/>
                          <a:ea typeface="Times New Roman"/>
                          <a:cs typeface="Times New Roman"/>
                          <a:sym typeface="Times New Roman"/>
                        </a:rPr>
                        <a:t>$0FF4</a:t>
                      </a:r>
                      <a:endParaRPr b="1"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1400"/>
                        <a:buFont typeface="Times New Roman"/>
                        <a:buNone/>
                      </a:pPr>
                      <a:r>
                        <a:rPr b="1" i="0" lang="es-AR" sz="1400" u="none" cap="none" strike="noStrike">
                          <a:solidFill>
                            <a:schemeClr val="dk1"/>
                          </a:solidFill>
                          <a:latin typeface="Times New Roman"/>
                          <a:ea typeface="Times New Roman"/>
                          <a:cs typeface="Times New Roman"/>
                          <a:sym typeface="Times New Roman"/>
                        </a:rPr>
                        <a:t>$0FF6</a:t>
                      </a:r>
                      <a:endParaRPr b="1"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1400"/>
                        <a:buFont typeface="Times New Roman"/>
                        <a:buNone/>
                      </a:pPr>
                      <a:r>
                        <a:rPr b="1" i="0" lang="es-AR" sz="1400" u="none" cap="none" strike="noStrike">
                          <a:solidFill>
                            <a:schemeClr val="dk1"/>
                          </a:solidFill>
                          <a:latin typeface="Times New Roman"/>
                          <a:ea typeface="Times New Roman"/>
                          <a:cs typeface="Times New Roman"/>
                          <a:sym typeface="Times New Roman"/>
                        </a:rPr>
                        <a:t>$0FF8</a:t>
                      </a:r>
                      <a:endParaRPr b="1"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1400"/>
                        <a:buFont typeface="Times New Roman"/>
                        <a:buNone/>
                      </a:pPr>
                      <a:r>
                        <a:rPr b="1" i="0" lang="es-AR" sz="1400" u="none" cap="none" strike="noStrike">
                          <a:solidFill>
                            <a:schemeClr val="dk1"/>
                          </a:solidFill>
                          <a:latin typeface="Times New Roman"/>
                          <a:ea typeface="Times New Roman"/>
                          <a:cs typeface="Times New Roman"/>
                          <a:sym typeface="Times New Roman"/>
                        </a:rPr>
                        <a:t>$0FFA</a:t>
                      </a:r>
                      <a:endParaRPr b="1"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1400"/>
                        <a:buFont typeface="Times New Roman"/>
                        <a:buNone/>
                      </a:pPr>
                      <a:r>
                        <a:rPr b="1" i="0" lang="es-AR" sz="1400" u="none" cap="none" strike="noStrike">
                          <a:solidFill>
                            <a:schemeClr val="dk1"/>
                          </a:solidFill>
                          <a:latin typeface="Times New Roman"/>
                          <a:ea typeface="Times New Roman"/>
                          <a:cs typeface="Times New Roman"/>
                          <a:sym typeface="Times New Roman"/>
                        </a:rPr>
                        <a:t>$0FFC</a:t>
                      </a:r>
                      <a:endParaRPr b="1"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1400"/>
                        <a:buFont typeface="Times New Roman"/>
                        <a:buNone/>
                      </a:pPr>
                      <a:r>
                        <a:rPr b="1" i="0" lang="es-AR" sz="1400" u="none" cap="none" strike="noStrike">
                          <a:solidFill>
                            <a:schemeClr val="dk1"/>
                          </a:solidFill>
                          <a:latin typeface="Times New Roman"/>
                          <a:ea typeface="Times New Roman"/>
                          <a:cs typeface="Times New Roman"/>
                          <a:sym typeface="Times New Roman"/>
                        </a:rPr>
                        <a:t>$0FFE</a:t>
                      </a:r>
                      <a:endParaRPr b="1"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88725">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00CC00"/>
                        </a:gs>
                        <a:gs pos="100000">
                          <a:srgbClr val="00A900"/>
                        </a:gs>
                      </a:gsLst>
                      <a:path path="circle">
                        <a:fillToRect b="50%" l="50%" r="50%" t="50%"/>
                      </a:path>
                      <a:tileRect/>
                    </a:gra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00CC00"/>
                        </a:gs>
                        <a:gs pos="100000">
                          <a:srgbClr val="00A900"/>
                        </a:gs>
                      </a:gsLst>
                      <a:path path="circle">
                        <a:fillToRect b="50%" l="50%" r="50%" t="50%"/>
                      </a:path>
                      <a:tileRect/>
                    </a:gra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00CC00"/>
                        </a:gs>
                        <a:gs pos="100000">
                          <a:srgbClr val="00A900"/>
                        </a:gs>
                      </a:gsLst>
                      <a:path path="circle">
                        <a:fillToRect b="50%" l="50%" r="50%" t="50%"/>
                      </a:path>
                      <a:tileRect/>
                    </a:gra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00CC00"/>
                        </a:gs>
                        <a:gs pos="100000">
                          <a:srgbClr val="00A900"/>
                        </a:gs>
                      </a:gsLst>
                      <a:path path="circle">
                        <a:fillToRect b="50%" l="50%" r="50%" t="50%"/>
                      </a:path>
                      <a:tileRect/>
                    </a:gra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00CC00"/>
                        </a:gs>
                        <a:gs pos="100000">
                          <a:srgbClr val="00A900"/>
                        </a:gs>
                      </a:gsLst>
                      <a:path path="circle">
                        <a:fillToRect b="50%" l="50%" r="50%" t="50%"/>
                      </a:path>
                      <a:tileRect/>
                    </a:gra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00CC00"/>
                        </a:gs>
                        <a:gs pos="100000">
                          <a:srgbClr val="00A900"/>
                        </a:gs>
                      </a:gsLst>
                      <a:path path="circle">
                        <a:fillToRect b="50%" l="50%" r="50%" t="50%"/>
                      </a:path>
                      <a:tileRect/>
                    </a:gra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00CC00"/>
                        </a:gs>
                        <a:gs pos="100000">
                          <a:srgbClr val="00A900"/>
                        </a:gs>
                      </a:gsLst>
                      <a:path path="circle">
                        <a:fillToRect b="50%" l="50%" r="50%" t="50%"/>
                      </a:path>
                      <a:tileRect/>
                    </a:gra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00CC00"/>
                        </a:gs>
                        <a:gs pos="100000">
                          <a:srgbClr val="00A900"/>
                        </a:gs>
                      </a:gsLst>
                      <a:path path="circle">
                        <a:fillToRect b="50%" l="50%" r="50%" t="50%"/>
                      </a:path>
                      <a:tileRect/>
                    </a:gradFill>
                  </a:tcPr>
                </a:tc>
              </a:tr>
              <a:tr h="388725">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00CC00"/>
                        </a:gs>
                        <a:gs pos="100000">
                          <a:srgbClr val="00A900"/>
                        </a:gs>
                      </a:gsLst>
                      <a:path path="circle">
                        <a:fillToRect b="50%" l="50%" r="50%" t="50%"/>
                      </a:path>
                      <a:tileRect/>
                    </a:gra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00CC00"/>
                        </a:gs>
                        <a:gs pos="100000">
                          <a:srgbClr val="00A900"/>
                        </a:gs>
                      </a:gsLst>
                      <a:path path="circle">
                        <a:fillToRect b="50%" l="50%" r="50%" t="50%"/>
                      </a:path>
                      <a:tileRect/>
                    </a:gra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00CC00"/>
                        </a:gs>
                        <a:gs pos="100000">
                          <a:srgbClr val="00A900"/>
                        </a:gs>
                      </a:gsLst>
                      <a:path path="circle">
                        <a:fillToRect b="50%" l="50%" r="50%" t="50%"/>
                      </a:path>
                      <a:tileRect/>
                    </a:gra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00CC00"/>
                        </a:gs>
                        <a:gs pos="100000">
                          <a:srgbClr val="00A900"/>
                        </a:gs>
                      </a:gsLst>
                      <a:path path="circle">
                        <a:fillToRect b="50%" l="50%" r="50%" t="50%"/>
                      </a:path>
                      <a:tileRect/>
                    </a:gra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00CC00"/>
                        </a:gs>
                        <a:gs pos="100000">
                          <a:srgbClr val="00A900"/>
                        </a:gs>
                      </a:gsLst>
                      <a:path path="circle">
                        <a:fillToRect b="50%" l="50%" r="50%" t="50%"/>
                      </a:path>
                      <a:tileRect/>
                    </a:gra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00CC00"/>
                        </a:gs>
                        <a:gs pos="100000">
                          <a:srgbClr val="00A900"/>
                        </a:gs>
                      </a:gsLst>
                      <a:path path="circle">
                        <a:fillToRect b="50%" l="50%" r="50%" t="50%"/>
                      </a:path>
                      <a:tileRect/>
                    </a:gra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00CC00"/>
                        </a:gs>
                        <a:gs pos="100000">
                          <a:srgbClr val="00A900"/>
                        </a:gs>
                      </a:gsLst>
                      <a:path path="circle">
                        <a:fillToRect b="50%" l="50%" r="50%" t="50%"/>
                      </a:path>
                      <a:tileRect/>
                    </a:gra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00CC00"/>
                        </a:gs>
                        <a:gs pos="100000">
                          <a:srgbClr val="00A900"/>
                        </a:gs>
                      </a:gsLst>
                      <a:path path="circle">
                        <a:fillToRect b="50%" l="50%" r="50%" t="50%"/>
                      </a:path>
                      <a:tileRect/>
                    </a:gra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00CC00"/>
                        </a:gs>
                        <a:gs pos="100000">
                          <a:srgbClr val="00A900"/>
                        </a:gs>
                      </a:gsLst>
                      <a:path path="circle">
                        <a:fillToRect b="50%" l="50%" r="50%" t="50%"/>
                      </a:path>
                      <a:tileRect/>
                    </a:gra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00CC00"/>
                        </a:gs>
                        <a:gs pos="100000">
                          <a:srgbClr val="00A900"/>
                        </a:gs>
                      </a:gsLst>
                      <a:path path="circle">
                        <a:fillToRect b="50%" l="50%" r="50%" t="50%"/>
                      </a:path>
                      <a:tileRect/>
                    </a:gra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00CC00"/>
                        </a:gs>
                        <a:gs pos="100000">
                          <a:srgbClr val="00A900"/>
                        </a:gs>
                      </a:gsLst>
                      <a:path path="circle">
                        <a:fillToRect b="50%" l="50%" r="50%" t="50%"/>
                      </a:path>
                      <a:tileRect/>
                    </a:gra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00CC00"/>
                        </a:gs>
                        <a:gs pos="100000">
                          <a:srgbClr val="00A900"/>
                        </a:gs>
                      </a:gsLst>
                      <a:path path="circle">
                        <a:fillToRect b="50%" l="50%" r="50%" t="50%"/>
                      </a:path>
                      <a:tileRect/>
                    </a:gra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00CC00"/>
                        </a:gs>
                        <a:gs pos="100000">
                          <a:srgbClr val="00A900"/>
                        </a:gs>
                      </a:gsLst>
                      <a:path path="circle">
                        <a:fillToRect b="50%" l="50%" r="50%" t="50%"/>
                      </a:path>
                      <a:tileRect/>
                    </a:gra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00CC00"/>
                        </a:gs>
                        <a:gs pos="100000">
                          <a:srgbClr val="00A900"/>
                        </a:gs>
                      </a:gsLst>
                      <a:path path="circle">
                        <a:fillToRect b="50%" l="50%" r="50%" t="50%"/>
                      </a:path>
                      <a:tileRect/>
                    </a:gra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00CC00"/>
                        </a:gs>
                        <a:gs pos="100000">
                          <a:srgbClr val="00A900"/>
                        </a:gs>
                      </a:gsLst>
                      <a:path path="circle">
                        <a:fillToRect b="50%" l="50%" r="50%" t="50%"/>
                      </a:path>
                      <a:tileRect/>
                    </a:gra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00CC00"/>
                        </a:gs>
                        <a:gs pos="100000">
                          <a:srgbClr val="00A900"/>
                        </a:gs>
                      </a:gsLst>
                      <a:path path="circle">
                        <a:fillToRect b="50%" l="50%" r="50%" t="50%"/>
                      </a:path>
                      <a:tileRect/>
                    </a:gradFill>
                  </a:tcPr>
                </a:tc>
              </a:tr>
              <a:tr h="388725">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00CC00"/>
                        </a:gs>
                        <a:gs pos="100000">
                          <a:srgbClr val="00A900"/>
                        </a:gs>
                      </a:gsLst>
                      <a:path path="circle">
                        <a:fillToRect b="50%" l="50%" r="50%" t="50%"/>
                      </a:path>
                      <a:tileRect/>
                    </a:gradFill>
                  </a:tcPr>
                </a:tc>
                <a:tc>
                  <a:txBody>
                    <a:bodyPr/>
                    <a:lstStyle/>
                    <a:p>
                      <a:pPr indent="0" lvl="0" marL="0" marR="0" rtl="0" algn="l">
                        <a:lnSpc>
                          <a:spcPct val="100000"/>
                        </a:lnSpc>
                        <a:spcBef>
                          <a:spcPts val="0"/>
                        </a:spcBef>
                        <a:spcAft>
                          <a:spcPts val="0"/>
                        </a:spcAft>
                        <a:buClr>
                          <a:schemeClr val="dk1"/>
                        </a:buClr>
                        <a:buSzPts val="2100"/>
                        <a:buFont typeface="Times New Roman"/>
                        <a:buNone/>
                      </a:pPr>
                      <a:r>
                        <a:rPr b="0" i="0" lang="es-AR" sz="2100" u="none" cap="none" strike="noStrike">
                          <a:solidFill>
                            <a:schemeClr val="dk1"/>
                          </a:solidFill>
                          <a:latin typeface="Times New Roman"/>
                          <a:ea typeface="Times New Roman"/>
                          <a:cs typeface="Times New Roman"/>
                          <a:sym typeface="Times New Roman"/>
                        </a:rPr>
                        <a:t>??</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l">
                        <a:lnSpc>
                          <a:spcPct val="100000"/>
                        </a:lnSpc>
                        <a:spcBef>
                          <a:spcPts val="0"/>
                        </a:spcBef>
                        <a:spcAft>
                          <a:spcPts val="0"/>
                        </a:spcAft>
                        <a:buClr>
                          <a:schemeClr val="dk1"/>
                        </a:buClr>
                        <a:buSzPts val="2100"/>
                        <a:buFont typeface="Times New Roman"/>
                        <a:buNone/>
                      </a:pPr>
                      <a:r>
                        <a:rPr b="0" i="0" lang="es-AR" sz="2100" u="none" cap="none" strike="noStrike">
                          <a:solidFill>
                            <a:schemeClr val="dk1"/>
                          </a:solidFill>
                          <a:latin typeface="Times New Roman"/>
                          <a:ea typeface="Times New Roman"/>
                          <a:cs typeface="Times New Roman"/>
                          <a:sym typeface="Times New Roman"/>
                        </a:rPr>
                        <a:t>??</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l">
                        <a:lnSpc>
                          <a:spcPct val="100000"/>
                        </a:lnSpc>
                        <a:spcBef>
                          <a:spcPts val="0"/>
                        </a:spcBef>
                        <a:spcAft>
                          <a:spcPts val="0"/>
                        </a:spcAft>
                        <a:buClr>
                          <a:schemeClr val="dk1"/>
                        </a:buClr>
                        <a:buSzPts val="2100"/>
                        <a:buFont typeface="Times New Roman"/>
                        <a:buNone/>
                      </a:pPr>
                      <a:r>
                        <a:rPr b="0" i="0" lang="es-AR" sz="2100" u="none" cap="none" strike="noStrike">
                          <a:solidFill>
                            <a:schemeClr val="dk1"/>
                          </a:solidFill>
                          <a:latin typeface="Times New Roman"/>
                          <a:ea typeface="Times New Roman"/>
                          <a:cs typeface="Times New Roman"/>
                          <a:sym typeface="Times New Roman"/>
                        </a:rPr>
                        <a:t>??</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CC0066"/>
                        </a:gs>
                        <a:gs pos="100000">
                          <a:srgbClr val="A90054"/>
                        </a:gs>
                      </a:gsLst>
                      <a:path path="circle">
                        <a:fillToRect b="50%" l="50%" r="50%" t="50%"/>
                      </a:path>
                      <a:tileRect/>
                    </a:gra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CC0066"/>
                        </a:gs>
                        <a:gs pos="100000">
                          <a:srgbClr val="A90054"/>
                        </a:gs>
                      </a:gsLst>
                      <a:path path="circle">
                        <a:fillToRect b="50%" l="50%" r="50%" t="50%"/>
                      </a:path>
                      <a:tileRect/>
                    </a:gra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CC0066"/>
                        </a:gs>
                        <a:gs pos="100000">
                          <a:srgbClr val="A90054"/>
                        </a:gs>
                      </a:gsLst>
                      <a:path path="circle">
                        <a:fillToRect b="50%" l="50%" r="50%" t="50%"/>
                      </a:path>
                      <a:tileRect/>
                    </a:gra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CC0066"/>
                        </a:gs>
                        <a:gs pos="100000">
                          <a:srgbClr val="A90054"/>
                        </a:gs>
                      </a:gsLst>
                      <a:path path="circle">
                        <a:fillToRect b="50%" l="50%" r="50%" t="50%"/>
                      </a:path>
                      <a:tileRect/>
                    </a:gra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99CCFF"/>
                        </a:gs>
                        <a:gs pos="100000">
                          <a:srgbClr val="7EA9D3"/>
                        </a:gs>
                      </a:gsLst>
                      <a:path path="circle">
                        <a:fillToRect b="50%" l="50%" r="50%" t="50%"/>
                      </a:path>
                      <a:tileRect/>
                    </a:gra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99CCFF"/>
                        </a:gs>
                        <a:gs pos="100000">
                          <a:srgbClr val="7EA9D3"/>
                        </a:gs>
                      </a:gsLst>
                      <a:path path="circle">
                        <a:fillToRect b="50%" l="50%" r="50%" t="50%"/>
                      </a:path>
                      <a:tileRect/>
                    </a:gra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99CCFF"/>
                        </a:gs>
                        <a:gs pos="100000">
                          <a:srgbClr val="7EA9D3"/>
                        </a:gs>
                      </a:gsLst>
                      <a:path path="circle">
                        <a:fillToRect b="50%" l="50%" r="50%" t="50%"/>
                      </a:path>
                      <a:tileRect/>
                    </a:gra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99CCFF"/>
                        </a:gs>
                        <a:gs pos="100000">
                          <a:srgbClr val="7EA9D3"/>
                        </a:gs>
                      </a:gsLst>
                      <a:path path="circle">
                        <a:fillToRect b="50%" l="50%" r="50%" t="50%"/>
                      </a:path>
                      <a:tileRect/>
                    </a:gra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FF00"/>
                        </a:gs>
                        <a:gs pos="100000">
                          <a:srgbClr val="D3D300"/>
                        </a:gs>
                      </a:gsLst>
                      <a:path path="circle">
                        <a:fillToRect b="50%" l="50%" r="50%" t="50%"/>
                      </a:path>
                      <a:tileRect/>
                    </a:gradFill>
                  </a:tcPr>
                </a:tc>
                <a:tc>
                  <a:txBody>
                    <a:bodyPr/>
                    <a:lstStyle/>
                    <a:p>
                      <a:pPr indent="0" lvl="0" marL="0" marR="0" rtl="0" algn="l">
                        <a:lnSpc>
                          <a:spcPct val="100000"/>
                        </a:lnSpc>
                        <a:spcBef>
                          <a:spcPts val="0"/>
                        </a:spcBef>
                        <a:spcAft>
                          <a:spcPts val="0"/>
                        </a:spcAft>
                        <a:buClr>
                          <a:schemeClr val="dk1"/>
                        </a:buClr>
                        <a:buSzPts val="2100"/>
                        <a:buFont typeface="Times New Roman"/>
                        <a:buNone/>
                      </a:pPr>
                      <a:r>
                        <a:rPr b="0" i="0" lang="es-AR" sz="2100" u="none" cap="none" strike="noStrike">
                          <a:solidFill>
                            <a:schemeClr val="dk1"/>
                          </a:solidFill>
                          <a:latin typeface="Times New Roman"/>
                          <a:ea typeface="Times New Roman"/>
                          <a:cs typeface="Times New Roman"/>
                          <a:sym typeface="Times New Roman"/>
                        </a:rPr>
                        <a:t>??</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l">
                        <a:lnSpc>
                          <a:spcPct val="100000"/>
                        </a:lnSpc>
                        <a:spcBef>
                          <a:spcPts val="0"/>
                        </a:spcBef>
                        <a:spcAft>
                          <a:spcPts val="0"/>
                        </a:spcAft>
                        <a:buClr>
                          <a:schemeClr val="dk1"/>
                        </a:buClr>
                        <a:buSzPts val="2100"/>
                        <a:buFont typeface="Times New Roman"/>
                        <a:buNone/>
                      </a:pPr>
                      <a:r>
                        <a:rPr b="0" i="0" lang="es-AR" sz="2100" u="none" cap="none" strike="noStrike">
                          <a:solidFill>
                            <a:schemeClr val="dk1"/>
                          </a:solidFill>
                          <a:latin typeface="Times New Roman"/>
                          <a:ea typeface="Times New Roman"/>
                          <a:cs typeface="Times New Roman"/>
                          <a:sym typeface="Times New Roman"/>
                        </a:rPr>
                        <a:t>??</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l">
                        <a:lnSpc>
                          <a:spcPct val="100000"/>
                        </a:lnSpc>
                        <a:spcBef>
                          <a:spcPts val="0"/>
                        </a:spcBef>
                        <a:spcAft>
                          <a:spcPts val="0"/>
                        </a:spcAft>
                        <a:buClr>
                          <a:schemeClr val="dk1"/>
                        </a:buClr>
                        <a:buSzPts val="2100"/>
                        <a:buFont typeface="Times New Roman"/>
                        <a:buNone/>
                      </a:pPr>
                      <a:r>
                        <a:rPr b="0" i="0" lang="es-AR" sz="2100" u="none" cap="none" strike="noStrike">
                          <a:solidFill>
                            <a:schemeClr val="dk1"/>
                          </a:solidFill>
                          <a:latin typeface="Times New Roman"/>
                          <a:ea typeface="Times New Roman"/>
                          <a:cs typeface="Times New Roman"/>
                          <a:sym typeface="Times New Roman"/>
                        </a:rPr>
                        <a:t>??</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r>
              <a:tr h="388725">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l">
                        <a:lnSpc>
                          <a:spcPct val="100000"/>
                        </a:lnSpc>
                        <a:spcBef>
                          <a:spcPts val="0"/>
                        </a:spcBef>
                        <a:spcAft>
                          <a:spcPts val="0"/>
                        </a:spcAft>
                        <a:buClr>
                          <a:schemeClr val="dk1"/>
                        </a:buClr>
                        <a:buSzPts val="2100"/>
                        <a:buFont typeface="Times New Roman"/>
                        <a:buNone/>
                      </a:pPr>
                      <a:r>
                        <a:t/>
                      </a:r>
                      <a:endParaRPr b="0" i="0" sz="21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r>
            </a:tbl>
          </a:graphicData>
        </a:graphic>
      </p:graphicFrame>
      <p:grpSp>
        <p:nvGrpSpPr>
          <p:cNvPr id="384" name="Google Shape;384;p38"/>
          <p:cNvGrpSpPr/>
          <p:nvPr/>
        </p:nvGrpSpPr>
        <p:grpSpPr>
          <a:xfrm>
            <a:off x="3429000" y="4163616"/>
            <a:ext cx="3448050" cy="342900"/>
            <a:chOff x="2160" y="3561"/>
            <a:chExt cx="2172" cy="288"/>
          </a:xfrm>
        </p:grpSpPr>
        <p:sp>
          <p:nvSpPr>
            <p:cNvPr id="385" name="Google Shape;385;p38"/>
            <p:cNvSpPr txBox="1"/>
            <p:nvPr/>
          </p:nvSpPr>
          <p:spPr>
            <a:xfrm>
              <a:off x="2784" y="3561"/>
              <a:ext cx="1548" cy="28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C0066"/>
                </a:buClr>
                <a:buSzPts val="2400"/>
                <a:buFont typeface="Arial Black"/>
                <a:buNone/>
              </a:pPr>
              <a:r>
                <a:rPr lang="es-AR" sz="2400">
                  <a:solidFill>
                    <a:srgbClr val="CC0066"/>
                  </a:solidFill>
                  <a:latin typeface="Arial Black"/>
                  <a:ea typeface="Arial Black"/>
                  <a:cs typeface="Arial Black"/>
                  <a:sym typeface="Arial Black"/>
                </a:rPr>
                <a:t>1 + </a:t>
              </a:r>
              <a:r>
                <a:rPr lang="es-AR" sz="2400" u="sng">
                  <a:solidFill>
                    <a:srgbClr val="CC0066"/>
                  </a:solidFill>
                  <a:latin typeface="Arial Black"/>
                  <a:ea typeface="Arial Black"/>
                  <a:cs typeface="Arial Black"/>
                  <a:sym typeface="Arial Black"/>
                </a:rPr>
                <a:t>3 bytes</a:t>
              </a:r>
              <a:endParaRPr sz="2400">
                <a:solidFill>
                  <a:srgbClr val="CC0066"/>
                </a:solidFill>
                <a:latin typeface="Arial Black"/>
                <a:ea typeface="Arial Black"/>
                <a:cs typeface="Arial Black"/>
                <a:sym typeface="Arial Black"/>
              </a:endParaRPr>
            </a:p>
          </p:txBody>
        </p:sp>
        <p:cxnSp>
          <p:nvCxnSpPr>
            <p:cNvPr id="386" name="Google Shape;386;p38"/>
            <p:cNvCxnSpPr/>
            <p:nvPr/>
          </p:nvCxnSpPr>
          <p:spPr>
            <a:xfrm>
              <a:off x="2160" y="3696"/>
              <a:ext cx="768" cy="0"/>
            </a:xfrm>
            <a:prstGeom prst="straightConnector1">
              <a:avLst/>
            </a:prstGeom>
            <a:noFill/>
            <a:ln cap="flat" cmpd="sng" w="38100">
              <a:solidFill>
                <a:srgbClr val="FFCC00"/>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73"/>
                                        </p:tgtEl>
                                        <p:attrNameLst>
                                          <p:attrName>style.visibility</p:attrName>
                                        </p:attrNameLst>
                                      </p:cBhvr>
                                      <p:to>
                                        <p:strVal val="visible"/>
                                      </p:to>
                                    </p:set>
                                    <p:anim calcmode="lin" valueType="num">
                                      <p:cBhvr additive="base">
                                        <p:cTn dur="500"/>
                                        <p:tgtEl>
                                          <p:spTgt spid="37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76"/>
                                        </p:tgtEl>
                                        <p:attrNameLst>
                                          <p:attrName>style.visibility</p:attrName>
                                        </p:attrNameLst>
                                      </p:cBhvr>
                                      <p:to>
                                        <p:strVal val="visible"/>
                                      </p:to>
                                    </p:set>
                                    <p:anim calcmode="lin" valueType="num">
                                      <p:cBhvr additive="base">
                                        <p:cTn dur="500"/>
                                        <p:tgtEl>
                                          <p:spTgt spid="37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79"/>
                                        </p:tgtEl>
                                        <p:attrNameLst>
                                          <p:attrName>style.visibility</p:attrName>
                                        </p:attrNameLst>
                                      </p:cBhvr>
                                      <p:to>
                                        <p:strVal val="visible"/>
                                      </p:to>
                                    </p:set>
                                    <p:anim calcmode="lin" valueType="num">
                                      <p:cBhvr additive="base">
                                        <p:cTn dur="500"/>
                                        <p:tgtEl>
                                          <p:spTgt spid="37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84"/>
                                        </p:tgtEl>
                                        <p:attrNameLst>
                                          <p:attrName>style.visibility</p:attrName>
                                        </p:attrNameLst>
                                      </p:cBhvr>
                                      <p:to>
                                        <p:strVal val="visible"/>
                                      </p:to>
                                    </p:set>
                                    <p:anim calcmode="lin" valueType="num">
                                      <p:cBhvr additive="base">
                                        <p:cTn dur="500"/>
                                        <p:tgtEl>
                                          <p:spTgt spid="38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82"/>
                                        </p:tgtEl>
                                        <p:attrNameLst>
                                          <p:attrName>style.visibility</p:attrName>
                                        </p:attrNameLst>
                                      </p:cBhvr>
                                      <p:to>
                                        <p:strVal val="visible"/>
                                      </p:to>
                                    </p:set>
                                    <p:anim calcmode="lin" valueType="num">
                                      <p:cBhvr additive="base">
                                        <p:cTn dur="500"/>
                                        <p:tgtEl>
                                          <p:spTgt spid="382"/>
                                        </p:tgtEl>
                                        <p:attrNameLst>
                                          <p:attrName>ppt_w</p:attrName>
                                        </p:attrNameLst>
                                      </p:cBhvr>
                                      <p:tavLst>
                                        <p:tav fmla="" tm="0">
                                          <p:val>
                                            <p:strVal val="0"/>
                                          </p:val>
                                        </p:tav>
                                        <p:tav fmla="" tm="100000">
                                          <p:val>
                                            <p:strVal val="#ppt_w"/>
                                          </p:val>
                                        </p:tav>
                                      </p:tavLst>
                                    </p:anim>
                                    <p:anim calcmode="lin" valueType="num">
                                      <p:cBhvr additive="base">
                                        <p:cTn dur="500"/>
                                        <p:tgtEl>
                                          <p:spTgt spid="38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39"/>
          <p:cNvSpPr txBox="1"/>
          <p:nvPr>
            <p:ph type="title"/>
          </p:nvPr>
        </p:nvSpPr>
        <p:spPr>
          <a:xfrm>
            <a:off x="228600" y="209550"/>
            <a:ext cx="8604000" cy="4035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i="1" lang="es-AR" sz="3300"/>
              <a:t>Optimización de uso de memoria</a:t>
            </a:r>
            <a:endParaRPr sz="4100"/>
          </a:p>
        </p:txBody>
      </p:sp>
      <p:sp>
        <p:nvSpPr>
          <p:cNvPr id="393" name="Google Shape;393;p39"/>
          <p:cNvSpPr txBox="1"/>
          <p:nvPr/>
        </p:nvSpPr>
        <p:spPr>
          <a:xfrm>
            <a:off x="304350" y="810525"/>
            <a:ext cx="3263400" cy="2174100"/>
          </a:xfrm>
          <a:prstGeom prst="rect">
            <a:avLst/>
          </a:prstGeom>
          <a:solidFill>
            <a:srgbClr val="A2C4C9"/>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s-AR" sz="1600">
                <a:latin typeface="Consolas"/>
                <a:ea typeface="Consolas"/>
                <a:cs typeface="Consolas"/>
                <a:sym typeface="Consolas"/>
              </a:rPr>
              <a:t>typedef struct one{</a:t>
            </a:r>
            <a:endParaRPr sz="1600">
              <a:latin typeface="Consolas"/>
              <a:ea typeface="Consolas"/>
              <a:cs typeface="Consolas"/>
              <a:sym typeface="Consolas"/>
            </a:endParaRPr>
          </a:p>
          <a:p>
            <a:pPr indent="0" lvl="0" marL="0" rtl="0" algn="l">
              <a:spcBef>
                <a:spcPts val="0"/>
              </a:spcBef>
              <a:spcAft>
                <a:spcPts val="0"/>
              </a:spcAft>
              <a:buNone/>
            </a:pPr>
            <a:r>
              <a:rPr lang="es-AR" sz="1600">
                <a:latin typeface="Consolas"/>
                <a:ea typeface="Consolas"/>
                <a:cs typeface="Consolas"/>
                <a:sym typeface="Consolas"/>
              </a:rPr>
              <a:t>        int i1;</a:t>
            </a:r>
            <a:endParaRPr sz="1600">
              <a:latin typeface="Consolas"/>
              <a:ea typeface="Consolas"/>
              <a:cs typeface="Consolas"/>
              <a:sym typeface="Consolas"/>
            </a:endParaRPr>
          </a:p>
          <a:p>
            <a:pPr indent="0" lvl="0" marL="0" rtl="0" algn="l">
              <a:spcBef>
                <a:spcPts val="0"/>
              </a:spcBef>
              <a:spcAft>
                <a:spcPts val="0"/>
              </a:spcAft>
              <a:buNone/>
            </a:pPr>
            <a:r>
              <a:rPr lang="es-AR" sz="1600">
                <a:latin typeface="Consolas"/>
                <a:ea typeface="Consolas"/>
                <a:cs typeface="Consolas"/>
                <a:sym typeface="Consolas"/>
              </a:rPr>
              <a:t>        char c1;</a:t>
            </a:r>
            <a:endParaRPr sz="1600">
              <a:latin typeface="Consolas"/>
              <a:ea typeface="Consolas"/>
              <a:cs typeface="Consolas"/>
              <a:sym typeface="Consolas"/>
            </a:endParaRPr>
          </a:p>
          <a:p>
            <a:pPr indent="0" lvl="0" marL="0" rtl="0" algn="l">
              <a:spcBef>
                <a:spcPts val="0"/>
              </a:spcBef>
              <a:spcAft>
                <a:spcPts val="0"/>
              </a:spcAft>
              <a:buNone/>
            </a:pPr>
            <a:r>
              <a:rPr lang="es-AR" sz="1600">
                <a:latin typeface="Consolas"/>
                <a:ea typeface="Consolas"/>
                <a:cs typeface="Consolas"/>
                <a:sym typeface="Consolas"/>
              </a:rPr>
              <a:t>        int i2;</a:t>
            </a:r>
            <a:endParaRPr sz="1600">
              <a:latin typeface="Consolas"/>
              <a:ea typeface="Consolas"/>
              <a:cs typeface="Consolas"/>
              <a:sym typeface="Consolas"/>
            </a:endParaRPr>
          </a:p>
          <a:p>
            <a:pPr indent="0" lvl="0" marL="0" rtl="0" algn="l">
              <a:spcBef>
                <a:spcPts val="0"/>
              </a:spcBef>
              <a:spcAft>
                <a:spcPts val="0"/>
              </a:spcAft>
              <a:buNone/>
            </a:pPr>
            <a:r>
              <a:rPr lang="es-AR" sz="1600">
                <a:latin typeface="Consolas"/>
                <a:ea typeface="Consolas"/>
                <a:cs typeface="Consolas"/>
                <a:sym typeface="Consolas"/>
              </a:rPr>
              <a:t>        char c2;</a:t>
            </a:r>
            <a:endParaRPr sz="1600">
              <a:latin typeface="Consolas"/>
              <a:ea typeface="Consolas"/>
              <a:cs typeface="Consolas"/>
              <a:sym typeface="Consolas"/>
            </a:endParaRPr>
          </a:p>
          <a:p>
            <a:pPr indent="0" lvl="0" marL="0" rtl="0" algn="l">
              <a:spcBef>
                <a:spcPts val="0"/>
              </a:spcBef>
              <a:spcAft>
                <a:spcPts val="0"/>
              </a:spcAft>
              <a:buNone/>
            </a:pPr>
            <a:r>
              <a:rPr lang="es-AR" sz="1600">
                <a:latin typeface="Consolas"/>
                <a:ea typeface="Consolas"/>
                <a:cs typeface="Consolas"/>
                <a:sym typeface="Consolas"/>
              </a:rPr>
              <a:t>        int i3;</a:t>
            </a:r>
            <a:endParaRPr sz="1600">
              <a:latin typeface="Consolas"/>
              <a:ea typeface="Consolas"/>
              <a:cs typeface="Consolas"/>
              <a:sym typeface="Consolas"/>
            </a:endParaRPr>
          </a:p>
          <a:p>
            <a:pPr indent="0" lvl="0" marL="0" rtl="0" algn="l">
              <a:spcBef>
                <a:spcPts val="0"/>
              </a:spcBef>
              <a:spcAft>
                <a:spcPts val="0"/>
              </a:spcAft>
              <a:buNone/>
            </a:pPr>
            <a:r>
              <a:rPr lang="es-AR" sz="1600">
                <a:latin typeface="Consolas"/>
                <a:ea typeface="Consolas"/>
                <a:cs typeface="Consolas"/>
                <a:sym typeface="Consolas"/>
              </a:rPr>
              <a:t>        char c3;</a:t>
            </a:r>
            <a:endParaRPr sz="1600">
              <a:latin typeface="Consolas"/>
              <a:ea typeface="Consolas"/>
              <a:cs typeface="Consolas"/>
              <a:sym typeface="Consolas"/>
            </a:endParaRPr>
          </a:p>
          <a:p>
            <a:pPr indent="0" lvl="0" marL="0" rtl="0" algn="l">
              <a:spcBef>
                <a:spcPts val="0"/>
              </a:spcBef>
              <a:spcAft>
                <a:spcPts val="0"/>
              </a:spcAft>
              <a:buNone/>
            </a:pPr>
            <a:r>
              <a:rPr lang="es-AR" sz="1600">
                <a:latin typeface="Consolas"/>
                <a:ea typeface="Consolas"/>
                <a:cs typeface="Consolas"/>
                <a:sym typeface="Consolas"/>
              </a:rPr>
              <a:t>} one;</a:t>
            </a:r>
            <a:endParaRPr sz="1600">
              <a:latin typeface="Consolas"/>
              <a:ea typeface="Consolas"/>
              <a:cs typeface="Consolas"/>
              <a:sym typeface="Consolas"/>
            </a:endParaRPr>
          </a:p>
          <a:p>
            <a:pPr indent="0" lvl="0" marL="0" rtl="0" algn="l">
              <a:spcBef>
                <a:spcPts val="0"/>
              </a:spcBef>
              <a:spcAft>
                <a:spcPts val="0"/>
              </a:spcAft>
              <a:buNone/>
            </a:pPr>
            <a:r>
              <a:t/>
            </a:r>
            <a:endParaRPr sz="1600">
              <a:latin typeface="Consolas"/>
              <a:ea typeface="Consolas"/>
              <a:cs typeface="Consolas"/>
              <a:sym typeface="Consolas"/>
            </a:endParaRPr>
          </a:p>
        </p:txBody>
      </p:sp>
      <p:sp>
        <p:nvSpPr>
          <p:cNvPr id="394" name="Google Shape;394;p39"/>
          <p:cNvSpPr txBox="1"/>
          <p:nvPr/>
        </p:nvSpPr>
        <p:spPr>
          <a:xfrm>
            <a:off x="4827600" y="810525"/>
            <a:ext cx="3000000" cy="1776600"/>
          </a:xfrm>
          <a:prstGeom prst="rect">
            <a:avLst/>
          </a:prstGeom>
          <a:solidFill>
            <a:srgbClr val="A2C4C9"/>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s-AR" sz="1600">
                <a:latin typeface="Consolas"/>
                <a:ea typeface="Consolas"/>
                <a:cs typeface="Consolas"/>
                <a:sym typeface="Consolas"/>
              </a:rPr>
              <a:t>typedef struct two{</a:t>
            </a:r>
            <a:endParaRPr sz="1600">
              <a:latin typeface="Consolas"/>
              <a:ea typeface="Consolas"/>
              <a:cs typeface="Consolas"/>
              <a:sym typeface="Consolas"/>
            </a:endParaRPr>
          </a:p>
          <a:p>
            <a:pPr indent="0" lvl="0" marL="0" rtl="0" algn="l">
              <a:spcBef>
                <a:spcPts val="0"/>
              </a:spcBef>
              <a:spcAft>
                <a:spcPts val="0"/>
              </a:spcAft>
              <a:buNone/>
            </a:pPr>
            <a:r>
              <a:rPr lang="es-AR" sz="1600">
                <a:latin typeface="Consolas"/>
                <a:ea typeface="Consolas"/>
                <a:cs typeface="Consolas"/>
                <a:sym typeface="Consolas"/>
              </a:rPr>
              <a:t>        int i1, i2, i3;</a:t>
            </a:r>
            <a:endParaRPr sz="1600">
              <a:latin typeface="Consolas"/>
              <a:ea typeface="Consolas"/>
              <a:cs typeface="Consolas"/>
              <a:sym typeface="Consolas"/>
            </a:endParaRPr>
          </a:p>
          <a:p>
            <a:pPr indent="0" lvl="0" marL="0" rtl="0" algn="l">
              <a:spcBef>
                <a:spcPts val="0"/>
              </a:spcBef>
              <a:spcAft>
                <a:spcPts val="0"/>
              </a:spcAft>
              <a:buNone/>
            </a:pPr>
            <a:r>
              <a:rPr lang="es-AR" sz="1600">
                <a:latin typeface="Consolas"/>
                <a:ea typeface="Consolas"/>
                <a:cs typeface="Consolas"/>
                <a:sym typeface="Consolas"/>
              </a:rPr>
              <a:t>        char c1, c2, c3;</a:t>
            </a:r>
            <a:endParaRPr sz="1600">
              <a:latin typeface="Consolas"/>
              <a:ea typeface="Consolas"/>
              <a:cs typeface="Consolas"/>
              <a:sym typeface="Consolas"/>
            </a:endParaRPr>
          </a:p>
          <a:p>
            <a:pPr indent="0" lvl="0" marL="0" rtl="0" algn="l">
              <a:spcBef>
                <a:spcPts val="0"/>
              </a:spcBef>
              <a:spcAft>
                <a:spcPts val="0"/>
              </a:spcAft>
              <a:buNone/>
            </a:pPr>
            <a:r>
              <a:rPr lang="es-AR" sz="1600">
                <a:latin typeface="Consolas"/>
                <a:ea typeface="Consolas"/>
                <a:cs typeface="Consolas"/>
                <a:sym typeface="Consolas"/>
              </a:rPr>
              <a:t>} two;</a:t>
            </a:r>
            <a:endParaRPr sz="1600">
              <a:latin typeface="Consolas"/>
              <a:ea typeface="Consolas"/>
              <a:cs typeface="Consolas"/>
              <a:sym typeface="Consolas"/>
            </a:endParaRPr>
          </a:p>
          <a:p>
            <a:pPr indent="0" lvl="0" marL="0" rtl="0" algn="l">
              <a:spcBef>
                <a:spcPts val="0"/>
              </a:spcBef>
              <a:spcAft>
                <a:spcPts val="0"/>
              </a:spcAft>
              <a:buNone/>
            </a:pPr>
            <a:r>
              <a:t/>
            </a:r>
            <a:endParaRPr sz="1600">
              <a:latin typeface="Consolas"/>
              <a:ea typeface="Consolas"/>
              <a:cs typeface="Consolas"/>
              <a:sym typeface="Consolas"/>
            </a:endParaRPr>
          </a:p>
        </p:txBody>
      </p:sp>
      <p:sp>
        <p:nvSpPr>
          <p:cNvPr id="395" name="Google Shape;395;p39"/>
          <p:cNvSpPr txBox="1"/>
          <p:nvPr/>
        </p:nvSpPr>
        <p:spPr>
          <a:xfrm>
            <a:off x="912150" y="3182100"/>
            <a:ext cx="4352400" cy="1514400"/>
          </a:xfrm>
          <a:prstGeom prst="rect">
            <a:avLst/>
          </a:prstGeom>
          <a:solidFill>
            <a:srgbClr val="76A5A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s-AR" sz="1600">
                <a:latin typeface="Consolas"/>
                <a:ea typeface="Consolas"/>
                <a:cs typeface="Consolas"/>
                <a:sym typeface="Consolas"/>
              </a:rPr>
              <a:t>int main(void) {</a:t>
            </a:r>
            <a:endParaRPr sz="1600">
              <a:latin typeface="Consolas"/>
              <a:ea typeface="Consolas"/>
              <a:cs typeface="Consolas"/>
              <a:sym typeface="Consolas"/>
            </a:endParaRPr>
          </a:p>
          <a:p>
            <a:pPr indent="0" lvl="0" marL="0" rtl="0" algn="l">
              <a:spcBef>
                <a:spcPts val="0"/>
              </a:spcBef>
              <a:spcAft>
                <a:spcPts val="0"/>
              </a:spcAft>
              <a:buNone/>
            </a:pPr>
            <a:r>
              <a:rPr lang="es-AR" sz="1600">
                <a:latin typeface="Consolas"/>
                <a:ea typeface="Consolas"/>
                <a:cs typeface="Consolas"/>
                <a:sym typeface="Consolas"/>
              </a:rPr>
              <a:t>        printf("%ld\n", sizeof(one));</a:t>
            </a:r>
            <a:endParaRPr sz="1600">
              <a:latin typeface="Consolas"/>
              <a:ea typeface="Consolas"/>
              <a:cs typeface="Consolas"/>
              <a:sym typeface="Consolas"/>
            </a:endParaRPr>
          </a:p>
          <a:p>
            <a:pPr indent="0" lvl="0" marL="0" rtl="0" algn="l">
              <a:spcBef>
                <a:spcPts val="0"/>
              </a:spcBef>
              <a:spcAft>
                <a:spcPts val="0"/>
              </a:spcAft>
              <a:buNone/>
            </a:pPr>
            <a:r>
              <a:rPr lang="es-AR" sz="1600">
                <a:latin typeface="Consolas"/>
                <a:ea typeface="Consolas"/>
                <a:cs typeface="Consolas"/>
                <a:sym typeface="Consolas"/>
              </a:rPr>
              <a:t>        printf("%ld\n", sizeof(two));</a:t>
            </a:r>
            <a:endParaRPr sz="1600">
              <a:latin typeface="Consolas"/>
              <a:ea typeface="Consolas"/>
              <a:cs typeface="Consolas"/>
              <a:sym typeface="Consolas"/>
            </a:endParaRPr>
          </a:p>
          <a:p>
            <a:pPr indent="0" lvl="0" marL="0" rtl="0" algn="l">
              <a:spcBef>
                <a:spcPts val="0"/>
              </a:spcBef>
              <a:spcAft>
                <a:spcPts val="0"/>
              </a:spcAft>
              <a:buNone/>
            </a:pPr>
            <a:r>
              <a:rPr lang="es-AR" sz="1600">
                <a:latin typeface="Consolas"/>
                <a:ea typeface="Consolas"/>
                <a:cs typeface="Consolas"/>
                <a:sym typeface="Consolas"/>
              </a:rPr>
              <a:t>        return 0;</a:t>
            </a:r>
            <a:endParaRPr sz="1600">
              <a:latin typeface="Consolas"/>
              <a:ea typeface="Consolas"/>
              <a:cs typeface="Consolas"/>
              <a:sym typeface="Consolas"/>
            </a:endParaRPr>
          </a:p>
          <a:p>
            <a:pPr indent="0" lvl="0" marL="0" rtl="0" algn="l">
              <a:spcBef>
                <a:spcPts val="0"/>
              </a:spcBef>
              <a:spcAft>
                <a:spcPts val="0"/>
              </a:spcAft>
              <a:buNone/>
            </a:pPr>
            <a:r>
              <a:rPr lang="es-AR" sz="1600">
                <a:latin typeface="Consolas"/>
                <a:ea typeface="Consolas"/>
                <a:cs typeface="Consolas"/>
                <a:sym typeface="Consolas"/>
              </a:rPr>
              <a:t>}</a:t>
            </a:r>
            <a:endParaRPr sz="1600">
              <a:latin typeface="Consolas"/>
              <a:ea typeface="Consolas"/>
              <a:cs typeface="Consolas"/>
              <a:sym typeface="Consolas"/>
            </a:endParaRPr>
          </a:p>
        </p:txBody>
      </p:sp>
      <p:grpSp>
        <p:nvGrpSpPr>
          <p:cNvPr id="396" name="Google Shape;396;p39"/>
          <p:cNvGrpSpPr/>
          <p:nvPr/>
        </p:nvGrpSpPr>
        <p:grpSpPr>
          <a:xfrm>
            <a:off x="5169525" y="3373776"/>
            <a:ext cx="3093002" cy="357188"/>
            <a:chOff x="2784" y="2849"/>
            <a:chExt cx="1948" cy="300"/>
          </a:xfrm>
        </p:grpSpPr>
        <p:cxnSp>
          <p:nvCxnSpPr>
            <p:cNvPr id="397" name="Google Shape;397;p39"/>
            <p:cNvCxnSpPr/>
            <p:nvPr/>
          </p:nvCxnSpPr>
          <p:spPr>
            <a:xfrm>
              <a:off x="2784" y="3063"/>
              <a:ext cx="900" cy="0"/>
            </a:xfrm>
            <a:prstGeom prst="straightConnector1">
              <a:avLst/>
            </a:prstGeom>
            <a:noFill/>
            <a:ln cap="flat" cmpd="sng" w="38100">
              <a:solidFill>
                <a:srgbClr val="FFCC00"/>
              </a:solidFill>
              <a:prstDash val="solid"/>
              <a:round/>
              <a:headEnd len="med" w="med" type="none"/>
              <a:tailEnd len="med" w="med" type="triangle"/>
            </a:ln>
          </p:spPr>
        </p:cxnSp>
        <p:sp>
          <p:nvSpPr>
            <p:cNvPr id="398" name="Google Shape;398;p39"/>
            <p:cNvSpPr txBox="1"/>
            <p:nvPr/>
          </p:nvSpPr>
          <p:spPr>
            <a:xfrm>
              <a:off x="3532" y="2849"/>
              <a:ext cx="1200" cy="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0066"/>
                </a:buClr>
                <a:buSzPts val="2400"/>
                <a:buFont typeface="Arial Black"/>
                <a:buNone/>
              </a:pPr>
              <a:r>
                <a:rPr lang="es-AR" sz="2400">
                  <a:solidFill>
                    <a:srgbClr val="CC0066"/>
                  </a:solidFill>
                  <a:latin typeface="Arial Black"/>
                  <a:ea typeface="Arial Black"/>
                  <a:cs typeface="Arial Black"/>
                  <a:sym typeface="Arial Black"/>
                </a:rPr>
                <a:t>  </a:t>
              </a:r>
              <a:r>
                <a:rPr lang="es-AR" sz="2400">
                  <a:solidFill>
                    <a:srgbClr val="CC0066"/>
                  </a:solidFill>
                  <a:latin typeface="Arial Black"/>
                  <a:ea typeface="Arial Black"/>
                  <a:cs typeface="Arial Black"/>
                  <a:sym typeface="Arial Black"/>
                </a:rPr>
                <a:t>24</a:t>
              </a:r>
              <a:endParaRPr sz="2400">
                <a:solidFill>
                  <a:srgbClr val="CC0066"/>
                </a:solidFill>
                <a:latin typeface="Arial Black"/>
                <a:ea typeface="Arial Black"/>
                <a:cs typeface="Arial Black"/>
                <a:sym typeface="Arial Black"/>
              </a:endParaRPr>
            </a:p>
          </p:txBody>
        </p:sp>
      </p:grpSp>
      <p:grpSp>
        <p:nvGrpSpPr>
          <p:cNvPr id="399" name="Google Shape;399;p39"/>
          <p:cNvGrpSpPr/>
          <p:nvPr/>
        </p:nvGrpSpPr>
        <p:grpSpPr>
          <a:xfrm>
            <a:off x="5169525" y="3807175"/>
            <a:ext cx="2971800" cy="357188"/>
            <a:chOff x="2190" y="2448"/>
            <a:chExt cx="1872" cy="300"/>
          </a:xfrm>
        </p:grpSpPr>
        <p:cxnSp>
          <p:nvCxnSpPr>
            <p:cNvPr id="400" name="Google Shape;400;p39"/>
            <p:cNvCxnSpPr/>
            <p:nvPr/>
          </p:nvCxnSpPr>
          <p:spPr>
            <a:xfrm>
              <a:off x="2190" y="2592"/>
              <a:ext cx="900" cy="0"/>
            </a:xfrm>
            <a:prstGeom prst="straightConnector1">
              <a:avLst/>
            </a:prstGeom>
            <a:noFill/>
            <a:ln cap="flat" cmpd="sng" w="38100">
              <a:solidFill>
                <a:srgbClr val="FFCC00"/>
              </a:solidFill>
              <a:prstDash val="solid"/>
              <a:round/>
              <a:headEnd len="med" w="med" type="none"/>
              <a:tailEnd len="med" w="med" type="triangle"/>
            </a:ln>
          </p:spPr>
        </p:cxnSp>
        <p:sp>
          <p:nvSpPr>
            <p:cNvPr id="401" name="Google Shape;401;p39"/>
            <p:cNvSpPr txBox="1"/>
            <p:nvPr/>
          </p:nvSpPr>
          <p:spPr>
            <a:xfrm>
              <a:off x="2862" y="2448"/>
              <a:ext cx="1200" cy="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0066"/>
                </a:buClr>
                <a:buSzPts val="2400"/>
                <a:buFont typeface="Arial Black"/>
                <a:buNone/>
              </a:pPr>
              <a:r>
                <a:rPr lang="es-AR" sz="2400">
                  <a:solidFill>
                    <a:srgbClr val="CC0066"/>
                  </a:solidFill>
                  <a:latin typeface="Arial Black"/>
                  <a:ea typeface="Arial Black"/>
                  <a:cs typeface="Arial Black"/>
                  <a:sym typeface="Arial Black"/>
                </a:rPr>
                <a:t>   16</a:t>
              </a:r>
              <a:endParaRPr sz="2400">
                <a:solidFill>
                  <a:srgbClr val="CC0066"/>
                </a:solidFill>
                <a:latin typeface="Arial Black"/>
                <a:ea typeface="Arial Black"/>
                <a:cs typeface="Arial Black"/>
                <a:sym typeface="Arial Black"/>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gtEl>
                                        <p:attrNameLst>
                                          <p:attrName>style.visibility</p:attrName>
                                        </p:attrNameLst>
                                      </p:cBhvr>
                                      <p:to>
                                        <p:strVal val="visible"/>
                                      </p:to>
                                    </p:set>
                                    <p:animEffect filter="fade" transition="in">
                                      <p:cBhvr>
                                        <p:cTn dur="1000"/>
                                        <p:tgtEl>
                                          <p:spTgt spid="3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gtEl>
                                        <p:attrNameLst>
                                          <p:attrName>style.visibility</p:attrName>
                                        </p:attrNameLst>
                                      </p:cBhvr>
                                      <p:to>
                                        <p:strVal val="visible"/>
                                      </p:to>
                                    </p:set>
                                    <p:animEffect filter="fade" transition="in">
                                      <p:cBhvr>
                                        <p:cTn dur="1000"/>
                                        <p:tgtEl>
                                          <p:spTgt spid="3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grpSp>
        <p:nvGrpSpPr>
          <p:cNvPr id="406" name="Google Shape;406;p40"/>
          <p:cNvGrpSpPr/>
          <p:nvPr/>
        </p:nvGrpSpPr>
        <p:grpSpPr>
          <a:xfrm>
            <a:off x="381000" y="2990850"/>
            <a:ext cx="8382000" cy="1466850"/>
            <a:chOff x="240" y="2949"/>
            <a:chExt cx="5280" cy="795"/>
          </a:xfrm>
        </p:grpSpPr>
        <p:sp>
          <p:nvSpPr>
            <p:cNvPr id="407" name="Google Shape;407;p40"/>
            <p:cNvSpPr/>
            <p:nvPr/>
          </p:nvSpPr>
          <p:spPr>
            <a:xfrm>
              <a:off x="240" y="2949"/>
              <a:ext cx="5232" cy="795"/>
            </a:xfrm>
            <a:prstGeom prst="roundRect">
              <a:avLst>
                <a:gd fmla="val 5917" name="adj"/>
              </a:avLst>
            </a:prstGeom>
            <a:solidFill>
              <a:srgbClr val="99FFCC"/>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408" name="Google Shape;408;p40"/>
            <p:cNvSpPr txBox="1"/>
            <p:nvPr/>
          </p:nvSpPr>
          <p:spPr>
            <a:xfrm>
              <a:off x="288" y="3045"/>
              <a:ext cx="3168" cy="649"/>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200"/>
                <a:buFont typeface="Courier New"/>
                <a:buNone/>
              </a:pPr>
              <a:r>
                <a:rPr b="1" lang="es-AR" sz="2200">
                  <a:solidFill>
                    <a:schemeClr val="dk1"/>
                  </a:solidFill>
                  <a:latin typeface="Courier New"/>
                  <a:ea typeface="Courier New"/>
                  <a:cs typeface="Courier New"/>
                  <a:sym typeface="Courier New"/>
                </a:rPr>
                <a:t>#include &lt;stddef.h&gt;</a:t>
              </a:r>
              <a:endParaRPr/>
            </a:p>
            <a:p>
              <a:pPr indent="0" lvl="0" marL="0" marR="0" rtl="0" algn="l">
                <a:lnSpc>
                  <a:spcPct val="80000"/>
                </a:lnSpc>
                <a:spcBef>
                  <a:spcPts val="440"/>
                </a:spcBef>
                <a:spcAft>
                  <a:spcPts val="0"/>
                </a:spcAft>
                <a:buClr>
                  <a:schemeClr val="dk1"/>
                </a:buClr>
                <a:buSzPts val="2200"/>
                <a:buFont typeface="Times New Roman"/>
                <a:buNone/>
              </a:pPr>
              <a:r>
                <a:t/>
              </a:r>
              <a:endParaRPr b="1" sz="2200">
                <a:solidFill>
                  <a:schemeClr val="dk1"/>
                </a:solidFill>
                <a:latin typeface="Courier New"/>
                <a:ea typeface="Courier New"/>
                <a:cs typeface="Courier New"/>
                <a:sym typeface="Courier New"/>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urier New"/>
                  <a:ea typeface="Courier New"/>
                  <a:cs typeface="Courier New"/>
                  <a:sym typeface="Courier New"/>
                </a:rPr>
                <a:t>offsetof ( tipo , campo)</a:t>
              </a:r>
              <a:endParaRPr b="1" sz="2200">
                <a:solidFill>
                  <a:schemeClr val="dk1"/>
                </a:solidFill>
                <a:latin typeface="Courier New"/>
                <a:ea typeface="Courier New"/>
                <a:cs typeface="Courier New"/>
                <a:sym typeface="Courier New"/>
              </a:endParaRPr>
            </a:p>
          </p:txBody>
        </p:sp>
        <p:sp>
          <p:nvSpPr>
            <p:cNvPr id="409" name="Google Shape;409;p40"/>
            <p:cNvSpPr txBox="1"/>
            <p:nvPr/>
          </p:nvSpPr>
          <p:spPr>
            <a:xfrm>
              <a:off x="3024" y="2949"/>
              <a:ext cx="2496" cy="74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accent2"/>
                </a:buClr>
                <a:buSzPts val="2400"/>
                <a:buFont typeface="Comic Sans MS"/>
                <a:buNone/>
              </a:pPr>
              <a:r>
                <a:rPr b="1" lang="es-AR" sz="2400">
                  <a:solidFill>
                    <a:schemeClr val="accent2"/>
                  </a:solidFill>
                  <a:latin typeface="Comic Sans MS"/>
                  <a:ea typeface="Comic Sans MS"/>
                  <a:cs typeface="Comic Sans MS"/>
                  <a:sym typeface="Comic Sans MS"/>
                </a:rPr>
                <a:t>Devuelve la posición relativa del campo dentro de la estructura</a:t>
              </a:r>
              <a:endParaRPr b="1" sz="2400">
                <a:solidFill>
                  <a:schemeClr val="accent2"/>
                </a:solidFill>
                <a:latin typeface="Comic Sans MS"/>
                <a:ea typeface="Comic Sans MS"/>
                <a:cs typeface="Comic Sans MS"/>
                <a:sym typeface="Comic Sans MS"/>
              </a:endParaRPr>
            </a:p>
          </p:txBody>
        </p:sp>
      </p:grpSp>
      <p:sp>
        <p:nvSpPr>
          <p:cNvPr id="410" name="Google Shape;410;p40"/>
          <p:cNvSpPr/>
          <p:nvPr/>
        </p:nvSpPr>
        <p:spPr>
          <a:xfrm>
            <a:off x="304800" y="228600"/>
            <a:ext cx="86106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SzPts val="3400"/>
              <a:buFont typeface="Times New Roman"/>
              <a:buNone/>
            </a:pPr>
            <a:r>
              <a:rPr b="1" i="1" lang="es-AR" sz="3400">
                <a:solidFill>
                  <a:schemeClr val="dk2"/>
                </a:solidFill>
                <a:latin typeface="Times New Roman"/>
                <a:ea typeface="Times New Roman"/>
                <a:cs typeface="Times New Roman"/>
                <a:sym typeface="Times New Roman"/>
              </a:rPr>
              <a:t>¿ Cómo conocer el tamaño de una estructura ?</a:t>
            </a:r>
            <a:endParaRPr b="1" i="1" sz="3400">
              <a:solidFill>
                <a:schemeClr val="dk2"/>
              </a:solidFill>
              <a:latin typeface="Times New Roman"/>
              <a:ea typeface="Times New Roman"/>
              <a:cs typeface="Times New Roman"/>
              <a:sym typeface="Times New Roman"/>
            </a:endParaRPr>
          </a:p>
        </p:txBody>
      </p:sp>
      <p:sp>
        <p:nvSpPr>
          <p:cNvPr id="411" name="Google Shape;411;p40"/>
          <p:cNvSpPr/>
          <p:nvPr/>
        </p:nvSpPr>
        <p:spPr>
          <a:xfrm>
            <a:off x="1371600" y="1200150"/>
            <a:ext cx="6476999" cy="571501"/>
          </a:xfrm>
          <a:prstGeom prst="rect">
            <a:avLst/>
          </a:prstGeom>
        </p:spPr>
        <p:txBody>
          <a:bodyPr>
            <a:prstTxWarp prst="textPlain"/>
          </a:bodyPr>
          <a:lstStyle/>
          <a:p>
            <a:pPr lvl="0" algn="ctr"/>
            <a:r>
              <a:rPr b="0" i="0">
                <a:ln cap="flat" cmpd="sng" w="19050">
                  <a:solidFill>
                    <a:srgbClr val="FFCC00"/>
                  </a:solidFill>
                  <a:prstDash val="solid"/>
                  <a:round/>
                  <a:headEnd len="sm" w="sm" type="none"/>
                  <a:tailEnd len="sm" w="sm" type="none"/>
                </a:ln>
                <a:solidFill>
                  <a:srgbClr val="FF6600"/>
                </a:solidFill>
                <a:latin typeface="Impact"/>
              </a:rPr>
              <a:t>Utilizando el operador sizeof</a:t>
            </a:r>
          </a:p>
        </p:txBody>
      </p:sp>
      <p:sp>
        <p:nvSpPr>
          <p:cNvPr id="412" name="Google Shape;412;p40"/>
          <p:cNvSpPr/>
          <p:nvPr/>
        </p:nvSpPr>
        <p:spPr>
          <a:xfrm>
            <a:off x="304800" y="2038350"/>
            <a:ext cx="86106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SzPts val="3400"/>
              <a:buFont typeface="Times New Roman"/>
              <a:buNone/>
            </a:pPr>
            <a:r>
              <a:rPr b="1" i="1" lang="es-AR" sz="3400">
                <a:solidFill>
                  <a:schemeClr val="dk2"/>
                </a:solidFill>
                <a:latin typeface="Times New Roman"/>
                <a:ea typeface="Times New Roman"/>
                <a:cs typeface="Times New Roman"/>
                <a:sym typeface="Times New Roman"/>
              </a:rPr>
              <a:t>¿ Cómo conocer la posición de un campo ?</a:t>
            </a:r>
            <a:endParaRPr b="1" i="1" sz="3400">
              <a:solidFill>
                <a:schemeClr val="dk2"/>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11"/>
                                        </p:tgtEl>
                                        <p:attrNameLst>
                                          <p:attrName>style.visibility</p:attrName>
                                        </p:attrNameLst>
                                      </p:cBhvr>
                                      <p:to>
                                        <p:strVal val="visible"/>
                                      </p:to>
                                    </p:set>
                                    <p:anim calcmode="lin" valueType="num">
                                      <p:cBhvr additive="base">
                                        <p:cTn dur="500"/>
                                        <p:tgtEl>
                                          <p:spTgt spid="41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12"/>
                                        </p:tgtEl>
                                        <p:attrNameLst>
                                          <p:attrName>style.visibility</p:attrName>
                                        </p:attrNameLst>
                                      </p:cBhvr>
                                      <p:to>
                                        <p:strVal val="visible"/>
                                      </p:to>
                                    </p:set>
                                    <p:anim calcmode="lin" valueType="num">
                                      <p:cBhvr additive="base">
                                        <p:cTn dur="500"/>
                                        <p:tgtEl>
                                          <p:spTgt spid="41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06"/>
                                        </p:tgtEl>
                                        <p:attrNameLst>
                                          <p:attrName>style.visibility</p:attrName>
                                        </p:attrNameLst>
                                      </p:cBhvr>
                                      <p:to>
                                        <p:strVal val="visible"/>
                                      </p:to>
                                    </p:set>
                                    <p:anim calcmode="lin" valueType="num">
                                      <p:cBhvr additive="base">
                                        <p:cTn dur="500"/>
                                        <p:tgtEl>
                                          <p:spTgt spid="40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41"/>
          <p:cNvSpPr/>
          <p:nvPr/>
        </p:nvSpPr>
        <p:spPr>
          <a:xfrm>
            <a:off x="381000" y="68375"/>
            <a:ext cx="8305800" cy="5011500"/>
          </a:xfrm>
          <a:prstGeom prst="roundRect">
            <a:avLst>
              <a:gd fmla="val 3583"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418" name="Google Shape;418;p41"/>
          <p:cNvSpPr txBox="1"/>
          <p:nvPr/>
        </p:nvSpPr>
        <p:spPr>
          <a:xfrm>
            <a:off x="455613" y="76200"/>
            <a:ext cx="7853400" cy="46422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rgbClr val="FF3300"/>
              </a:buClr>
              <a:buSzPts val="2000"/>
              <a:buFont typeface="Courier New"/>
              <a:buNone/>
            </a:pPr>
            <a:r>
              <a:rPr b="1" lang="es-AR" sz="1900">
                <a:solidFill>
                  <a:srgbClr val="FF3300"/>
                </a:solidFill>
                <a:latin typeface="Consolas"/>
                <a:ea typeface="Consolas"/>
                <a:cs typeface="Consolas"/>
                <a:sym typeface="Consolas"/>
              </a:rPr>
              <a:t>#include &lt;stddef.h&gt;</a:t>
            </a:r>
            <a:endParaRPr sz="1300">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1900">
                <a:solidFill>
                  <a:schemeClr val="dk1"/>
                </a:solidFill>
                <a:latin typeface="Consolas"/>
                <a:ea typeface="Consolas"/>
                <a:cs typeface="Consolas"/>
                <a:sym typeface="Consolas"/>
              </a:rPr>
              <a:t>#include &lt;stdio.h&gt;</a:t>
            </a:r>
            <a:endParaRPr sz="1300">
              <a:latin typeface="Consolas"/>
              <a:ea typeface="Consolas"/>
              <a:cs typeface="Consolas"/>
              <a:sym typeface="Consolas"/>
            </a:endParaRPr>
          </a:p>
          <a:p>
            <a:pPr indent="0" lvl="0" marL="0" marR="0" rtl="0" algn="l">
              <a:lnSpc>
                <a:spcPct val="80000"/>
              </a:lnSpc>
              <a:spcBef>
                <a:spcPts val="160"/>
              </a:spcBef>
              <a:spcAft>
                <a:spcPts val="0"/>
              </a:spcAft>
              <a:buClr>
                <a:schemeClr val="dk1"/>
              </a:buClr>
              <a:buSzPts val="800"/>
              <a:buFont typeface="Times New Roman"/>
              <a:buNone/>
            </a:pPr>
            <a:r>
              <a:t/>
            </a:r>
            <a:endParaRPr b="1" sz="700">
              <a:solidFill>
                <a:schemeClr val="dk1"/>
              </a:solidFill>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1900">
                <a:solidFill>
                  <a:schemeClr val="dk1"/>
                </a:solidFill>
                <a:latin typeface="Consolas"/>
                <a:ea typeface="Consolas"/>
                <a:cs typeface="Consolas"/>
                <a:sym typeface="Consolas"/>
              </a:rPr>
              <a:t>typedef struct {</a:t>
            </a:r>
            <a:endParaRPr sz="1300">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1900">
                <a:solidFill>
                  <a:schemeClr val="dk1"/>
                </a:solidFill>
                <a:latin typeface="Consolas"/>
                <a:ea typeface="Consolas"/>
                <a:cs typeface="Consolas"/>
                <a:sym typeface="Consolas"/>
              </a:rPr>
              <a:t>   char nombre[25];</a:t>
            </a:r>
            <a:endParaRPr sz="1300">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1900">
                <a:solidFill>
                  <a:schemeClr val="dk1"/>
                </a:solidFill>
                <a:latin typeface="Consolas"/>
                <a:ea typeface="Consolas"/>
                <a:cs typeface="Consolas"/>
                <a:sym typeface="Consolas"/>
              </a:rPr>
              <a:t>   int  legajo;</a:t>
            </a:r>
            <a:endParaRPr sz="1300">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1900">
                <a:solidFill>
                  <a:schemeClr val="dk1"/>
                </a:solidFill>
                <a:latin typeface="Consolas"/>
                <a:ea typeface="Consolas"/>
                <a:cs typeface="Consolas"/>
                <a:sym typeface="Consolas"/>
              </a:rPr>
              <a:t>   int  anio;</a:t>
            </a:r>
            <a:endParaRPr sz="1300">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1900">
                <a:solidFill>
                  <a:schemeClr val="dk1"/>
                </a:solidFill>
                <a:latin typeface="Consolas"/>
                <a:ea typeface="Consolas"/>
                <a:cs typeface="Consolas"/>
                <a:sym typeface="Consolas"/>
              </a:rPr>
              <a:t>} tAlu;</a:t>
            </a:r>
            <a:endParaRPr sz="1300">
              <a:latin typeface="Consolas"/>
              <a:ea typeface="Consolas"/>
              <a:cs typeface="Consolas"/>
              <a:sym typeface="Consolas"/>
            </a:endParaRPr>
          </a:p>
          <a:p>
            <a:pPr indent="0" lvl="0" marL="0" marR="0" rtl="0" algn="l">
              <a:lnSpc>
                <a:spcPct val="80000"/>
              </a:lnSpc>
              <a:spcBef>
                <a:spcPts val="160"/>
              </a:spcBef>
              <a:spcAft>
                <a:spcPts val="0"/>
              </a:spcAft>
              <a:buClr>
                <a:schemeClr val="dk1"/>
              </a:buClr>
              <a:buSzPts val="800"/>
              <a:buFont typeface="Times New Roman"/>
              <a:buNone/>
            </a:pPr>
            <a:r>
              <a:t/>
            </a:r>
            <a:endParaRPr b="1" sz="700">
              <a:solidFill>
                <a:schemeClr val="dk1"/>
              </a:solidFill>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1900">
                <a:solidFill>
                  <a:schemeClr val="dk1"/>
                </a:solidFill>
                <a:latin typeface="Consolas"/>
                <a:ea typeface="Consolas"/>
                <a:cs typeface="Consolas"/>
                <a:sym typeface="Consolas"/>
              </a:rPr>
              <a:t>int</a:t>
            </a:r>
            <a:r>
              <a:rPr lang="es-AR" sz="1300">
                <a:latin typeface="Consolas"/>
                <a:ea typeface="Consolas"/>
                <a:cs typeface="Consolas"/>
                <a:sym typeface="Consolas"/>
              </a:rPr>
              <a:t> </a:t>
            </a:r>
            <a:r>
              <a:rPr b="1" lang="es-AR" sz="1900">
                <a:solidFill>
                  <a:schemeClr val="dk1"/>
                </a:solidFill>
                <a:latin typeface="Consolas"/>
                <a:ea typeface="Consolas"/>
                <a:cs typeface="Consolas"/>
                <a:sym typeface="Consolas"/>
              </a:rPr>
              <a:t>main(void)</a:t>
            </a:r>
            <a:endParaRPr sz="1300">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1900">
                <a:solidFill>
                  <a:schemeClr val="dk1"/>
                </a:solidFill>
                <a:latin typeface="Consolas"/>
                <a:ea typeface="Consolas"/>
                <a:cs typeface="Consolas"/>
                <a:sym typeface="Consolas"/>
              </a:rPr>
              <a:t>{</a:t>
            </a:r>
            <a:endParaRPr sz="1300">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1900">
                <a:solidFill>
                  <a:schemeClr val="dk1"/>
                </a:solidFill>
                <a:latin typeface="Consolas"/>
                <a:ea typeface="Consolas"/>
                <a:cs typeface="Consolas"/>
                <a:sym typeface="Consolas"/>
              </a:rPr>
              <a:t>   tAlu alu;</a:t>
            </a:r>
            <a:endParaRPr sz="1300">
              <a:latin typeface="Consolas"/>
              <a:ea typeface="Consolas"/>
              <a:cs typeface="Consolas"/>
              <a:sym typeface="Consolas"/>
            </a:endParaRPr>
          </a:p>
          <a:p>
            <a:pPr indent="0" lvl="0" marL="0" marR="0" rtl="0" algn="l">
              <a:lnSpc>
                <a:spcPct val="80000"/>
              </a:lnSpc>
              <a:spcBef>
                <a:spcPts val="160"/>
              </a:spcBef>
              <a:spcAft>
                <a:spcPts val="0"/>
              </a:spcAft>
              <a:buClr>
                <a:schemeClr val="dk1"/>
              </a:buClr>
              <a:buSzPts val="800"/>
              <a:buFont typeface="Times New Roman"/>
              <a:buNone/>
            </a:pPr>
            <a:r>
              <a:t/>
            </a:r>
            <a:endParaRPr b="1" sz="700">
              <a:solidFill>
                <a:schemeClr val="dk1"/>
              </a:solidFill>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1900">
                <a:solidFill>
                  <a:schemeClr val="dk1"/>
                </a:solidFill>
                <a:latin typeface="Consolas"/>
                <a:ea typeface="Consolas"/>
                <a:cs typeface="Consolas"/>
                <a:sym typeface="Consolas"/>
              </a:rPr>
              <a:t>   printf("Tamaño de tAlu %d\n",sizeof(tAlu));</a:t>
            </a:r>
            <a:endParaRPr sz="1300">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1900">
                <a:solidFill>
                  <a:schemeClr val="dk1"/>
                </a:solidFill>
                <a:latin typeface="Consolas"/>
                <a:ea typeface="Consolas"/>
                <a:cs typeface="Consolas"/>
                <a:sym typeface="Consolas"/>
              </a:rPr>
              <a:t>   printf("nombre %d\n",offsetof(tAlu, nombre));</a:t>
            </a:r>
            <a:endParaRPr sz="1300">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1900">
                <a:solidFill>
                  <a:schemeClr val="dk1"/>
                </a:solidFill>
                <a:latin typeface="Consolas"/>
                <a:ea typeface="Consolas"/>
                <a:cs typeface="Consolas"/>
                <a:sym typeface="Consolas"/>
              </a:rPr>
              <a:t>   printf("legajo %d\n",offsetof(tAlu, legajo));</a:t>
            </a:r>
            <a:endParaRPr sz="1300">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1900">
                <a:solidFill>
                  <a:schemeClr val="dk1"/>
                </a:solidFill>
                <a:latin typeface="Consolas"/>
                <a:ea typeface="Consolas"/>
                <a:cs typeface="Consolas"/>
                <a:sym typeface="Consolas"/>
              </a:rPr>
              <a:t>   printf("anio %d\n",offsetof(tAlu, anio));</a:t>
            </a:r>
            <a:endParaRPr sz="1300">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1900">
                <a:solidFill>
                  <a:schemeClr val="dk1"/>
                </a:solidFill>
                <a:latin typeface="Consolas"/>
                <a:ea typeface="Consolas"/>
                <a:cs typeface="Consolas"/>
                <a:sym typeface="Consolas"/>
              </a:rPr>
              <a:t>   return 0;</a:t>
            </a:r>
            <a:endParaRPr sz="1300">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1900">
                <a:solidFill>
                  <a:schemeClr val="dk1"/>
                </a:solidFill>
                <a:latin typeface="Consolas"/>
                <a:ea typeface="Consolas"/>
                <a:cs typeface="Consolas"/>
                <a:sym typeface="Consolas"/>
              </a:rPr>
              <a:t>}</a:t>
            </a:r>
            <a:endParaRPr sz="1300">
              <a:latin typeface="Consolas"/>
              <a:ea typeface="Consolas"/>
              <a:cs typeface="Consolas"/>
              <a:sym typeface="Consolas"/>
            </a:endParaRPr>
          </a:p>
        </p:txBody>
      </p:sp>
      <p:grpSp>
        <p:nvGrpSpPr>
          <p:cNvPr id="419" name="Google Shape;419;p41"/>
          <p:cNvGrpSpPr/>
          <p:nvPr/>
        </p:nvGrpSpPr>
        <p:grpSpPr>
          <a:xfrm>
            <a:off x="4343400" y="628650"/>
            <a:ext cx="3581400" cy="1715975"/>
            <a:chOff x="2736" y="528"/>
            <a:chExt cx="2256" cy="1200"/>
          </a:xfrm>
        </p:grpSpPr>
        <p:sp>
          <p:nvSpPr>
            <p:cNvPr id="420" name="Google Shape;420;p41"/>
            <p:cNvSpPr/>
            <p:nvPr/>
          </p:nvSpPr>
          <p:spPr>
            <a:xfrm>
              <a:off x="2736" y="528"/>
              <a:ext cx="2256" cy="1200"/>
            </a:xfrm>
            <a:prstGeom prst="roundRect">
              <a:avLst>
                <a:gd fmla="val 16667" name="adj"/>
              </a:avLst>
            </a:prstGeom>
            <a:solidFill>
              <a:srgbClr val="0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421" name="Google Shape;421;p41"/>
            <p:cNvSpPr txBox="1"/>
            <p:nvPr/>
          </p:nvSpPr>
          <p:spPr>
            <a:xfrm>
              <a:off x="2832" y="576"/>
              <a:ext cx="2160" cy="101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1"/>
                </a:buClr>
                <a:buSzPts val="2000"/>
                <a:buFont typeface="Courier New"/>
                <a:buNone/>
              </a:pPr>
              <a:r>
                <a:rPr b="1" lang="es-AR" sz="2000">
                  <a:solidFill>
                    <a:schemeClr val="lt1"/>
                  </a:solidFill>
                  <a:latin typeface="Courier New"/>
                  <a:ea typeface="Courier New"/>
                  <a:cs typeface="Courier New"/>
                  <a:sym typeface="Courier New"/>
                </a:rPr>
                <a:t>Tamaño de tAlu 36</a:t>
              </a:r>
              <a:endParaRPr/>
            </a:p>
            <a:p>
              <a:pPr indent="0" lvl="0" marL="0" marR="0" rtl="0" algn="l">
                <a:spcBef>
                  <a:spcPts val="0"/>
                </a:spcBef>
                <a:spcAft>
                  <a:spcPts val="0"/>
                </a:spcAft>
                <a:buClr>
                  <a:schemeClr val="lt1"/>
                </a:buClr>
                <a:buSzPts val="2000"/>
                <a:buFont typeface="Courier New"/>
                <a:buNone/>
              </a:pPr>
              <a:r>
                <a:rPr b="1" lang="es-AR" sz="2000">
                  <a:solidFill>
                    <a:schemeClr val="lt1"/>
                  </a:solidFill>
                  <a:latin typeface="Courier New"/>
                  <a:ea typeface="Courier New"/>
                  <a:cs typeface="Courier New"/>
                  <a:sym typeface="Courier New"/>
                </a:rPr>
                <a:t>nombre 0</a:t>
              </a:r>
              <a:endParaRPr/>
            </a:p>
            <a:p>
              <a:pPr indent="0" lvl="0" marL="0" marR="0" rtl="0" algn="l">
                <a:spcBef>
                  <a:spcPts val="0"/>
                </a:spcBef>
                <a:spcAft>
                  <a:spcPts val="0"/>
                </a:spcAft>
                <a:buClr>
                  <a:schemeClr val="lt1"/>
                </a:buClr>
                <a:buSzPts val="2000"/>
                <a:buFont typeface="Courier New"/>
                <a:buNone/>
              </a:pPr>
              <a:r>
                <a:rPr b="1" lang="es-AR" sz="2000">
                  <a:solidFill>
                    <a:schemeClr val="lt1"/>
                  </a:solidFill>
                  <a:latin typeface="Courier New"/>
                  <a:ea typeface="Courier New"/>
                  <a:cs typeface="Courier New"/>
                  <a:sym typeface="Courier New"/>
                </a:rPr>
                <a:t>legajo 28</a:t>
              </a:r>
              <a:endParaRPr/>
            </a:p>
            <a:p>
              <a:pPr indent="0" lvl="0" marL="0" marR="0" rtl="0" algn="l">
                <a:spcBef>
                  <a:spcPts val="0"/>
                </a:spcBef>
                <a:spcAft>
                  <a:spcPts val="0"/>
                </a:spcAft>
                <a:buClr>
                  <a:schemeClr val="lt1"/>
                </a:buClr>
                <a:buSzPts val="2000"/>
                <a:buFont typeface="Courier New"/>
                <a:buNone/>
              </a:pPr>
              <a:r>
                <a:rPr b="1" lang="es-AR" sz="2000">
                  <a:solidFill>
                    <a:schemeClr val="lt1"/>
                  </a:solidFill>
                  <a:latin typeface="Courier New"/>
                  <a:ea typeface="Courier New"/>
                  <a:cs typeface="Courier New"/>
                  <a:sym typeface="Courier New"/>
                </a:rPr>
                <a:t>anio 32</a:t>
              </a:r>
              <a:endParaRPr/>
            </a:p>
            <a:p>
              <a:pPr indent="0" lvl="0" marL="0" marR="0" rtl="0" algn="l">
                <a:spcBef>
                  <a:spcPts val="0"/>
                </a:spcBef>
                <a:spcAft>
                  <a:spcPts val="0"/>
                </a:spcAft>
                <a:buClr>
                  <a:schemeClr val="lt1"/>
                </a:buClr>
                <a:buSzPts val="2000"/>
                <a:buFont typeface="Courier New"/>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19"/>
                                        </p:tgtEl>
                                        <p:attrNameLst>
                                          <p:attrName>style.visibility</p:attrName>
                                        </p:attrNameLst>
                                      </p:cBhvr>
                                      <p:to>
                                        <p:strVal val="visible"/>
                                      </p:to>
                                    </p:set>
                                    <p:anim calcmode="lin" valueType="num">
                                      <p:cBhvr additive="base">
                                        <p:cTn dur="500"/>
                                        <p:tgtEl>
                                          <p:spTgt spid="41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42"/>
          <p:cNvSpPr txBox="1"/>
          <p:nvPr>
            <p:ph type="title"/>
          </p:nvPr>
        </p:nvSpPr>
        <p:spPr>
          <a:xfrm>
            <a:off x="381000" y="171450"/>
            <a:ext cx="7772400" cy="285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i="1" lang="es-AR" sz="2600"/>
              <a:t>Ejercicios</a:t>
            </a:r>
            <a:endParaRPr b="1" i="1" sz="2600"/>
          </a:p>
        </p:txBody>
      </p:sp>
      <p:sp>
        <p:nvSpPr>
          <p:cNvPr id="427" name="Google Shape;427;p42"/>
          <p:cNvSpPr/>
          <p:nvPr/>
        </p:nvSpPr>
        <p:spPr>
          <a:xfrm>
            <a:off x="304800" y="1103925"/>
            <a:ext cx="7207800" cy="3751200"/>
          </a:xfrm>
          <a:prstGeom prst="roundRect">
            <a:avLst>
              <a:gd fmla="val 3426"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428" name="Google Shape;428;p42"/>
          <p:cNvSpPr txBox="1"/>
          <p:nvPr/>
        </p:nvSpPr>
        <p:spPr>
          <a:xfrm>
            <a:off x="455625" y="1270000"/>
            <a:ext cx="6744300" cy="32337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typedef struct</a:t>
            </a:r>
            <a:endParaRPr>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a:t>
            </a:r>
            <a:endParaRPr>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int code; </a:t>
            </a:r>
            <a:endParaRPr>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char description[10];</a:t>
            </a:r>
            <a:endParaRPr>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itemType1;</a:t>
            </a:r>
            <a:endParaRPr>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Times New Roman"/>
              <a:buNone/>
            </a:pPr>
            <a:r>
              <a:t/>
            </a:r>
            <a:endParaRPr b="1" sz="19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typedef struct</a:t>
            </a:r>
            <a:endParaRPr>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a:t>
            </a:r>
            <a:endParaRPr>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int code; </a:t>
            </a:r>
            <a:endParaRPr>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char * description;</a:t>
            </a:r>
            <a:endParaRPr>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a:t>
            </a:r>
            <a:r>
              <a:rPr b="1" lang="es-AR" sz="1900">
                <a:solidFill>
                  <a:schemeClr val="dk1"/>
                </a:solidFill>
                <a:latin typeface="Consolas"/>
                <a:ea typeface="Consolas"/>
                <a:cs typeface="Consolas"/>
                <a:sym typeface="Consolas"/>
              </a:rPr>
              <a:t>itemType</a:t>
            </a:r>
            <a:r>
              <a:rPr b="1" lang="es-AR" sz="1900">
                <a:solidFill>
                  <a:schemeClr val="dk1"/>
                </a:solidFill>
                <a:latin typeface="Consolas"/>
                <a:ea typeface="Consolas"/>
                <a:cs typeface="Consolas"/>
                <a:sym typeface="Consolas"/>
              </a:rPr>
              <a:t>2;</a:t>
            </a:r>
            <a:endParaRPr>
              <a:latin typeface="Consolas"/>
              <a:ea typeface="Consolas"/>
              <a:cs typeface="Consolas"/>
              <a:sym typeface="Consolas"/>
            </a:endParaRPr>
          </a:p>
          <a:p>
            <a:pPr indent="0" lvl="0" marL="0" marR="0" rtl="0" algn="l">
              <a:lnSpc>
                <a:spcPct val="80000"/>
              </a:lnSpc>
              <a:spcBef>
                <a:spcPts val="160"/>
              </a:spcBef>
              <a:spcAft>
                <a:spcPts val="0"/>
              </a:spcAft>
              <a:buClr>
                <a:schemeClr val="dk1"/>
              </a:buClr>
              <a:buSzPts val="800"/>
              <a:buFont typeface="Times New Roman"/>
              <a:buNone/>
            </a:pPr>
            <a:r>
              <a:t/>
            </a:r>
            <a:endParaRPr b="1" sz="800">
              <a:solidFill>
                <a:schemeClr val="dk1"/>
              </a:solidFill>
              <a:latin typeface="Consolas"/>
              <a:ea typeface="Consolas"/>
              <a:cs typeface="Consolas"/>
              <a:sym typeface="Consolas"/>
            </a:endParaRPr>
          </a:p>
        </p:txBody>
      </p:sp>
      <p:sp>
        <p:nvSpPr>
          <p:cNvPr id="429" name="Google Shape;429;p42"/>
          <p:cNvSpPr txBox="1"/>
          <p:nvPr/>
        </p:nvSpPr>
        <p:spPr>
          <a:xfrm>
            <a:off x="914400" y="571500"/>
            <a:ext cx="6858000" cy="342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rPr lang="es-AR" sz="2400">
                <a:solidFill>
                  <a:schemeClr val="dk1"/>
                </a:solidFill>
                <a:latin typeface="Times New Roman"/>
                <a:ea typeface="Times New Roman"/>
                <a:cs typeface="Times New Roman"/>
                <a:sym typeface="Times New Roman"/>
              </a:rPr>
              <a:t>¿ Qué diferencia hay entre estas dos estructuras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43"/>
          <p:cNvSpPr txBox="1"/>
          <p:nvPr/>
        </p:nvSpPr>
        <p:spPr>
          <a:xfrm>
            <a:off x="381000" y="76200"/>
            <a:ext cx="7391400" cy="342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rPr lang="es-AR" sz="2400">
                <a:solidFill>
                  <a:schemeClr val="dk1"/>
                </a:solidFill>
                <a:latin typeface="Times New Roman"/>
                <a:ea typeface="Times New Roman"/>
                <a:cs typeface="Times New Roman"/>
                <a:sym typeface="Times New Roman"/>
              </a:rPr>
              <a:t>¿ De qué tipo debe ser la variable  </a:t>
            </a:r>
            <a:r>
              <a:rPr b="1" lang="es-AR" sz="2400">
                <a:solidFill>
                  <a:schemeClr val="dk1"/>
                </a:solidFill>
                <a:latin typeface="Courier New"/>
                <a:ea typeface="Courier New"/>
                <a:cs typeface="Courier New"/>
                <a:sym typeface="Courier New"/>
              </a:rPr>
              <a:t>item</a:t>
            </a:r>
            <a:r>
              <a:rPr lang="es-AR" sz="2400">
                <a:solidFill>
                  <a:schemeClr val="dk1"/>
                </a:solidFill>
                <a:latin typeface="Times New Roman"/>
                <a:ea typeface="Times New Roman"/>
                <a:cs typeface="Times New Roman"/>
                <a:sym typeface="Times New Roman"/>
              </a:rPr>
              <a:t> en cada caso?</a:t>
            </a:r>
            <a:endParaRPr sz="2400">
              <a:solidFill>
                <a:schemeClr val="dk1"/>
              </a:solidFill>
              <a:latin typeface="Times New Roman"/>
              <a:ea typeface="Times New Roman"/>
              <a:cs typeface="Times New Roman"/>
              <a:sym typeface="Times New Roman"/>
            </a:endParaRPr>
          </a:p>
        </p:txBody>
      </p:sp>
      <p:grpSp>
        <p:nvGrpSpPr>
          <p:cNvPr id="435" name="Google Shape;435;p43"/>
          <p:cNvGrpSpPr/>
          <p:nvPr/>
        </p:nvGrpSpPr>
        <p:grpSpPr>
          <a:xfrm>
            <a:off x="304800" y="495300"/>
            <a:ext cx="8305800" cy="1386975"/>
            <a:chOff x="304800" y="723900"/>
            <a:chExt cx="8305800" cy="1386975"/>
          </a:xfrm>
        </p:grpSpPr>
        <p:sp>
          <p:nvSpPr>
            <p:cNvPr id="436" name="Google Shape;436;p43"/>
            <p:cNvSpPr/>
            <p:nvPr/>
          </p:nvSpPr>
          <p:spPr>
            <a:xfrm>
              <a:off x="304800" y="739275"/>
              <a:ext cx="8305800" cy="1371600"/>
            </a:xfrm>
            <a:prstGeom prst="roundRect">
              <a:avLst>
                <a:gd fmla="val 3426"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437" name="Google Shape;437;p43"/>
            <p:cNvSpPr txBox="1"/>
            <p:nvPr/>
          </p:nvSpPr>
          <p:spPr>
            <a:xfrm>
              <a:off x="4510088" y="795338"/>
              <a:ext cx="3886200" cy="12012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typedef struct</a:t>
              </a:r>
              <a:r>
                <a:rPr lang="es-AR">
                  <a:latin typeface="Consolas"/>
                  <a:ea typeface="Consolas"/>
                  <a:cs typeface="Consolas"/>
                  <a:sym typeface="Consolas"/>
                </a:rPr>
                <a:t> </a:t>
              </a:r>
              <a:r>
                <a:rPr b="1" lang="es-AR" sz="1900">
                  <a:solidFill>
                    <a:schemeClr val="dk1"/>
                  </a:solidFill>
                  <a:latin typeface="Consolas"/>
                  <a:ea typeface="Consolas"/>
                  <a:cs typeface="Consolas"/>
                  <a:sym typeface="Consolas"/>
                </a:rPr>
                <a:t>{</a:t>
              </a:r>
              <a:endParaRPr>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int code; </a:t>
              </a:r>
              <a:endParaRPr>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char * descr;</a:t>
              </a:r>
              <a:endParaRPr>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itemType2;</a:t>
              </a:r>
              <a:endParaRPr>
                <a:latin typeface="Consolas"/>
                <a:ea typeface="Consolas"/>
                <a:cs typeface="Consolas"/>
                <a:sym typeface="Consolas"/>
              </a:endParaRPr>
            </a:p>
            <a:p>
              <a:pPr indent="0" lvl="0" marL="0" marR="0" rtl="0" algn="l">
                <a:lnSpc>
                  <a:spcPct val="80000"/>
                </a:lnSpc>
                <a:spcBef>
                  <a:spcPts val="160"/>
                </a:spcBef>
                <a:spcAft>
                  <a:spcPts val="0"/>
                </a:spcAft>
                <a:buClr>
                  <a:schemeClr val="dk1"/>
                </a:buClr>
                <a:buSzPts val="800"/>
                <a:buFont typeface="Times New Roman"/>
                <a:buNone/>
              </a:pPr>
              <a:r>
                <a:t/>
              </a:r>
              <a:endParaRPr b="1" sz="800">
                <a:solidFill>
                  <a:schemeClr val="dk1"/>
                </a:solidFill>
                <a:latin typeface="Consolas"/>
                <a:ea typeface="Consolas"/>
                <a:cs typeface="Consolas"/>
                <a:sym typeface="Consolas"/>
              </a:endParaRPr>
            </a:p>
          </p:txBody>
        </p:sp>
        <p:sp>
          <p:nvSpPr>
            <p:cNvPr id="438" name="Google Shape;438;p43"/>
            <p:cNvSpPr txBox="1"/>
            <p:nvPr/>
          </p:nvSpPr>
          <p:spPr>
            <a:xfrm>
              <a:off x="455618" y="878675"/>
              <a:ext cx="3627900" cy="11097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typedef struct</a:t>
              </a:r>
              <a:r>
                <a:rPr lang="es-AR">
                  <a:latin typeface="Consolas"/>
                  <a:ea typeface="Consolas"/>
                  <a:cs typeface="Consolas"/>
                  <a:sym typeface="Consolas"/>
                </a:rPr>
                <a:t> </a:t>
              </a:r>
              <a:r>
                <a:rPr b="1" lang="es-AR" sz="1900">
                  <a:solidFill>
                    <a:schemeClr val="dk1"/>
                  </a:solidFill>
                  <a:latin typeface="Consolas"/>
                  <a:ea typeface="Consolas"/>
                  <a:cs typeface="Consolas"/>
                  <a:sym typeface="Consolas"/>
                </a:rPr>
                <a:t>{</a:t>
              </a:r>
              <a:endParaRPr>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int code; </a:t>
              </a:r>
              <a:endParaRPr>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char descr[10];</a:t>
              </a:r>
              <a:endParaRPr>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itemType1;</a:t>
              </a:r>
              <a:endParaRPr>
                <a:latin typeface="Consolas"/>
                <a:ea typeface="Consolas"/>
                <a:cs typeface="Consolas"/>
                <a:sym typeface="Consolas"/>
              </a:endParaRPr>
            </a:p>
          </p:txBody>
        </p:sp>
        <p:cxnSp>
          <p:nvCxnSpPr>
            <p:cNvPr id="439" name="Google Shape;439;p43"/>
            <p:cNvCxnSpPr/>
            <p:nvPr/>
          </p:nvCxnSpPr>
          <p:spPr>
            <a:xfrm>
              <a:off x="4343400" y="723900"/>
              <a:ext cx="0" cy="1371600"/>
            </a:xfrm>
            <a:prstGeom prst="straightConnector1">
              <a:avLst/>
            </a:prstGeom>
            <a:noFill/>
            <a:ln cap="flat" cmpd="sng" w="9525">
              <a:solidFill>
                <a:schemeClr val="dk1"/>
              </a:solidFill>
              <a:prstDash val="solid"/>
              <a:round/>
              <a:headEnd len="med" w="med" type="none"/>
              <a:tailEnd len="med" w="med" type="none"/>
            </a:ln>
          </p:spPr>
        </p:cxnSp>
      </p:grpSp>
      <p:sp>
        <p:nvSpPr>
          <p:cNvPr id="440" name="Google Shape;440;p43"/>
          <p:cNvSpPr/>
          <p:nvPr/>
        </p:nvSpPr>
        <p:spPr>
          <a:xfrm>
            <a:off x="304800" y="2095500"/>
            <a:ext cx="8305800" cy="2905800"/>
          </a:xfrm>
          <a:prstGeom prst="roundRect">
            <a:avLst>
              <a:gd fmla="val 3426"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441" name="Google Shape;441;p43"/>
          <p:cNvSpPr txBox="1"/>
          <p:nvPr/>
        </p:nvSpPr>
        <p:spPr>
          <a:xfrm>
            <a:off x="455625" y="2174074"/>
            <a:ext cx="7926300" cy="29058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item = {98, "Lapicera"}, item2;</a:t>
            </a:r>
            <a:endParaRPr>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Times New Roman"/>
              <a:buNone/>
            </a:pPr>
            <a:r>
              <a:t/>
            </a:r>
            <a:endParaRPr b="1" sz="19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item2 = item;</a:t>
            </a:r>
            <a:endParaRPr>
              <a:latin typeface="Consolas"/>
              <a:ea typeface="Consolas"/>
              <a:cs typeface="Consolas"/>
              <a:sym typeface="Consolas"/>
            </a:endParaRPr>
          </a:p>
          <a:p>
            <a:pPr indent="0" lvl="0" marL="0" marR="0" rtl="0" algn="l">
              <a:lnSpc>
                <a:spcPct val="80000"/>
              </a:lnSpc>
              <a:spcBef>
                <a:spcPts val="160"/>
              </a:spcBef>
              <a:spcAft>
                <a:spcPts val="0"/>
              </a:spcAft>
              <a:buClr>
                <a:schemeClr val="dk1"/>
              </a:buClr>
              <a:buSzPts val="800"/>
              <a:buFont typeface="Times New Roman"/>
              <a:buNone/>
            </a:pPr>
            <a:r>
              <a:t/>
            </a:r>
            <a:endParaRPr b="1" sz="8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strcpy(item.descr,"Tijera");</a:t>
            </a:r>
            <a:endParaRPr>
              <a:latin typeface="Consolas"/>
              <a:ea typeface="Consolas"/>
              <a:cs typeface="Consolas"/>
              <a:sym typeface="Consolas"/>
            </a:endParaRPr>
          </a:p>
          <a:p>
            <a:pPr indent="0" lvl="0" marL="0" marR="0" rtl="0" algn="l">
              <a:lnSpc>
                <a:spcPct val="80000"/>
              </a:lnSpc>
              <a:spcBef>
                <a:spcPts val="160"/>
              </a:spcBef>
              <a:spcAft>
                <a:spcPts val="0"/>
              </a:spcAft>
              <a:buClr>
                <a:schemeClr val="dk1"/>
              </a:buClr>
              <a:buSzPts val="800"/>
              <a:buFont typeface="Times New Roman"/>
              <a:buNone/>
            </a:pPr>
            <a:r>
              <a:t/>
            </a:r>
            <a:endParaRPr b="1" sz="8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strcpy(item.descr,"Papel glase");</a:t>
            </a:r>
            <a:endParaRPr>
              <a:latin typeface="Consolas"/>
              <a:ea typeface="Consolas"/>
              <a:cs typeface="Consolas"/>
              <a:sym typeface="Consolas"/>
            </a:endParaRPr>
          </a:p>
          <a:p>
            <a:pPr indent="0" lvl="0" marL="0" marR="0" rtl="0" algn="l">
              <a:lnSpc>
                <a:spcPct val="80000"/>
              </a:lnSpc>
              <a:spcBef>
                <a:spcPts val="160"/>
              </a:spcBef>
              <a:spcAft>
                <a:spcPts val="0"/>
              </a:spcAft>
              <a:buClr>
                <a:schemeClr val="dk1"/>
              </a:buClr>
              <a:buSzPts val="800"/>
              <a:buFont typeface="Times New Roman"/>
              <a:buNone/>
            </a:pPr>
            <a:r>
              <a:t/>
            </a:r>
            <a:endParaRPr b="1" sz="8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item</a:t>
            </a:r>
            <a:r>
              <a:rPr b="1" lang="es-AR" sz="1900">
                <a:solidFill>
                  <a:schemeClr val="dk1"/>
                </a:solidFill>
                <a:latin typeface="Consolas"/>
                <a:ea typeface="Consolas"/>
                <a:cs typeface="Consolas"/>
                <a:sym typeface="Consolas"/>
              </a:rPr>
              <a:t>.code = 9;</a:t>
            </a:r>
            <a:endParaRPr>
              <a:latin typeface="Consolas"/>
              <a:ea typeface="Consolas"/>
              <a:cs typeface="Consolas"/>
              <a:sym typeface="Consolas"/>
            </a:endParaRPr>
          </a:p>
          <a:p>
            <a:pPr indent="0" lvl="0" marL="0" marR="0" rtl="0" algn="l">
              <a:lnSpc>
                <a:spcPct val="80000"/>
              </a:lnSpc>
              <a:spcBef>
                <a:spcPts val="160"/>
              </a:spcBef>
              <a:spcAft>
                <a:spcPts val="0"/>
              </a:spcAft>
              <a:buClr>
                <a:schemeClr val="dk1"/>
              </a:buClr>
              <a:buSzPts val="800"/>
              <a:buFont typeface="Times New Roman"/>
              <a:buNone/>
            </a:pPr>
            <a:r>
              <a:t/>
            </a:r>
            <a:endParaRPr b="1" sz="8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item</a:t>
            </a:r>
            <a:r>
              <a:rPr b="1" lang="es-AR" sz="1900">
                <a:solidFill>
                  <a:schemeClr val="dk1"/>
                </a:solidFill>
                <a:latin typeface="Consolas"/>
                <a:ea typeface="Consolas"/>
                <a:cs typeface="Consolas"/>
                <a:sym typeface="Consolas"/>
              </a:rPr>
              <a:t>.descr = "Hola";</a:t>
            </a:r>
            <a:endParaRPr>
              <a:latin typeface="Consolas"/>
              <a:ea typeface="Consolas"/>
              <a:cs typeface="Consolas"/>
              <a:sym typeface="Consolas"/>
            </a:endParaRPr>
          </a:p>
          <a:p>
            <a:pPr indent="0" lvl="0" marL="0" marR="0" rtl="0" algn="l">
              <a:lnSpc>
                <a:spcPct val="80000"/>
              </a:lnSpc>
              <a:spcBef>
                <a:spcPts val="160"/>
              </a:spcBef>
              <a:spcAft>
                <a:spcPts val="0"/>
              </a:spcAft>
              <a:buClr>
                <a:schemeClr val="dk1"/>
              </a:buClr>
              <a:buSzPts val="800"/>
              <a:buFont typeface="Times New Roman"/>
              <a:buNone/>
            </a:pPr>
            <a:r>
              <a:t/>
            </a:r>
            <a:endParaRPr b="1" sz="8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item</a:t>
            </a:r>
            <a:r>
              <a:rPr b="1" lang="es-AR" sz="1900">
                <a:solidFill>
                  <a:schemeClr val="dk1"/>
                </a:solidFill>
                <a:latin typeface="Consolas"/>
                <a:ea typeface="Consolas"/>
                <a:cs typeface="Consolas"/>
                <a:sym typeface="Consolas"/>
              </a:rPr>
              <a:t>.descr[0] = 'A';</a:t>
            </a:r>
            <a:endParaRPr>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Times New Roman"/>
              <a:buNone/>
            </a:pPr>
            <a:r>
              <a:t/>
            </a:r>
            <a:endParaRPr b="1" sz="1900">
              <a:solidFill>
                <a:schemeClr val="dk1"/>
              </a:solidFill>
              <a:latin typeface="Consolas"/>
              <a:ea typeface="Consolas"/>
              <a:cs typeface="Consolas"/>
              <a:sym typeface="Consola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4"/>
          <p:cNvSpPr txBox="1"/>
          <p:nvPr>
            <p:ph type="title"/>
          </p:nvPr>
        </p:nvSpPr>
        <p:spPr>
          <a:xfrm>
            <a:off x="685800" y="285750"/>
            <a:ext cx="7772400" cy="857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i="1" lang="es-AR" sz="3600"/>
              <a:t>Una estructura como parámetro </a:t>
            </a:r>
            <a:br>
              <a:rPr b="1" i="1" lang="es-AR" sz="3600"/>
            </a:br>
            <a:r>
              <a:rPr b="1" i="1" lang="es-AR" sz="3600"/>
              <a:t>de una función</a:t>
            </a:r>
            <a:endParaRPr/>
          </a:p>
        </p:txBody>
      </p:sp>
      <p:sp>
        <p:nvSpPr>
          <p:cNvPr id="447" name="Google Shape;447;p44"/>
          <p:cNvSpPr txBox="1"/>
          <p:nvPr/>
        </p:nvSpPr>
        <p:spPr>
          <a:xfrm>
            <a:off x="685800" y="1371600"/>
            <a:ext cx="7924800" cy="17121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accent2"/>
              </a:buClr>
              <a:buSzPts val="2400"/>
              <a:buFont typeface="Arial Black"/>
              <a:buNone/>
            </a:pPr>
            <a:r>
              <a:rPr lang="es-AR" sz="2400">
                <a:solidFill>
                  <a:schemeClr val="accent2"/>
                </a:solidFill>
                <a:latin typeface="Arial Black"/>
                <a:ea typeface="Arial Black"/>
                <a:cs typeface="Arial Black"/>
                <a:sym typeface="Arial Black"/>
              </a:rPr>
              <a:t>Se envía al stack una copia de la estructura. </a:t>
            </a:r>
            <a:endParaRPr/>
          </a:p>
          <a:p>
            <a:pPr indent="0" lvl="0" marL="0" marR="0" rtl="0" algn="ctr">
              <a:spcBef>
                <a:spcPts val="1200"/>
              </a:spcBef>
              <a:spcAft>
                <a:spcPts val="0"/>
              </a:spcAft>
              <a:buClr>
                <a:schemeClr val="dk1"/>
              </a:buClr>
              <a:buSzPts val="2400"/>
              <a:buFont typeface="Times New Roman"/>
              <a:buNone/>
            </a:pPr>
            <a:r>
              <a:t/>
            </a:r>
            <a:endParaRPr sz="2400">
              <a:solidFill>
                <a:schemeClr val="accent2"/>
              </a:solidFill>
              <a:latin typeface="Arial Black"/>
              <a:ea typeface="Arial Black"/>
              <a:cs typeface="Arial Black"/>
              <a:sym typeface="Arial Black"/>
            </a:endParaRPr>
          </a:p>
          <a:p>
            <a:pPr indent="0" lvl="0" marL="0" marR="0" rtl="0" algn="ctr">
              <a:spcBef>
                <a:spcPts val="1200"/>
              </a:spcBef>
              <a:spcAft>
                <a:spcPts val="0"/>
              </a:spcAft>
              <a:buClr>
                <a:schemeClr val="accent2"/>
              </a:buClr>
              <a:buSzPts val="2400"/>
              <a:buFont typeface="Arial Black"/>
              <a:buNone/>
            </a:pPr>
            <a:r>
              <a:rPr lang="es-AR" sz="2400">
                <a:solidFill>
                  <a:schemeClr val="accent2"/>
                </a:solidFill>
                <a:latin typeface="Arial Black"/>
                <a:ea typeface="Arial Black"/>
                <a:cs typeface="Arial Black"/>
                <a:sym typeface="Arial Black"/>
              </a:rPr>
              <a:t>Como se envía una copia, si la función modifica un campo, la variable original (el parámetro actual) no se ve alterada</a:t>
            </a:r>
            <a:endParaRPr/>
          </a:p>
        </p:txBody>
      </p:sp>
      <p:sp>
        <p:nvSpPr>
          <p:cNvPr id="448" name="Google Shape;448;p44"/>
          <p:cNvSpPr/>
          <p:nvPr/>
        </p:nvSpPr>
        <p:spPr>
          <a:xfrm>
            <a:off x="381000" y="3810000"/>
            <a:ext cx="8382004" cy="628650"/>
          </a:xfrm>
          <a:prstGeom prst="rect">
            <a:avLst/>
          </a:prstGeom>
        </p:spPr>
        <p:txBody>
          <a:bodyPr>
            <a:prstTxWarp prst="textPlain"/>
          </a:bodyPr>
          <a:lstStyle/>
          <a:p>
            <a:pPr lvl="0" algn="ctr"/>
            <a:r>
              <a:rPr b="0" i="0">
                <a:ln cap="flat" cmpd="sng" w="19050">
                  <a:solidFill>
                    <a:srgbClr val="FF99CC"/>
                  </a:solidFill>
                  <a:prstDash val="solid"/>
                  <a:round/>
                  <a:headEnd len="sm" w="sm" type="none"/>
                  <a:tailEnd len="sm" w="sm" type="none"/>
                </a:ln>
                <a:solidFill>
                  <a:srgbClr val="800000"/>
                </a:solidFill>
                <a:latin typeface="Impact"/>
              </a:rPr>
              <a:t>¿ Cómo modificamos la variable original ?</a:t>
            </a: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45"/>
          <p:cNvSpPr txBox="1"/>
          <p:nvPr>
            <p:ph type="title"/>
          </p:nvPr>
        </p:nvSpPr>
        <p:spPr>
          <a:xfrm>
            <a:off x="685800" y="95250"/>
            <a:ext cx="7772400" cy="457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i="1" lang="es-AR" sz="3600"/>
              <a:t>Punteros a estructuras</a:t>
            </a:r>
            <a:endParaRPr/>
          </a:p>
        </p:txBody>
      </p:sp>
      <p:sp>
        <p:nvSpPr>
          <p:cNvPr id="454" name="Google Shape;454;p45"/>
          <p:cNvSpPr/>
          <p:nvPr/>
        </p:nvSpPr>
        <p:spPr>
          <a:xfrm>
            <a:off x="228600" y="613575"/>
            <a:ext cx="6990600" cy="2815500"/>
          </a:xfrm>
          <a:prstGeom prst="roundRect">
            <a:avLst>
              <a:gd fmla="val 5917" name="adj"/>
            </a:avLst>
          </a:prstGeom>
          <a:solidFill>
            <a:srgbClr val="99FFCC"/>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455" name="Google Shape;455;p45"/>
          <p:cNvSpPr txBox="1"/>
          <p:nvPr/>
        </p:nvSpPr>
        <p:spPr>
          <a:xfrm>
            <a:off x="304800" y="670325"/>
            <a:ext cx="6573300" cy="26703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typedef struct {</a:t>
            </a:r>
            <a:endParaRPr>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	int	 code;</a:t>
            </a:r>
            <a:endParaRPr>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	char * name;</a:t>
            </a:r>
            <a:endParaRPr>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 myType;</a:t>
            </a:r>
            <a:endParaRPr>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myType</a:t>
            </a:r>
            <a:r>
              <a:rPr b="1" lang="es-AR" sz="2200">
                <a:solidFill>
                  <a:schemeClr val="dk1"/>
                </a:solidFill>
                <a:latin typeface="Consolas"/>
                <a:ea typeface="Consolas"/>
                <a:cs typeface="Consolas"/>
                <a:sym typeface="Consolas"/>
              </a:rPr>
              <a:t> myStruct;</a:t>
            </a:r>
            <a:endParaRPr>
              <a:latin typeface="Consolas"/>
              <a:ea typeface="Consolas"/>
              <a:cs typeface="Consolas"/>
              <a:sym typeface="Consolas"/>
            </a:endParaRPr>
          </a:p>
          <a:p>
            <a:pPr indent="0" lvl="0" marL="0" marR="0" rtl="0" algn="l">
              <a:lnSpc>
                <a:spcPct val="80000"/>
              </a:lnSpc>
              <a:spcBef>
                <a:spcPts val="440"/>
              </a:spcBef>
              <a:spcAft>
                <a:spcPts val="0"/>
              </a:spcAft>
              <a:buClr>
                <a:schemeClr val="accent2"/>
              </a:buClr>
              <a:buSzPts val="2200"/>
              <a:buFont typeface="Courier New"/>
              <a:buNone/>
            </a:pPr>
            <a:r>
              <a:rPr b="1" lang="es-AR" sz="2200">
                <a:solidFill>
                  <a:schemeClr val="accent2"/>
                </a:solidFill>
                <a:latin typeface="Consolas"/>
                <a:ea typeface="Consolas"/>
                <a:cs typeface="Consolas"/>
                <a:sym typeface="Consolas"/>
              </a:rPr>
              <a:t>myType</a:t>
            </a:r>
            <a:r>
              <a:rPr b="1" lang="es-AR" sz="2200">
                <a:solidFill>
                  <a:schemeClr val="accent2"/>
                </a:solidFill>
                <a:latin typeface="Consolas"/>
                <a:ea typeface="Consolas"/>
                <a:cs typeface="Consolas"/>
                <a:sym typeface="Consolas"/>
              </a:rPr>
              <a:t> * p = &amp;myStruct;</a:t>
            </a:r>
            <a:endParaRPr b="1" sz="2200">
              <a:solidFill>
                <a:schemeClr val="accent2"/>
              </a:solidFill>
              <a:latin typeface="Consolas"/>
              <a:ea typeface="Consolas"/>
              <a:cs typeface="Consolas"/>
              <a:sym typeface="Consolas"/>
            </a:endParaRPr>
          </a:p>
          <a:p>
            <a:pPr indent="0" lvl="0" marL="0" rtl="0" algn="l">
              <a:lnSpc>
                <a:spcPct val="80000"/>
              </a:lnSpc>
              <a:spcBef>
                <a:spcPts val="440"/>
              </a:spcBef>
              <a:spcAft>
                <a:spcPts val="0"/>
              </a:spcAft>
              <a:buClr>
                <a:schemeClr val="accent2"/>
              </a:buClr>
              <a:buSzPts val="2200"/>
              <a:buFont typeface="Courier New"/>
              <a:buNone/>
            </a:pPr>
            <a:r>
              <a:rPr b="1" lang="es-AR" sz="2200">
                <a:solidFill>
                  <a:schemeClr val="accent2"/>
                </a:solidFill>
                <a:latin typeface="Consolas"/>
                <a:ea typeface="Consolas"/>
                <a:cs typeface="Consolas"/>
                <a:sym typeface="Consolas"/>
              </a:rPr>
              <a:t>myType * q = malloc(sizeof(myType));</a:t>
            </a:r>
            <a:endParaRPr b="1" sz="2200">
              <a:solidFill>
                <a:schemeClr val="accent2"/>
              </a:solidFill>
              <a:latin typeface="Consolas"/>
              <a:ea typeface="Consolas"/>
              <a:cs typeface="Consolas"/>
              <a:sym typeface="Consolas"/>
            </a:endParaRPr>
          </a:p>
          <a:p>
            <a:pPr indent="0" lvl="0" marL="0" rtl="0" algn="l">
              <a:lnSpc>
                <a:spcPct val="80000"/>
              </a:lnSpc>
              <a:spcBef>
                <a:spcPts val="440"/>
              </a:spcBef>
              <a:spcAft>
                <a:spcPts val="0"/>
              </a:spcAft>
              <a:buClr>
                <a:schemeClr val="accent2"/>
              </a:buClr>
              <a:buSzPts val="2200"/>
              <a:buFont typeface="Courier New"/>
              <a:buNone/>
            </a:pPr>
            <a:r>
              <a:rPr b="1" lang="es-AR" sz="2200">
                <a:solidFill>
                  <a:schemeClr val="accent2"/>
                </a:solidFill>
                <a:latin typeface="Consolas"/>
                <a:ea typeface="Consolas"/>
                <a:cs typeface="Consolas"/>
                <a:sym typeface="Consolas"/>
              </a:rPr>
              <a:t>myType * r = calloc(10, sizeof(myType));</a:t>
            </a:r>
            <a:endParaRPr b="1" sz="2200">
              <a:solidFill>
                <a:schemeClr val="accent2"/>
              </a:solidFill>
              <a:latin typeface="Consolas"/>
              <a:ea typeface="Consolas"/>
              <a:cs typeface="Consolas"/>
              <a:sym typeface="Consolas"/>
            </a:endParaRPr>
          </a:p>
        </p:txBody>
      </p:sp>
      <p:grpSp>
        <p:nvGrpSpPr>
          <p:cNvPr id="456" name="Google Shape;456;p45"/>
          <p:cNvGrpSpPr/>
          <p:nvPr/>
        </p:nvGrpSpPr>
        <p:grpSpPr>
          <a:xfrm>
            <a:off x="304800" y="3467100"/>
            <a:ext cx="7010400" cy="357188"/>
            <a:chOff x="192" y="2976"/>
            <a:chExt cx="4416" cy="300"/>
          </a:xfrm>
        </p:grpSpPr>
        <p:sp>
          <p:nvSpPr>
            <p:cNvPr id="457" name="Google Shape;457;p45"/>
            <p:cNvSpPr txBox="1"/>
            <p:nvPr/>
          </p:nvSpPr>
          <p:spPr>
            <a:xfrm>
              <a:off x="192" y="2976"/>
              <a:ext cx="3312" cy="2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0066"/>
                </a:buClr>
                <a:buSzPts val="2400"/>
                <a:buFont typeface="Comic Sans MS"/>
                <a:buNone/>
              </a:pPr>
              <a:r>
                <a:rPr lang="es-AR" sz="2400">
                  <a:solidFill>
                    <a:srgbClr val="CC0066"/>
                  </a:solidFill>
                  <a:latin typeface="Comic Sans MS"/>
                  <a:ea typeface="Comic Sans MS"/>
                  <a:cs typeface="Comic Sans MS"/>
                  <a:sym typeface="Comic Sans MS"/>
                </a:rPr>
                <a:t>Acceso a la estructura como unidad</a:t>
              </a:r>
              <a:endParaRPr sz="2400">
                <a:solidFill>
                  <a:srgbClr val="CC0066"/>
                </a:solidFill>
                <a:latin typeface="Comic Sans MS"/>
                <a:ea typeface="Comic Sans MS"/>
                <a:cs typeface="Comic Sans MS"/>
                <a:sym typeface="Comic Sans MS"/>
              </a:endParaRPr>
            </a:p>
          </p:txBody>
        </p:sp>
        <p:sp>
          <p:nvSpPr>
            <p:cNvPr id="458" name="Google Shape;458;p45"/>
            <p:cNvSpPr txBox="1"/>
            <p:nvPr/>
          </p:nvSpPr>
          <p:spPr>
            <a:xfrm>
              <a:off x="3408" y="2976"/>
              <a:ext cx="1200" cy="3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Courier New"/>
                <a:buNone/>
              </a:pPr>
              <a:r>
                <a:rPr b="1" lang="es-AR" sz="2400">
                  <a:solidFill>
                    <a:schemeClr val="dk1"/>
                  </a:solidFill>
                  <a:latin typeface="Consolas"/>
                  <a:ea typeface="Consolas"/>
                  <a:cs typeface="Consolas"/>
                  <a:sym typeface="Consolas"/>
                </a:rPr>
                <a:t>*p</a:t>
              </a:r>
              <a:endParaRPr b="1" sz="2400">
                <a:solidFill>
                  <a:schemeClr val="dk1"/>
                </a:solidFill>
                <a:latin typeface="Consolas"/>
                <a:ea typeface="Consolas"/>
                <a:cs typeface="Consolas"/>
                <a:sym typeface="Consolas"/>
              </a:endParaRPr>
            </a:p>
          </p:txBody>
        </p:sp>
      </p:grpSp>
      <p:grpSp>
        <p:nvGrpSpPr>
          <p:cNvPr id="459" name="Google Shape;459;p45"/>
          <p:cNvGrpSpPr/>
          <p:nvPr/>
        </p:nvGrpSpPr>
        <p:grpSpPr>
          <a:xfrm>
            <a:off x="304800" y="3924300"/>
            <a:ext cx="8458200" cy="890587"/>
            <a:chOff x="192" y="3360"/>
            <a:chExt cx="5328" cy="748"/>
          </a:xfrm>
        </p:grpSpPr>
        <p:sp>
          <p:nvSpPr>
            <p:cNvPr id="460" name="Google Shape;460;p45"/>
            <p:cNvSpPr txBox="1"/>
            <p:nvPr/>
          </p:nvSpPr>
          <p:spPr>
            <a:xfrm>
              <a:off x="192" y="3360"/>
              <a:ext cx="2208" cy="2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0066"/>
                </a:buClr>
                <a:buSzPts val="2400"/>
                <a:buFont typeface="Comic Sans MS"/>
                <a:buNone/>
              </a:pPr>
              <a:r>
                <a:rPr lang="es-AR" sz="2400">
                  <a:solidFill>
                    <a:srgbClr val="CC0066"/>
                  </a:solidFill>
                  <a:latin typeface="Comic Sans MS"/>
                  <a:ea typeface="Comic Sans MS"/>
                  <a:cs typeface="Comic Sans MS"/>
                  <a:sym typeface="Comic Sans MS"/>
                </a:rPr>
                <a:t>Acceso a sus campos</a:t>
              </a:r>
              <a:endParaRPr sz="2400">
                <a:solidFill>
                  <a:srgbClr val="CC0066"/>
                </a:solidFill>
                <a:latin typeface="Comic Sans MS"/>
                <a:ea typeface="Comic Sans MS"/>
                <a:cs typeface="Comic Sans MS"/>
                <a:sym typeface="Comic Sans MS"/>
              </a:endParaRPr>
            </a:p>
          </p:txBody>
        </p:sp>
        <p:sp>
          <p:nvSpPr>
            <p:cNvPr id="461" name="Google Shape;461;p45"/>
            <p:cNvSpPr txBox="1"/>
            <p:nvPr/>
          </p:nvSpPr>
          <p:spPr>
            <a:xfrm>
              <a:off x="2640" y="3360"/>
              <a:ext cx="2880" cy="74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Courier New"/>
                <a:buNone/>
              </a:pPr>
              <a:r>
                <a:rPr b="1" lang="es-AR" sz="2400">
                  <a:solidFill>
                    <a:schemeClr val="dk1"/>
                  </a:solidFill>
                  <a:latin typeface="Consolas"/>
                  <a:ea typeface="Consolas"/>
                  <a:cs typeface="Consolas"/>
                  <a:sym typeface="Consolas"/>
                </a:rPr>
                <a:t>(*p</a:t>
              </a:r>
              <a:r>
                <a:rPr b="1" lang="es-AR" sz="2400">
                  <a:solidFill>
                    <a:schemeClr val="dk1"/>
                  </a:solidFill>
                  <a:latin typeface="Consolas"/>
                  <a:ea typeface="Consolas"/>
                  <a:cs typeface="Consolas"/>
                  <a:sym typeface="Consolas"/>
                </a:rPr>
                <a:t>)</a:t>
              </a:r>
              <a:r>
                <a:rPr b="1" lang="es-AR" sz="2400">
                  <a:solidFill>
                    <a:schemeClr val="dk1"/>
                  </a:solidFill>
                  <a:latin typeface="Consolas"/>
                  <a:ea typeface="Consolas"/>
                  <a:cs typeface="Consolas"/>
                  <a:sym typeface="Consolas"/>
                </a:rPr>
                <a:t>.code</a:t>
              </a:r>
              <a:endParaRPr>
                <a:latin typeface="Consolas"/>
                <a:ea typeface="Consolas"/>
                <a:cs typeface="Consolas"/>
                <a:sym typeface="Consolas"/>
              </a:endParaRPr>
            </a:p>
            <a:p>
              <a:pPr indent="0" lvl="0" marL="0" marR="0" rtl="0" algn="ctr">
                <a:spcBef>
                  <a:spcPts val="0"/>
                </a:spcBef>
                <a:spcAft>
                  <a:spcPts val="0"/>
                </a:spcAft>
                <a:buClr>
                  <a:srgbClr val="CC0066"/>
                </a:buClr>
                <a:buSzPts val="2400"/>
                <a:buFont typeface="Comic Sans MS"/>
                <a:buNone/>
              </a:pPr>
              <a:r>
                <a:rPr lang="es-AR" sz="2400">
                  <a:solidFill>
                    <a:srgbClr val="CC0066"/>
                  </a:solidFill>
                  <a:latin typeface="Comic Sans MS"/>
                  <a:ea typeface="Comic Sans MS"/>
                  <a:cs typeface="Comic Sans MS"/>
                  <a:sym typeface="Comic Sans MS"/>
                </a:rPr>
                <a:t>o bien </a:t>
              </a:r>
              <a:endParaRPr/>
            </a:p>
            <a:p>
              <a:pPr indent="0" lvl="0" marL="0" marR="0" rtl="0" algn="ctr">
                <a:spcBef>
                  <a:spcPts val="0"/>
                </a:spcBef>
                <a:spcAft>
                  <a:spcPts val="0"/>
                </a:spcAft>
                <a:buClr>
                  <a:schemeClr val="dk1"/>
                </a:buClr>
                <a:buSzPts val="2400"/>
                <a:buFont typeface="Courier New"/>
                <a:buNone/>
              </a:pPr>
              <a:r>
                <a:rPr b="1" lang="es-AR" sz="2400">
                  <a:solidFill>
                    <a:schemeClr val="dk1"/>
                  </a:solidFill>
                  <a:latin typeface="Consolas"/>
                  <a:ea typeface="Consolas"/>
                  <a:cs typeface="Consolas"/>
                  <a:sym typeface="Consolas"/>
                </a:rPr>
                <a:t>p-&gt;code</a:t>
              </a:r>
              <a:endParaRPr b="1" sz="2400">
                <a:solidFill>
                  <a:schemeClr val="dk1"/>
                </a:solidFill>
                <a:latin typeface="Consolas"/>
                <a:ea typeface="Consolas"/>
                <a:cs typeface="Consolas"/>
                <a:sym typeface="Consola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46"/>
          <p:cNvSpPr txBox="1"/>
          <p:nvPr>
            <p:ph type="title"/>
          </p:nvPr>
        </p:nvSpPr>
        <p:spPr>
          <a:xfrm>
            <a:off x="685800" y="38100"/>
            <a:ext cx="7772400" cy="457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i="1" lang="es-AR" sz="3600"/>
              <a:t>Punteros a estructuras</a:t>
            </a:r>
            <a:endParaRPr/>
          </a:p>
        </p:txBody>
      </p:sp>
      <p:sp>
        <p:nvSpPr>
          <p:cNvPr id="467" name="Google Shape;467;p46"/>
          <p:cNvSpPr/>
          <p:nvPr/>
        </p:nvSpPr>
        <p:spPr>
          <a:xfrm>
            <a:off x="228600" y="514350"/>
            <a:ext cx="8610600" cy="4485300"/>
          </a:xfrm>
          <a:prstGeom prst="roundRect">
            <a:avLst>
              <a:gd fmla="val 3426"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468" name="Google Shape;468;p46"/>
          <p:cNvSpPr txBox="1"/>
          <p:nvPr/>
        </p:nvSpPr>
        <p:spPr>
          <a:xfrm>
            <a:off x="304800" y="571500"/>
            <a:ext cx="8383500" cy="41100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typedef struct {  </a:t>
            </a:r>
            <a:endParaRPr b="1" sz="1700">
              <a:solidFill>
                <a:schemeClr val="dk1"/>
              </a:solidFill>
              <a:latin typeface="Consolas"/>
              <a:ea typeface="Consolas"/>
              <a:cs typeface="Consolas"/>
              <a:sym typeface="Consolas"/>
            </a:endParaRPr>
          </a:p>
          <a:p>
            <a:pPr indent="0" lvl="0" marL="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int code;</a:t>
            </a:r>
            <a:endParaRPr b="1" sz="1700">
              <a:solidFill>
                <a:schemeClr val="dk1"/>
              </a:solidFill>
              <a:latin typeface="Consolas"/>
              <a:ea typeface="Consolas"/>
              <a:cs typeface="Consolas"/>
              <a:sym typeface="Consolas"/>
            </a:endParaRPr>
          </a:p>
          <a:p>
            <a:pPr indent="0" lvl="0" marL="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char description[30];</a:t>
            </a:r>
            <a:endParaRPr b="1" sz="1700">
              <a:solidFill>
                <a:schemeClr val="dk1"/>
              </a:solidFill>
              <a:latin typeface="Consolas"/>
              <a:ea typeface="Consolas"/>
              <a:cs typeface="Consolas"/>
              <a:sym typeface="Consolas"/>
            </a:endParaRPr>
          </a:p>
          <a:p>
            <a:pPr indent="0" lvl="0" marL="0" rtl="0" algn="l">
              <a:lnSpc>
                <a:spcPct val="80000"/>
              </a:lnSpc>
              <a:spcBef>
                <a:spcPts val="380"/>
              </a:spcBef>
              <a:spcAft>
                <a:spcPts val="0"/>
              </a:spcAft>
              <a:buClr>
                <a:schemeClr val="dk1"/>
              </a:buClr>
              <a:buSzPts val="1900"/>
              <a:buFont typeface="Courier New"/>
              <a:buNone/>
            </a:pPr>
            <a:r>
              <a:rPr b="1" lang="es-AR" sz="1700">
                <a:solidFill>
                  <a:schemeClr val="dk1"/>
                </a:solidFill>
                <a:latin typeface="Consolas"/>
                <a:ea typeface="Consolas"/>
                <a:cs typeface="Consolas"/>
                <a:sym typeface="Consolas"/>
              </a:rPr>
              <a:t>} itemType;</a:t>
            </a:r>
            <a:endParaRPr b="1" sz="1900">
              <a:solidFill>
                <a:schemeClr val="dk1"/>
              </a:solidFill>
              <a:latin typeface="Consolas"/>
              <a:ea typeface="Consolas"/>
              <a:cs typeface="Consolas"/>
              <a:sym typeface="Consolas"/>
            </a:endParaRPr>
          </a:p>
          <a:p>
            <a:pPr indent="0" lvl="0" marL="0" marR="0" rtl="0" algn="l">
              <a:lnSpc>
                <a:spcPct val="80000"/>
              </a:lnSpc>
              <a:spcBef>
                <a:spcPts val="160"/>
              </a:spcBef>
              <a:spcAft>
                <a:spcPts val="0"/>
              </a:spcAft>
              <a:buClr>
                <a:schemeClr val="dk1"/>
              </a:buClr>
              <a:buSzPts val="800"/>
              <a:buFont typeface="Courier New"/>
              <a:buNone/>
            </a:pPr>
            <a:r>
              <a:rPr b="1" lang="es-AR" sz="800">
                <a:solidFill>
                  <a:schemeClr val="dk1"/>
                </a:solidFill>
                <a:latin typeface="Consolas"/>
                <a:ea typeface="Consolas"/>
                <a:cs typeface="Consolas"/>
                <a:sym typeface="Consolas"/>
              </a:rPr>
              <a:t>  </a:t>
            </a:r>
            <a:endParaRPr b="1" sz="8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void change(</a:t>
            </a:r>
            <a:r>
              <a:rPr b="1" lang="es-AR" sz="1900">
                <a:solidFill>
                  <a:schemeClr val="lt1"/>
                </a:solidFill>
                <a:latin typeface="Consolas"/>
                <a:ea typeface="Consolas"/>
                <a:cs typeface="Consolas"/>
                <a:sym typeface="Consolas"/>
              </a:rPr>
              <a:t> </a:t>
            </a:r>
            <a:r>
              <a:rPr b="1" lang="es-AR" sz="1900">
                <a:solidFill>
                  <a:srgbClr val="CC0066"/>
                </a:solidFill>
                <a:latin typeface="Consolas"/>
                <a:ea typeface="Consolas"/>
                <a:cs typeface="Consolas"/>
                <a:sym typeface="Consolas"/>
              </a:rPr>
              <a:t>itemType</a:t>
            </a:r>
            <a:r>
              <a:rPr b="1" lang="es-AR" sz="1900">
                <a:solidFill>
                  <a:srgbClr val="CC0066"/>
                </a:solidFill>
                <a:latin typeface="Consolas"/>
                <a:ea typeface="Consolas"/>
                <a:cs typeface="Consolas"/>
                <a:sym typeface="Consolas"/>
              </a:rPr>
              <a:t> * item</a:t>
            </a:r>
            <a:r>
              <a:rPr b="1" lang="es-AR" sz="1900">
                <a:solidFill>
                  <a:schemeClr val="dk1"/>
                </a:solidFill>
                <a:latin typeface="Consolas"/>
                <a:ea typeface="Consolas"/>
                <a:cs typeface="Consolas"/>
                <a:sym typeface="Consolas"/>
              </a:rPr>
              <a:t>) {</a:t>
            </a:r>
            <a:endParaRPr>
              <a:latin typeface="Consolas"/>
              <a:ea typeface="Consolas"/>
              <a:cs typeface="Consolas"/>
              <a:sym typeface="Consolas"/>
            </a:endParaRPr>
          </a:p>
          <a:p>
            <a:pPr indent="0" lvl="0" marL="0" marR="0" rtl="0" algn="l">
              <a:lnSpc>
                <a:spcPct val="80000"/>
              </a:lnSpc>
              <a:spcBef>
                <a:spcPts val="380"/>
              </a:spcBef>
              <a:spcAft>
                <a:spcPts val="0"/>
              </a:spcAft>
              <a:buClr>
                <a:schemeClr val="lt1"/>
              </a:buClr>
              <a:buSzPts val="1900"/>
              <a:buFont typeface="Courier New"/>
              <a:buNone/>
            </a:pPr>
            <a:r>
              <a:rPr b="1" lang="es-AR" sz="1900">
                <a:solidFill>
                  <a:schemeClr val="lt1"/>
                </a:solidFill>
                <a:latin typeface="Consolas"/>
                <a:ea typeface="Consolas"/>
                <a:cs typeface="Consolas"/>
                <a:sym typeface="Consolas"/>
              </a:rPr>
              <a:t>    </a:t>
            </a:r>
            <a:r>
              <a:rPr b="1" lang="es-AR" sz="1900">
                <a:solidFill>
                  <a:srgbClr val="CC0066"/>
                </a:solidFill>
                <a:latin typeface="Consolas"/>
                <a:ea typeface="Consolas"/>
                <a:cs typeface="Consolas"/>
                <a:sym typeface="Consolas"/>
              </a:rPr>
              <a:t>(*item).code = 2;</a:t>
            </a:r>
            <a:endParaRPr b="1" sz="1900">
              <a:solidFill>
                <a:srgbClr val="CC0066"/>
              </a:solidFill>
              <a:latin typeface="Consolas"/>
              <a:ea typeface="Consolas"/>
              <a:cs typeface="Consolas"/>
              <a:sym typeface="Consolas"/>
            </a:endParaRPr>
          </a:p>
          <a:p>
            <a:pPr indent="0" lvl="0" marL="0" marR="0" rtl="0" algn="l">
              <a:lnSpc>
                <a:spcPct val="80000"/>
              </a:lnSpc>
              <a:spcBef>
                <a:spcPts val="380"/>
              </a:spcBef>
              <a:spcAft>
                <a:spcPts val="0"/>
              </a:spcAft>
              <a:buClr>
                <a:srgbClr val="CC0066"/>
              </a:buClr>
              <a:buSzPts val="1900"/>
              <a:buFont typeface="Courier New"/>
              <a:buNone/>
            </a:pPr>
            <a:r>
              <a:rPr b="1" lang="es-AR" sz="1900">
                <a:solidFill>
                  <a:srgbClr val="CC0066"/>
                </a:solidFill>
                <a:latin typeface="Consolas"/>
                <a:ea typeface="Consolas"/>
                <a:cs typeface="Consolas"/>
                <a:sym typeface="Consolas"/>
              </a:rPr>
              <a:t>    strcpy((*item).description, "Zapatilla");</a:t>
            </a:r>
            <a:endParaRPr b="1" sz="1900">
              <a:solidFill>
                <a:srgbClr val="CC0066"/>
              </a:solidFill>
              <a:latin typeface="Consolas"/>
              <a:ea typeface="Consolas"/>
              <a:cs typeface="Consolas"/>
              <a:sym typeface="Consolas"/>
            </a:endParaRPr>
          </a:p>
          <a:p>
            <a:pPr indent="0" lvl="0" marL="0" marR="0" rtl="0" algn="l">
              <a:lnSpc>
                <a:spcPct val="80000"/>
              </a:lnSpc>
              <a:spcBef>
                <a:spcPts val="380"/>
              </a:spcBef>
              <a:spcAft>
                <a:spcPts val="0"/>
              </a:spcAft>
              <a:buClr>
                <a:schemeClr val="lt1"/>
              </a:buClr>
              <a:buSzPts val="1900"/>
              <a:buFont typeface="Courier New"/>
              <a:buNone/>
            </a:pPr>
            <a:r>
              <a:rPr b="1" lang="es-AR" sz="1900">
                <a:solidFill>
                  <a:schemeClr val="lt1"/>
                </a:solidFill>
                <a:latin typeface="Consolas"/>
                <a:ea typeface="Consolas"/>
                <a:cs typeface="Consolas"/>
                <a:sym typeface="Consolas"/>
              </a:rPr>
              <a:t>    </a:t>
            </a:r>
            <a:r>
              <a:rPr b="1" lang="es-AR" sz="1900">
                <a:solidFill>
                  <a:schemeClr val="dk1"/>
                </a:solidFill>
                <a:latin typeface="Consolas"/>
                <a:ea typeface="Consolas"/>
                <a:cs typeface="Consolas"/>
                <a:sym typeface="Consolas"/>
              </a:rPr>
              <a:t>return;</a:t>
            </a:r>
            <a:endParaRPr b="1" sz="19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a:t>
            </a:r>
            <a:endParaRPr>
              <a:latin typeface="Consolas"/>
              <a:ea typeface="Consolas"/>
              <a:cs typeface="Consolas"/>
              <a:sym typeface="Consolas"/>
            </a:endParaRPr>
          </a:p>
          <a:p>
            <a:pPr indent="0" lvl="0" marL="0" marR="0" rtl="0" algn="just">
              <a:lnSpc>
                <a:spcPct val="80000"/>
              </a:lnSpc>
              <a:spcBef>
                <a:spcPts val="160"/>
              </a:spcBef>
              <a:spcAft>
                <a:spcPts val="0"/>
              </a:spcAft>
              <a:buClr>
                <a:schemeClr val="dk1"/>
              </a:buClr>
              <a:buSzPts val="800"/>
              <a:buFont typeface="Times New Roman"/>
              <a:buNone/>
            </a:pPr>
            <a:r>
              <a:t/>
            </a:r>
            <a:endParaRPr b="1" sz="800">
              <a:solidFill>
                <a:schemeClr val="dk1"/>
              </a:solidFill>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int main(void)</a:t>
            </a:r>
            <a:r>
              <a:rPr lang="es-AR">
                <a:latin typeface="Consolas"/>
                <a:ea typeface="Consolas"/>
                <a:cs typeface="Consolas"/>
                <a:sym typeface="Consolas"/>
              </a:rPr>
              <a:t> </a:t>
            </a:r>
            <a:r>
              <a:rPr b="1" lang="es-AR" sz="1900">
                <a:solidFill>
                  <a:schemeClr val="dk1"/>
                </a:solidFill>
                <a:latin typeface="Consolas"/>
                <a:ea typeface="Consolas"/>
                <a:cs typeface="Consolas"/>
                <a:sym typeface="Consolas"/>
              </a:rPr>
              <a:t>{ </a:t>
            </a:r>
            <a:endParaRPr>
              <a:latin typeface="Consolas"/>
              <a:ea typeface="Consolas"/>
              <a:cs typeface="Consolas"/>
              <a:sym typeface="Consolas"/>
            </a:endParaRPr>
          </a:p>
          <a:p>
            <a:pPr indent="0" lvl="0" marL="0" marR="0" rtl="0" algn="just">
              <a:lnSpc>
                <a:spcPct val="80000"/>
              </a:lnSpc>
              <a:spcBef>
                <a:spcPts val="380"/>
              </a:spcBef>
              <a:spcAft>
                <a:spcPts val="0"/>
              </a:spcAft>
              <a:buClr>
                <a:schemeClr val="lt1"/>
              </a:buClr>
              <a:buSzPts val="1900"/>
              <a:buFont typeface="Courier New"/>
              <a:buNone/>
            </a:pPr>
            <a:r>
              <a:rPr b="1" lang="es-AR" sz="1900">
                <a:solidFill>
                  <a:schemeClr val="lt1"/>
                </a:solidFill>
                <a:latin typeface="Consolas"/>
                <a:ea typeface="Consolas"/>
                <a:cs typeface="Consolas"/>
                <a:sym typeface="Consolas"/>
              </a:rPr>
              <a:t>	</a:t>
            </a:r>
            <a:r>
              <a:rPr b="1" lang="es-AR" sz="1900">
                <a:solidFill>
                  <a:srgbClr val="CC0066"/>
                </a:solidFill>
                <a:latin typeface="Consolas"/>
                <a:ea typeface="Consolas"/>
                <a:cs typeface="Consolas"/>
                <a:sym typeface="Consolas"/>
              </a:rPr>
              <a:t>itemType</a:t>
            </a:r>
            <a:r>
              <a:rPr b="1" lang="es-AR" sz="1900">
                <a:solidFill>
                  <a:srgbClr val="CC0066"/>
                </a:solidFill>
                <a:latin typeface="Consolas"/>
                <a:ea typeface="Consolas"/>
                <a:cs typeface="Consolas"/>
                <a:sym typeface="Consolas"/>
              </a:rPr>
              <a:t> * it = {1, "Zapato"};</a:t>
            </a:r>
            <a:endParaRPr b="1" sz="1900">
              <a:solidFill>
                <a:srgbClr val="CC0066"/>
              </a:solidFill>
              <a:latin typeface="Consolas"/>
              <a:ea typeface="Consolas"/>
              <a:cs typeface="Consolas"/>
              <a:sym typeface="Consolas"/>
            </a:endParaRPr>
          </a:p>
          <a:p>
            <a:pPr indent="0" lvl="0" marL="0" marR="0" rtl="0" algn="just">
              <a:lnSpc>
                <a:spcPct val="80000"/>
              </a:lnSpc>
              <a:spcBef>
                <a:spcPts val="380"/>
              </a:spcBef>
              <a:spcAft>
                <a:spcPts val="0"/>
              </a:spcAft>
              <a:buClr>
                <a:schemeClr val="lt1"/>
              </a:buClr>
              <a:buSzPts val="1900"/>
              <a:buFont typeface="Courier New"/>
              <a:buNone/>
            </a:pPr>
            <a:r>
              <a:rPr b="1" lang="es-AR" sz="1900">
                <a:solidFill>
                  <a:schemeClr val="lt1"/>
                </a:solidFill>
                <a:latin typeface="Consolas"/>
                <a:ea typeface="Consolas"/>
                <a:cs typeface="Consolas"/>
                <a:sym typeface="Consolas"/>
              </a:rPr>
              <a:t> 	</a:t>
            </a:r>
            <a:r>
              <a:rPr b="1" lang="es-AR" sz="1900">
                <a:solidFill>
                  <a:schemeClr val="dk1"/>
                </a:solidFill>
                <a:latin typeface="Consolas"/>
                <a:ea typeface="Consolas"/>
                <a:cs typeface="Consolas"/>
                <a:sym typeface="Consolas"/>
              </a:rPr>
              <a:t>change</a:t>
            </a:r>
            <a:r>
              <a:rPr b="1" lang="es-AR" sz="1900">
                <a:solidFill>
                  <a:schemeClr val="dk1"/>
                </a:solidFill>
                <a:latin typeface="Consolas"/>
                <a:ea typeface="Consolas"/>
                <a:cs typeface="Consolas"/>
                <a:sym typeface="Consolas"/>
              </a:rPr>
              <a:t>( it );</a:t>
            </a:r>
            <a:endParaRPr>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printf("%d - %s \n", (*it).code, (*it).description);</a:t>
            </a:r>
            <a:endParaRPr>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return 0;</a:t>
            </a:r>
            <a:endParaRPr>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a:t>
            </a:r>
            <a:endParaRPr b="1" sz="1900">
              <a:solidFill>
                <a:schemeClr val="dk1"/>
              </a:solidFill>
              <a:latin typeface="Consolas"/>
              <a:ea typeface="Consolas"/>
              <a:cs typeface="Consolas"/>
              <a:sym typeface="Consola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47"/>
          <p:cNvSpPr txBox="1"/>
          <p:nvPr>
            <p:ph type="title"/>
          </p:nvPr>
        </p:nvSpPr>
        <p:spPr>
          <a:xfrm>
            <a:off x="685800" y="114300"/>
            <a:ext cx="7772400" cy="457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i="1" lang="es-AR" sz="3600"/>
              <a:t>Punteros a estructuras</a:t>
            </a:r>
            <a:endParaRPr/>
          </a:p>
        </p:txBody>
      </p:sp>
      <p:sp>
        <p:nvSpPr>
          <p:cNvPr id="474" name="Google Shape;474;p47"/>
          <p:cNvSpPr/>
          <p:nvPr/>
        </p:nvSpPr>
        <p:spPr>
          <a:xfrm>
            <a:off x="228600" y="590550"/>
            <a:ext cx="8610600" cy="4461900"/>
          </a:xfrm>
          <a:prstGeom prst="roundRect">
            <a:avLst>
              <a:gd fmla="val 3426"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475" name="Google Shape;475;p47"/>
          <p:cNvSpPr txBox="1"/>
          <p:nvPr/>
        </p:nvSpPr>
        <p:spPr>
          <a:xfrm>
            <a:off x="304800" y="571500"/>
            <a:ext cx="8383500" cy="41100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900"/>
              <a:buFont typeface="Courier New"/>
              <a:buNone/>
            </a:pPr>
            <a:r>
              <a:rPr b="1" lang="es-AR" sz="1800">
                <a:solidFill>
                  <a:schemeClr val="dk1"/>
                </a:solidFill>
                <a:latin typeface="Consolas"/>
                <a:ea typeface="Consolas"/>
                <a:cs typeface="Consolas"/>
                <a:sym typeface="Consolas"/>
              </a:rPr>
              <a:t>typedef struct {  </a:t>
            </a:r>
            <a:endParaRPr b="1" sz="1800">
              <a:solidFill>
                <a:schemeClr val="dk1"/>
              </a:solidFill>
              <a:latin typeface="Consolas"/>
              <a:ea typeface="Consolas"/>
              <a:cs typeface="Consolas"/>
              <a:sym typeface="Consolas"/>
            </a:endParaRPr>
          </a:p>
          <a:p>
            <a:pPr indent="0" lvl="0" marL="0" rtl="0" algn="l">
              <a:lnSpc>
                <a:spcPct val="80000"/>
              </a:lnSpc>
              <a:spcBef>
                <a:spcPts val="380"/>
              </a:spcBef>
              <a:spcAft>
                <a:spcPts val="0"/>
              </a:spcAft>
              <a:buClr>
                <a:schemeClr val="dk1"/>
              </a:buClr>
              <a:buSzPts val="1900"/>
              <a:buFont typeface="Courier New"/>
              <a:buNone/>
            </a:pPr>
            <a:r>
              <a:rPr b="1" lang="es-AR" sz="1800">
                <a:solidFill>
                  <a:schemeClr val="dk1"/>
                </a:solidFill>
                <a:latin typeface="Consolas"/>
                <a:ea typeface="Consolas"/>
                <a:cs typeface="Consolas"/>
                <a:sym typeface="Consolas"/>
              </a:rPr>
              <a:t>	int code;</a:t>
            </a:r>
            <a:endParaRPr b="1" sz="1800">
              <a:solidFill>
                <a:schemeClr val="dk1"/>
              </a:solidFill>
              <a:latin typeface="Consolas"/>
              <a:ea typeface="Consolas"/>
              <a:cs typeface="Consolas"/>
              <a:sym typeface="Consolas"/>
            </a:endParaRPr>
          </a:p>
          <a:p>
            <a:pPr indent="0" lvl="0" marL="0" rtl="0" algn="l">
              <a:lnSpc>
                <a:spcPct val="80000"/>
              </a:lnSpc>
              <a:spcBef>
                <a:spcPts val="380"/>
              </a:spcBef>
              <a:spcAft>
                <a:spcPts val="0"/>
              </a:spcAft>
              <a:buClr>
                <a:schemeClr val="dk1"/>
              </a:buClr>
              <a:buSzPts val="1900"/>
              <a:buFont typeface="Courier New"/>
              <a:buNone/>
            </a:pPr>
            <a:r>
              <a:rPr b="1" lang="es-AR" sz="1800">
                <a:solidFill>
                  <a:schemeClr val="dk1"/>
                </a:solidFill>
                <a:latin typeface="Consolas"/>
                <a:ea typeface="Consolas"/>
                <a:cs typeface="Consolas"/>
                <a:sym typeface="Consolas"/>
              </a:rPr>
              <a:t>	char * description;</a:t>
            </a:r>
            <a:endParaRPr b="1" sz="1800">
              <a:solidFill>
                <a:schemeClr val="dk1"/>
              </a:solidFill>
              <a:latin typeface="Consolas"/>
              <a:ea typeface="Consolas"/>
              <a:cs typeface="Consolas"/>
              <a:sym typeface="Consolas"/>
            </a:endParaRPr>
          </a:p>
          <a:p>
            <a:pPr indent="0" lvl="0" marL="0" rtl="0" algn="l">
              <a:lnSpc>
                <a:spcPct val="80000"/>
              </a:lnSpc>
              <a:spcBef>
                <a:spcPts val="380"/>
              </a:spcBef>
              <a:spcAft>
                <a:spcPts val="0"/>
              </a:spcAft>
              <a:buClr>
                <a:schemeClr val="dk1"/>
              </a:buClr>
              <a:buSzPts val="1900"/>
              <a:buFont typeface="Courier New"/>
              <a:buNone/>
            </a:pPr>
            <a:r>
              <a:rPr b="1" lang="es-AR" sz="1800">
                <a:solidFill>
                  <a:schemeClr val="dk1"/>
                </a:solidFill>
                <a:latin typeface="Consolas"/>
                <a:ea typeface="Consolas"/>
                <a:cs typeface="Consolas"/>
                <a:sym typeface="Consolas"/>
              </a:rPr>
              <a:t>} itemType;</a:t>
            </a:r>
            <a:endParaRPr b="1" sz="1800">
              <a:solidFill>
                <a:schemeClr val="dk1"/>
              </a:solidFill>
              <a:latin typeface="Consolas"/>
              <a:ea typeface="Consolas"/>
              <a:cs typeface="Consolas"/>
              <a:sym typeface="Consolas"/>
            </a:endParaRPr>
          </a:p>
          <a:p>
            <a:pPr indent="0" lvl="0" marL="0" marR="0" rtl="0" algn="l">
              <a:lnSpc>
                <a:spcPct val="80000"/>
              </a:lnSpc>
              <a:spcBef>
                <a:spcPts val="160"/>
              </a:spcBef>
              <a:spcAft>
                <a:spcPts val="0"/>
              </a:spcAft>
              <a:buClr>
                <a:schemeClr val="dk1"/>
              </a:buClr>
              <a:buSzPts val="800"/>
              <a:buFont typeface="Courier New"/>
              <a:buNone/>
            </a:pPr>
            <a:r>
              <a:rPr b="1" lang="es-AR" sz="1800">
                <a:solidFill>
                  <a:schemeClr val="dk1"/>
                </a:solidFill>
                <a:latin typeface="Consolas"/>
                <a:ea typeface="Consolas"/>
                <a:cs typeface="Consolas"/>
                <a:sym typeface="Consolas"/>
              </a:rPr>
              <a:t>  </a:t>
            </a:r>
            <a:endParaRPr b="1" sz="18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800">
                <a:solidFill>
                  <a:schemeClr val="dk1"/>
                </a:solidFill>
                <a:latin typeface="Consolas"/>
                <a:ea typeface="Consolas"/>
                <a:cs typeface="Consolas"/>
                <a:sym typeface="Consolas"/>
              </a:rPr>
              <a:t>void change(</a:t>
            </a:r>
            <a:r>
              <a:rPr b="1" lang="es-AR" sz="1800">
                <a:solidFill>
                  <a:schemeClr val="lt1"/>
                </a:solidFill>
                <a:latin typeface="Consolas"/>
                <a:ea typeface="Consolas"/>
                <a:cs typeface="Consolas"/>
                <a:sym typeface="Consolas"/>
              </a:rPr>
              <a:t> </a:t>
            </a:r>
            <a:r>
              <a:rPr b="1" lang="es-AR" sz="1800">
                <a:solidFill>
                  <a:srgbClr val="CC0066"/>
                </a:solidFill>
                <a:latin typeface="Consolas"/>
                <a:ea typeface="Consolas"/>
                <a:cs typeface="Consolas"/>
                <a:sym typeface="Consolas"/>
              </a:rPr>
              <a:t>itemType</a:t>
            </a:r>
            <a:r>
              <a:rPr b="1" lang="es-AR" sz="1800">
                <a:solidFill>
                  <a:srgbClr val="CC0066"/>
                </a:solidFill>
                <a:latin typeface="Consolas"/>
                <a:ea typeface="Consolas"/>
                <a:cs typeface="Consolas"/>
                <a:sym typeface="Consolas"/>
              </a:rPr>
              <a:t> * item</a:t>
            </a:r>
            <a:r>
              <a:rPr b="1" lang="es-AR" sz="1800">
                <a:solidFill>
                  <a:schemeClr val="dk1"/>
                </a:solidFill>
                <a:latin typeface="Consolas"/>
                <a:ea typeface="Consolas"/>
                <a:cs typeface="Consolas"/>
                <a:sym typeface="Consolas"/>
              </a:rPr>
              <a:t>) {</a:t>
            </a:r>
            <a:endParaRPr sz="1800">
              <a:latin typeface="Consolas"/>
              <a:ea typeface="Consolas"/>
              <a:cs typeface="Consolas"/>
              <a:sym typeface="Consolas"/>
            </a:endParaRPr>
          </a:p>
          <a:p>
            <a:pPr indent="0" lvl="0" marL="0" marR="0" rtl="0" algn="l">
              <a:lnSpc>
                <a:spcPct val="80000"/>
              </a:lnSpc>
              <a:spcBef>
                <a:spcPts val="380"/>
              </a:spcBef>
              <a:spcAft>
                <a:spcPts val="0"/>
              </a:spcAft>
              <a:buClr>
                <a:schemeClr val="lt1"/>
              </a:buClr>
              <a:buSzPts val="1900"/>
              <a:buFont typeface="Courier New"/>
              <a:buNone/>
            </a:pPr>
            <a:r>
              <a:rPr b="1" lang="es-AR" sz="1800">
                <a:solidFill>
                  <a:schemeClr val="lt1"/>
                </a:solidFill>
                <a:latin typeface="Consolas"/>
                <a:ea typeface="Consolas"/>
                <a:cs typeface="Consolas"/>
                <a:sym typeface="Consolas"/>
              </a:rPr>
              <a:t>    </a:t>
            </a:r>
            <a:r>
              <a:rPr b="1" lang="es-AR" sz="1800">
                <a:solidFill>
                  <a:srgbClr val="CC0066"/>
                </a:solidFill>
                <a:latin typeface="Consolas"/>
                <a:ea typeface="Consolas"/>
                <a:cs typeface="Consolas"/>
                <a:sym typeface="Consolas"/>
              </a:rPr>
              <a:t>(*item).code = 2;</a:t>
            </a:r>
            <a:endParaRPr b="1" sz="1800">
              <a:solidFill>
                <a:srgbClr val="CC0066"/>
              </a:solidFill>
              <a:latin typeface="Consolas"/>
              <a:ea typeface="Consolas"/>
              <a:cs typeface="Consolas"/>
              <a:sym typeface="Consolas"/>
            </a:endParaRPr>
          </a:p>
          <a:p>
            <a:pPr indent="0" lvl="0" marL="0" marR="0" rtl="0" algn="l">
              <a:lnSpc>
                <a:spcPct val="80000"/>
              </a:lnSpc>
              <a:spcBef>
                <a:spcPts val="380"/>
              </a:spcBef>
              <a:spcAft>
                <a:spcPts val="0"/>
              </a:spcAft>
              <a:buClr>
                <a:srgbClr val="CC0066"/>
              </a:buClr>
              <a:buSzPts val="1900"/>
              <a:buFont typeface="Courier New"/>
              <a:buNone/>
            </a:pPr>
            <a:r>
              <a:rPr b="1" lang="es-AR" sz="1800">
                <a:solidFill>
                  <a:srgbClr val="CC0066"/>
                </a:solidFill>
                <a:latin typeface="Consolas"/>
                <a:ea typeface="Consolas"/>
                <a:cs typeface="Consolas"/>
                <a:sym typeface="Consolas"/>
              </a:rPr>
              <a:t>    strcpy((*item).description, "Zapatilla");</a:t>
            </a:r>
            <a:endParaRPr b="1" sz="1800">
              <a:solidFill>
                <a:srgbClr val="CC0066"/>
              </a:solidFill>
              <a:latin typeface="Consolas"/>
              <a:ea typeface="Consolas"/>
              <a:cs typeface="Consolas"/>
              <a:sym typeface="Consolas"/>
            </a:endParaRPr>
          </a:p>
          <a:p>
            <a:pPr indent="0" lvl="0" marL="0" marR="0" rtl="0" algn="l">
              <a:lnSpc>
                <a:spcPct val="80000"/>
              </a:lnSpc>
              <a:spcBef>
                <a:spcPts val="380"/>
              </a:spcBef>
              <a:spcAft>
                <a:spcPts val="0"/>
              </a:spcAft>
              <a:buClr>
                <a:schemeClr val="lt1"/>
              </a:buClr>
              <a:buSzPts val="1900"/>
              <a:buFont typeface="Courier New"/>
              <a:buNone/>
            </a:pPr>
            <a:r>
              <a:rPr b="1" lang="es-AR" sz="1800">
                <a:solidFill>
                  <a:schemeClr val="lt1"/>
                </a:solidFill>
                <a:latin typeface="Consolas"/>
                <a:ea typeface="Consolas"/>
                <a:cs typeface="Consolas"/>
                <a:sym typeface="Consolas"/>
              </a:rPr>
              <a:t>    </a:t>
            </a:r>
            <a:r>
              <a:rPr b="1" lang="es-AR" sz="1800">
                <a:solidFill>
                  <a:schemeClr val="dk1"/>
                </a:solidFill>
                <a:latin typeface="Consolas"/>
                <a:ea typeface="Consolas"/>
                <a:cs typeface="Consolas"/>
                <a:sym typeface="Consolas"/>
              </a:rPr>
              <a:t>return;</a:t>
            </a:r>
            <a:endParaRPr b="1" sz="18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800">
                <a:solidFill>
                  <a:schemeClr val="dk1"/>
                </a:solidFill>
                <a:latin typeface="Consolas"/>
                <a:ea typeface="Consolas"/>
                <a:cs typeface="Consolas"/>
                <a:sym typeface="Consolas"/>
              </a:rPr>
              <a:t>}</a:t>
            </a:r>
            <a:endParaRPr sz="1800">
              <a:latin typeface="Consolas"/>
              <a:ea typeface="Consolas"/>
              <a:cs typeface="Consolas"/>
              <a:sym typeface="Consolas"/>
            </a:endParaRPr>
          </a:p>
          <a:p>
            <a:pPr indent="0" lvl="0" marL="0" marR="0" rtl="0" algn="just">
              <a:lnSpc>
                <a:spcPct val="80000"/>
              </a:lnSpc>
              <a:spcBef>
                <a:spcPts val="160"/>
              </a:spcBef>
              <a:spcAft>
                <a:spcPts val="0"/>
              </a:spcAft>
              <a:buClr>
                <a:schemeClr val="dk1"/>
              </a:buClr>
              <a:buSzPts val="800"/>
              <a:buFont typeface="Times New Roman"/>
              <a:buNone/>
            </a:pPr>
            <a:r>
              <a:t/>
            </a:r>
            <a:endParaRPr b="1" sz="1100">
              <a:solidFill>
                <a:schemeClr val="dk1"/>
              </a:solidFill>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800">
                <a:solidFill>
                  <a:schemeClr val="dk1"/>
                </a:solidFill>
                <a:latin typeface="Consolas"/>
                <a:ea typeface="Consolas"/>
                <a:cs typeface="Consolas"/>
                <a:sym typeface="Consolas"/>
              </a:rPr>
              <a:t>int main(void)</a:t>
            </a:r>
            <a:r>
              <a:rPr lang="es-AR" sz="1800">
                <a:latin typeface="Consolas"/>
                <a:ea typeface="Consolas"/>
                <a:cs typeface="Consolas"/>
                <a:sym typeface="Consolas"/>
              </a:rPr>
              <a:t> </a:t>
            </a:r>
            <a:r>
              <a:rPr b="1" lang="es-AR" sz="1800">
                <a:solidFill>
                  <a:schemeClr val="dk1"/>
                </a:solidFill>
                <a:latin typeface="Consolas"/>
                <a:ea typeface="Consolas"/>
                <a:cs typeface="Consolas"/>
                <a:sym typeface="Consolas"/>
              </a:rPr>
              <a:t>{ </a:t>
            </a:r>
            <a:endParaRPr sz="1800">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800">
                <a:solidFill>
                  <a:schemeClr val="dk1"/>
                </a:solidFill>
                <a:latin typeface="Consolas"/>
                <a:ea typeface="Consolas"/>
                <a:cs typeface="Consolas"/>
                <a:sym typeface="Consolas"/>
              </a:rPr>
              <a:t>	itemType it = {1, "Zapato"};</a:t>
            </a:r>
            <a:endParaRPr b="1" sz="1800">
              <a:solidFill>
                <a:schemeClr val="dk1"/>
              </a:solidFill>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800">
                <a:solidFill>
                  <a:schemeClr val="dk1"/>
                </a:solidFill>
                <a:latin typeface="Consolas"/>
                <a:ea typeface="Consolas"/>
                <a:cs typeface="Consolas"/>
                <a:sym typeface="Consolas"/>
              </a:rPr>
              <a:t> 	change(</a:t>
            </a:r>
            <a:r>
              <a:rPr b="1" lang="es-AR" sz="1800">
                <a:solidFill>
                  <a:schemeClr val="lt1"/>
                </a:solidFill>
                <a:latin typeface="Consolas"/>
                <a:ea typeface="Consolas"/>
                <a:cs typeface="Consolas"/>
                <a:sym typeface="Consolas"/>
              </a:rPr>
              <a:t> </a:t>
            </a:r>
            <a:r>
              <a:rPr b="1" lang="es-AR" sz="1800">
                <a:solidFill>
                  <a:srgbClr val="CC0066"/>
                </a:solidFill>
                <a:latin typeface="Consolas"/>
                <a:ea typeface="Consolas"/>
                <a:cs typeface="Consolas"/>
                <a:sym typeface="Consolas"/>
              </a:rPr>
              <a:t>&amp;it</a:t>
            </a:r>
            <a:r>
              <a:rPr b="1" lang="es-AR" sz="1800">
                <a:solidFill>
                  <a:schemeClr val="lt1"/>
                </a:solidFill>
                <a:latin typeface="Consolas"/>
                <a:ea typeface="Consolas"/>
                <a:cs typeface="Consolas"/>
                <a:sym typeface="Consolas"/>
              </a:rPr>
              <a:t> </a:t>
            </a:r>
            <a:r>
              <a:rPr b="1" lang="es-AR" sz="1800">
                <a:solidFill>
                  <a:schemeClr val="dk1"/>
                </a:solidFill>
                <a:latin typeface="Consolas"/>
                <a:ea typeface="Consolas"/>
                <a:cs typeface="Consolas"/>
                <a:sym typeface="Consolas"/>
              </a:rPr>
              <a:t>);</a:t>
            </a:r>
            <a:endParaRPr sz="1800">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800">
                <a:solidFill>
                  <a:schemeClr val="dk1"/>
                </a:solidFill>
                <a:latin typeface="Consolas"/>
                <a:ea typeface="Consolas"/>
                <a:cs typeface="Consolas"/>
                <a:sym typeface="Consolas"/>
              </a:rPr>
              <a:t>	printf("%d - %s \n", it.code, it.description);</a:t>
            </a:r>
            <a:endParaRPr sz="1800">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800">
                <a:solidFill>
                  <a:schemeClr val="dk1"/>
                </a:solidFill>
                <a:latin typeface="Consolas"/>
                <a:ea typeface="Consolas"/>
                <a:cs typeface="Consolas"/>
                <a:sym typeface="Consolas"/>
              </a:rPr>
              <a:t>	return 0;</a:t>
            </a:r>
            <a:endParaRPr sz="1800">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800">
                <a:solidFill>
                  <a:schemeClr val="dk1"/>
                </a:solidFill>
                <a:latin typeface="Consolas"/>
                <a:ea typeface="Consolas"/>
                <a:cs typeface="Consolas"/>
                <a:sym typeface="Consolas"/>
              </a:rPr>
              <a:t>}</a:t>
            </a:r>
            <a:endParaRPr b="1" sz="1800">
              <a:solidFill>
                <a:schemeClr val="dk1"/>
              </a:solidFill>
              <a:latin typeface="Consolas"/>
              <a:ea typeface="Consolas"/>
              <a:cs typeface="Consolas"/>
              <a:sym typeface="Consola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48"/>
          <p:cNvSpPr txBox="1"/>
          <p:nvPr>
            <p:ph type="title"/>
          </p:nvPr>
        </p:nvSpPr>
        <p:spPr>
          <a:xfrm>
            <a:off x="685800" y="114300"/>
            <a:ext cx="7772400" cy="457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i="1" lang="es-AR" sz="3600"/>
              <a:t>Punteros a estructuras</a:t>
            </a:r>
            <a:endParaRPr/>
          </a:p>
        </p:txBody>
      </p:sp>
      <p:sp>
        <p:nvSpPr>
          <p:cNvPr id="481" name="Google Shape;481;p48"/>
          <p:cNvSpPr/>
          <p:nvPr/>
        </p:nvSpPr>
        <p:spPr>
          <a:xfrm>
            <a:off x="228600" y="590550"/>
            <a:ext cx="8610600" cy="4461900"/>
          </a:xfrm>
          <a:prstGeom prst="roundRect">
            <a:avLst>
              <a:gd fmla="val 3426"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482" name="Google Shape;482;p48"/>
          <p:cNvSpPr txBox="1"/>
          <p:nvPr/>
        </p:nvSpPr>
        <p:spPr>
          <a:xfrm>
            <a:off x="304800" y="571500"/>
            <a:ext cx="8383500" cy="41100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900"/>
              <a:buFont typeface="Courier New"/>
              <a:buNone/>
            </a:pPr>
            <a:r>
              <a:rPr b="1" lang="es-AR" sz="1800">
                <a:solidFill>
                  <a:schemeClr val="dk1"/>
                </a:solidFill>
                <a:latin typeface="Consolas"/>
                <a:ea typeface="Consolas"/>
                <a:cs typeface="Consolas"/>
                <a:sym typeface="Consolas"/>
              </a:rPr>
              <a:t>typedef struct {  </a:t>
            </a:r>
            <a:endParaRPr b="1" sz="1800">
              <a:solidFill>
                <a:schemeClr val="dk1"/>
              </a:solidFill>
              <a:latin typeface="Consolas"/>
              <a:ea typeface="Consolas"/>
              <a:cs typeface="Consolas"/>
              <a:sym typeface="Consolas"/>
            </a:endParaRPr>
          </a:p>
          <a:p>
            <a:pPr indent="0" lvl="0" marL="0" rtl="0" algn="l">
              <a:lnSpc>
                <a:spcPct val="80000"/>
              </a:lnSpc>
              <a:spcBef>
                <a:spcPts val="380"/>
              </a:spcBef>
              <a:spcAft>
                <a:spcPts val="0"/>
              </a:spcAft>
              <a:buClr>
                <a:schemeClr val="dk1"/>
              </a:buClr>
              <a:buSzPts val="1900"/>
              <a:buFont typeface="Courier New"/>
              <a:buNone/>
            </a:pPr>
            <a:r>
              <a:rPr b="1" lang="es-AR" sz="1800">
                <a:solidFill>
                  <a:schemeClr val="dk1"/>
                </a:solidFill>
                <a:latin typeface="Consolas"/>
                <a:ea typeface="Consolas"/>
                <a:cs typeface="Consolas"/>
                <a:sym typeface="Consolas"/>
              </a:rPr>
              <a:t>	int code;</a:t>
            </a:r>
            <a:endParaRPr b="1" sz="1800">
              <a:solidFill>
                <a:schemeClr val="dk1"/>
              </a:solidFill>
              <a:latin typeface="Consolas"/>
              <a:ea typeface="Consolas"/>
              <a:cs typeface="Consolas"/>
              <a:sym typeface="Consolas"/>
            </a:endParaRPr>
          </a:p>
          <a:p>
            <a:pPr indent="0" lvl="0" marL="0" rtl="0" algn="l">
              <a:lnSpc>
                <a:spcPct val="80000"/>
              </a:lnSpc>
              <a:spcBef>
                <a:spcPts val="380"/>
              </a:spcBef>
              <a:spcAft>
                <a:spcPts val="0"/>
              </a:spcAft>
              <a:buClr>
                <a:schemeClr val="dk1"/>
              </a:buClr>
              <a:buSzPts val="1900"/>
              <a:buFont typeface="Courier New"/>
              <a:buNone/>
            </a:pPr>
            <a:r>
              <a:rPr b="1" lang="es-AR" sz="1800">
                <a:solidFill>
                  <a:schemeClr val="dk1"/>
                </a:solidFill>
                <a:latin typeface="Consolas"/>
                <a:ea typeface="Consolas"/>
                <a:cs typeface="Consolas"/>
                <a:sym typeface="Consolas"/>
              </a:rPr>
              <a:t>	char * description;</a:t>
            </a:r>
            <a:endParaRPr b="1" sz="1800">
              <a:solidFill>
                <a:schemeClr val="dk1"/>
              </a:solidFill>
              <a:latin typeface="Consolas"/>
              <a:ea typeface="Consolas"/>
              <a:cs typeface="Consolas"/>
              <a:sym typeface="Consolas"/>
            </a:endParaRPr>
          </a:p>
          <a:p>
            <a:pPr indent="0" lvl="0" marL="0" rtl="0" algn="l">
              <a:lnSpc>
                <a:spcPct val="80000"/>
              </a:lnSpc>
              <a:spcBef>
                <a:spcPts val="380"/>
              </a:spcBef>
              <a:spcAft>
                <a:spcPts val="0"/>
              </a:spcAft>
              <a:buClr>
                <a:schemeClr val="dk1"/>
              </a:buClr>
              <a:buSzPts val="1900"/>
              <a:buFont typeface="Courier New"/>
              <a:buNone/>
            </a:pPr>
            <a:r>
              <a:rPr b="1" lang="es-AR" sz="1800">
                <a:solidFill>
                  <a:schemeClr val="dk1"/>
                </a:solidFill>
                <a:latin typeface="Consolas"/>
                <a:ea typeface="Consolas"/>
                <a:cs typeface="Consolas"/>
                <a:sym typeface="Consolas"/>
              </a:rPr>
              <a:t>} itemType;</a:t>
            </a:r>
            <a:endParaRPr b="1" sz="1800">
              <a:solidFill>
                <a:schemeClr val="dk1"/>
              </a:solidFill>
              <a:latin typeface="Consolas"/>
              <a:ea typeface="Consolas"/>
              <a:cs typeface="Consolas"/>
              <a:sym typeface="Consolas"/>
            </a:endParaRPr>
          </a:p>
          <a:p>
            <a:pPr indent="0" lvl="0" marL="0" marR="0" rtl="0" algn="l">
              <a:lnSpc>
                <a:spcPct val="80000"/>
              </a:lnSpc>
              <a:spcBef>
                <a:spcPts val="160"/>
              </a:spcBef>
              <a:spcAft>
                <a:spcPts val="0"/>
              </a:spcAft>
              <a:buClr>
                <a:schemeClr val="dk1"/>
              </a:buClr>
              <a:buSzPts val="800"/>
              <a:buFont typeface="Courier New"/>
              <a:buNone/>
            </a:pPr>
            <a:r>
              <a:rPr b="1" lang="es-AR" sz="1800">
                <a:solidFill>
                  <a:schemeClr val="dk1"/>
                </a:solidFill>
                <a:latin typeface="Consolas"/>
                <a:ea typeface="Consolas"/>
                <a:cs typeface="Consolas"/>
                <a:sym typeface="Consolas"/>
              </a:rPr>
              <a:t>  </a:t>
            </a:r>
            <a:endParaRPr b="1" sz="18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800">
                <a:solidFill>
                  <a:schemeClr val="dk1"/>
                </a:solidFill>
                <a:latin typeface="Consolas"/>
                <a:ea typeface="Consolas"/>
                <a:cs typeface="Consolas"/>
                <a:sym typeface="Consolas"/>
              </a:rPr>
              <a:t>void change(</a:t>
            </a:r>
            <a:r>
              <a:rPr b="1" lang="es-AR" sz="1800">
                <a:solidFill>
                  <a:schemeClr val="lt1"/>
                </a:solidFill>
                <a:latin typeface="Consolas"/>
                <a:ea typeface="Consolas"/>
                <a:cs typeface="Consolas"/>
                <a:sym typeface="Consolas"/>
              </a:rPr>
              <a:t> </a:t>
            </a:r>
            <a:r>
              <a:rPr b="1" lang="es-AR" sz="1800">
                <a:solidFill>
                  <a:srgbClr val="CC0066"/>
                </a:solidFill>
                <a:latin typeface="Consolas"/>
                <a:ea typeface="Consolas"/>
                <a:cs typeface="Consolas"/>
                <a:sym typeface="Consolas"/>
              </a:rPr>
              <a:t>itemType * item</a:t>
            </a:r>
            <a:r>
              <a:rPr b="1" lang="es-AR" sz="1800">
                <a:solidFill>
                  <a:schemeClr val="dk1"/>
                </a:solidFill>
                <a:latin typeface="Consolas"/>
                <a:ea typeface="Consolas"/>
                <a:cs typeface="Consolas"/>
                <a:sym typeface="Consolas"/>
              </a:rPr>
              <a:t>) {</a:t>
            </a:r>
            <a:endParaRPr sz="1800">
              <a:latin typeface="Consolas"/>
              <a:ea typeface="Consolas"/>
              <a:cs typeface="Consolas"/>
              <a:sym typeface="Consolas"/>
            </a:endParaRPr>
          </a:p>
          <a:p>
            <a:pPr indent="0" lvl="0" marL="0" marR="0" rtl="0" algn="l">
              <a:lnSpc>
                <a:spcPct val="80000"/>
              </a:lnSpc>
              <a:spcBef>
                <a:spcPts val="380"/>
              </a:spcBef>
              <a:spcAft>
                <a:spcPts val="0"/>
              </a:spcAft>
              <a:buClr>
                <a:schemeClr val="lt1"/>
              </a:buClr>
              <a:buSzPts val="1900"/>
              <a:buFont typeface="Courier New"/>
              <a:buNone/>
            </a:pPr>
            <a:r>
              <a:rPr b="1" lang="es-AR" sz="1800">
                <a:solidFill>
                  <a:schemeClr val="lt1"/>
                </a:solidFill>
                <a:latin typeface="Consolas"/>
                <a:ea typeface="Consolas"/>
                <a:cs typeface="Consolas"/>
                <a:sym typeface="Consolas"/>
              </a:rPr>
              <a:t>    </a:t>
            </a:r>
            <a:r>
              <a:rPr b="1" lang="es-AR" sz="1800">
                <a:solidFill>
                  <a:srgbClr val="CC0066"/>
                </a:solidFill>
                <a:latin typeface="Consolas"/>
                <a:ea typeface="Consolas"/>
                <a:cs typeface="Consolas"/>
                <a:sym typeface="Consolas"/>
              </a:rPr>
              <a:t>item-&gt;code = 2;</a:t>
            </a:r>
            <a:endParaRPr b="1" sz="1800">
              <a:solidFill>
                <a:srgbClr val="CC0066"/>
              </a:solidFill>
              <a:latin typeface="Consolas"/>
              <a:ea typeface="Consolas"/>
              <a:cs typeface="Consolas"/>
              <a:sym typeface="Consolas"/>
            </a:endParaRPr>
          </a:p>
          <a:p>
            <a:pPr indent="0" lvl="0" marL="0" marR="0" rtl="0" algn="l">
              <a:lnSpc>
                <a:spcPct val="80000"/>
              </a:lnSpc>
              <a:spcBef>
                <a:spcPts val="380"/>
              </a:spcBef>
              <a:spcAft>
                <a:spcPts val="0"/>
              </a:spcAft>
              <a:buClr>
                <a:srgbClr val="CC0066"/>
              </a:buClr>
              <a:buSzPts val="1900"/>
              <a:buFont typeface="Courier New"/>
              <a:buNone/>
            </a:pPr>
            <a:r>
              <a:rPr b="1" lang="es-AR" sz="1800">
                <a:solidFill>
                  <a:srgbClr val="CC0066"/>
                </a:solidFill>
                <a:latin typeface="Consolas"/>
                <a:ea typeface="Consolas"/>
                <a:cs typeface="Consolas"/>
                <a:sym typeface="Consolas"/>
              </a:rPr>
              <a:t>    strcpy(item-&gt;description, "Zapatilla");</a:t>
            </a:r>
            <a:endParaRPr b="1" sz="1800">
              <a:solidFill>
                <a:srgbClr val="CC0066"/>
              </a:solidFill>
              <a:latin typeface="Consolas"/>
              <a:ea typeface="Consolas"/>
              <a:cs typeface="Consolas"/>
              <a:sym typeface="Consolas"/>
            </a:endParaRPr>
          </a:p>
          <a:p>
            <a:pPr indent="0" lvl="0" marL="0" marR="0" rtl="0" algn="l">
              <a:lnSpc>
                <a:spcPct val="80000"/>
              </a:lnSpc>
              <a:spcBef>
                <a:spcPts val="380"/>
              </a:spcBef>
              <a:spcAft>
                <a:spcPts val="0"/>
              </a:spcAft>
              <a:buClr>
                <a:schemeClr val="lt1"/>
              </a:buClr>
              <a:buSzPts val="1900"/>
              <a:buFont typeface="Courier New"/>
              <a:buNone/>
            </a:pPr>
            <a:r>
              <a:rPr b="1" lang="es-AR" sz="1800">
                <a:solidFill>
                  <a:schemeClr val="lt1"/>
                </a:solidFill>
                <a:latin typeface="Consolas"/>
                <a:ea typeface="Consolas"/>
                <a:cs typeface="Consolas"/>
                <a:sym typeface="Consolas"/>
              </a:rPr>
              <a:t>    </a:t>
            </a:r>
            <a:r>
              <a:rPr b="1" lang="es-AR" sz="1800">
                <a:solidFill>
                  <a:schemeClr val="dk1"/>
                </a:solidFill>
                <a:latin typeface="Consolas"/>
                <a:ea typeface="Consolas"/>
                <a:cs typeface="Consolas"/>
                <a:sym typeface="Consolas"/>
              </a:rPr>
              <a:t>return;</a:t>
            </a:r>
            <a:endParaRPr b="1" sz="18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800">
                <a:solidFill>
                  <a:schemeClr val="dk1"/>
                </a:solidFill>
                <a:latin typeface="Consolas"/>
                <a:ea typeface="Consolas"/>
                <a:cs typeface="Consolas"/>
                <a:sym typeface="Consolas"/>
              </a:rPr>
              <a:t>}</a:t>
            </a:r>
            <a:endParaRPr sz="1800">
              <a:latin typeface="Consolas"/>
              <a:ea typeface="Consolas"/>
              <a:cs typeface="Consolas"/>
              <a:sym typeface="Consolas"/>
            </a:endParaRPr>
          </a:p>
          <a:p>
            <a:pPr indent="0" lvl="0" marL="0" marR="0" rtl="0" algn="just">
              <a:lnSpc>
                <a:spcPct val="80000"/>
              </a:lnSpc>
              <a:spcBef>
                <a:spcPts val="160"/>
              </a:spcBef>
              <a:spcAft>
                <a:spcPts val="0"/>
              </a:spcAft>
              <a:buClr>
                <a:schemeClr val="dk1"/>
              </a:buClr>
              <a:buSzPts val="800"/>
              <a:buFont typeface="Times New Roman"/>
              <a:buNone/>
            </a:pPr>
            <a:r>
              <a:t/>
            </a:r>
            <a:endParaRPr b="1" sz="1100">
              <a:solidFill>
                <a:schemeClr val="dk1"/>
              </a:solidFill>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800">
                <a:solidFill>
                  <a:schemeClr val="dk1"/>
                </a:solidFill>
                <a:latin typeface="Consolas"/>
                <a:ea typeface="Consolas"/>
                <a:cs typeface="Consolas"/>
                <a:sym typeface="Consolas"/>
              </a:rPr>
              <a:t>int main(void)</a:t>
            </a:r>
            <a:r>
              <a:rPr lang="es-AR" sz="1800">
                <a:latin typeface="Consolas"/>
                <a:ea typeface="Consolas"/>
                <a:cs typeface="Consolas"/>
                <a:sym typeface="Consolas"/>
              </a:rPr>
              <a:t> </a:t>
            </a:r>
            <a:r>
              <a:rPr b="1" lang="es-AR" sz="1800">
                <a:solidFill>
                  <a:schemeClr val="dk1"/>
                </a:solidFill>
                <a:latin typeface="Consolas"/>
                <a:ea typeface="Consolas"/>
                <a:cs typeface="Consolas"/>
                <a:sym typeface="Consolas"/>
              </a:rPr>
              <a:t>{ </a:t>
            </a:r>
            <a:endParaRPr sz="1800">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800">
                <a:solidFill>
                  <a:schemeClr val="dk1"/>
                </a:solidFill>
                <a:latin typeface="Consolas"/>
                <a:ea typeface="Consolas"/>
                <a:cs typeface="Consolas"/>
                <a:sym typeface="Consolas"/>
              </a:rPr>
              <a:t>	itemType it = {1, "Zapato"};</a:t>
            </a:r>
            <a:endParaRPr b="1" sz="1800">
              <a:solidFill>
                <a:schemeClr val="dk1"/>
              </a:solidFill>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800">
                <a:solidFill>
                  <a:schemeClr val="dk1"/>
                </a:solidFill>
                <a:latin typeface="Consolas"/>
                <a:ea typeface="Consolas"/>
                <a:cs typeface="Consolas"/>
                <a:sym typeface="Consolas"/>
              </a:rPr>
              <a:t> 	change(</a:t>
            </a:r>
            <a:r>
              <a:rPr b="1" lang="es-AR" sz="1800">
                <a:solidFill>
                  <a:schemeClr val="lt1"/>
                </a:solidFill>
                <a:latin typeface="Consolas"/>
                <a:ea typeface="Consolas"/>
                <a:cs typeface="Consolas"/>
                <a:sym typeface="Consolas"/>
              </a:rPr>
              <a:t> </a:t>
            </a:r>
            <a:r>
              <a:rPr b="1" lang="es-AR" sz="1800">
                <a:solidFill>
                  <a:srgbClr val="CC0066"/>
                </a:solidFill>
                <a:latin typeface="Consolas"/>
                <a:ea typeface="Consolas"/>
                <a:cs typeface="Consolas"/>
                <a:sym typeface="Consolas"/>
              </a:rPr>
              <a:t>&amp;it</a:t>
            </a:r>
            <a:r>
              <a:rPr b="1" lang="es-AR" sz="1800">
                <a:solidFill>
                  <a:schemeClr val="lt1"/>
                </a:solidFill>
                <a:latin typeface="Consolas"/>
                <a:ea typeface="Consolas"/>
                <a:cs typeface="Consolas"/>
                <a:sym typeface="Consolas"/>
              </a:rPr>
              <a:t> </a:t>
            </a:r>
            <a:r>
              <a:rPr b="1" lang="es-AR" sz="1800">
                <a:solidFill>
                  <a:schemeClr val="dk1"/>
                </a:solidFill>
                <a:latin typeface="Consolas"/>
                <a:ea typeface="Consolas"/>
                <a:cs typeface="Consolas"/>
                <a:sym typeface="Consolas"/>
              </a:rPr>
              <a:t>);</a:t>
            </a:r>
            <a:endParaRPr sz="1800">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800">
                <a:solidFill>
                  <a:schemeClr val="dk1"/>
                </a:solidFill>
                <a:latin typeface="Consolas"/>
                <a:ea typeface="Consolas"/>
                <a:cs typeface="Consolas"/>
                <a:sym typeface="Consolas"/>
              </a:rPr>
              <a:t>	printf("%d - %s \n", it.code, it.description);</a:t>
            </a:r>
            <a:endParaRPr sz="1800">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800">
                <a:solidFill>
                  <a:schemeClr val="dk1"/>
                </a:solidFill>
                <a:latin typeface="Consolas"/>
                <a:ea typeface="Consolas"/>
                <a:cs typeface="Consolas"/>
                <a:sym typeface="Consolas"/>
              </a:rPr>
              <a:t>	return 0;</a:t>
            </a:r>
            <a:endParaRPr sz="1800">
              <a:latin typeface="Consolas"/>
              <a:ea typeface="Consolas"/>
              <a:cs typeface="Consolas"/>
              <a:sym typeface="Consolas"/>
            </a:endParaRPr>
          </a:p>
          <a:p>
            <a:pPr indent="0" lvl="0" marL="0" marR="0" rtl="0" algn="just">
              <a:lnSpc>
                <a:spcPct val="80000"/>
              </a:lnSpc>
              <a:spcBef>
                <a:spcPts val="380"/>
              </a:spcBef>
              <a:spcAft>
                <a:spcPts val="0"/>
              </a:spcAft>
              <a:buClr>
                <a:schemeClr val="dk1"/>
              </a:buClr>
              <a:buSzPts val="1900"/>
              <a:buFont typeface="Courier New"/>
              <a:buNone/>
            </a:pPr>
            <a:r>
              <a:rPr b="1" lang="es-AR" sz="1800">
                <a:solidFill>
                  <a:schemeClr val="dk1"/>
                </a:solidFill>
                <a:latin typeface="Consolas"/>
                <a:ea typeface="Consolas"/>
                <a:cs typeface="Consolas"/>
                <a:sym typeface="Consolas"/>
              </a:rPr>
              <a:t>}</a:t>
            </a:r>
            <a:endParaRPr b="1" sz="1800">
              <a:solidFill>
                <a:schemeClr val="dk1"/>
              </a:solidFill>
              <a:latin typeface="Consolas"/>
              <a:ea typeface="Consolas"/>
              <a:cs typeface="Consolas"/>
              <a:sym typeface="Consola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49"/>
          <p:cNvSpPr txBox="1"/>
          <p:nvPr>
            <p:ph type="title"/>
          </p:nvPr>
        </p:nvSpPr>
        <p:spPr>
          <a:xfrm>
            <a:off x="685800" y="342900"/>
            <a:ext cx="7772400" cy="514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i="1" lang="es-AR" sz="3600"/>
              <a:t>Estructuras de datos complejas</a:t>
            </a:r>
            <a:endParaRPr/>
          </a:p>
        </p:txBody>
      </p:sp>
      <p:sp>
        <p:nvSpPr>
          <p:cNvPr id="488" name="Google Shape;488;p49"/>
          <p:cNvSpPr txBox="1"/>
          <p:nvPr/>
        </p:nvSpPr>
        <p:spPr>
          <a:xfrm>
            <a:off x="228600" y="1383506"/>
            <a:ext cx="4114800" cy="616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accent2"/>
              </a:buClr>
              <a:buSzPts val="2400"/>
              <a:buFont typeface="Arial Black"/>
              <a:buNone/>
            </a:pPr>
            <a:r>
              <a:rPr lang="es-AR" sz="2400">
                <a:solidFill>
                  <a:schemeClr val="accent2"/>
                </a:solidFill>
                <a:latin typeface="Arial Black"/>
                <a:ea typeface="Arial Black"/>
                <a:cs typeface="Arial Black"/>
                <a:sym typeface="Arial Black"/>
              </a:rPr>
              <a:t>Tipos built-in</a:t>
            </a:r>
            <a:endParaRPr/>
          </a:p>
          <a:p>
            <a:pPr indent="0" lvl="0" marL="0" marR="0" rtl="0" algn="ctr">
              <a:spcBef>
                <a:spcPts val="0"/>
              </a:spcBef>
              <a:spcAft>
                <a:spcPts val="0"/>
              </a:spcAft>
              <a:buClr>
                <a:schemeClr val="accent2"/>
              </a:buClr>
              <a:buSzPts val="2400"/>
              <a:buFont typeface="Arial Black"/>
              <a:buNone/>
            </a:pPr>
            <a:r>
              <a:rPr lang="es-AR" sz="2400">
                <a:solidFill>
                  <a:schemeClr val="accent2"/>
                </a:solidFill>
                <a:latin typeface="Arial Black"/>
                <a:ea typeface="Arial Black"/>
                <a:cs typeface="Arial Black"/>
                <a:sym typeface="Arial Black"/>
              </a:rPr>
              <a:t>(char, int, float, etc.)</a:t>
            </a:r>
            <a:endParaRPr sz="2400">
              <a:solidFill>
                <a:schemeClr val="accent2"/>
              </a:solidFill>
              <a:latin typeface="Arial Black"/>
              <a:ea typeface="Arial Black"/>
              <a:cs typeface="Arial Black"/>
              <a:sym typeface="Arial Black"/>
            </a:endParaRPr>
          </a:p>
        </p:txBody>
      </p:sp>
      <p:sp>
        <p:nvSpPr>
          <p:cNvPr id="489" name="Google Shape;489;p49"/>
          <p:cNvSpPr txBox="1"/>
          <p:nvPr/>
        </p:nvSpPr>
        <p:spPr>
          <a:xfrm>
            <a:off x="228600" y="2171700"/>
            <a:ext cx="4114800" cy="342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accent2"/>
              </a:buClr>
              <a:buSzPts val="2400"/>
              <a:buFont typeface="Arial Black"/>
              <a:buNone/>
            </a:pPr>
            <a:r>
              <a:rPr lang="es-AR" sz="2400">
                <a:solidFill>
                  <a:schemeClr val="accent2"/>
                </a:solidFill>
                <a:latin typeface="Arial Black"/>
                <a:ea typeface="Arial Black"/>
                <a:cs typeface="Arial Black"/>
                <a:sym typeface="Arial Black"/>
              </a:rPr>
              <a:t>Arreglos</a:t>
            </a:r>
            <a:endParaRPr sz="2400">
              <a:solidFill>
                <a:schemeClr val="accent2"/>
              </a:solidFill>
              <a:latin typeface="Arial Black"/>
              <a:ea typeface="Arial Black"/>
              <a:cs typeface="Arial Black"/>
              <a:sym typeface="Arial Black"/>
            </a:endParaRPr>
          </a:p>
        </p:txBody>
      </p:sp>
      <p:sp>
        <p:nvSpPr>
          <p:cNvPr id="490" name="Google Shape;490;p49"/>
          <p:cNvSpPr txBox="1"/>
          <p:nvPr/>
        </p:nvSpPr>
        <p:spPr>
          <a:xfrm>
            <a:off x="228600" y="2857500"/>
            <a:ext cx="4114800" cy="342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accent2"/>
              </a:buClr>
              <a:buSzPts val="2400"/>
              <a:buFont typeface="Arial Black"/>
              <a:buNone/>
            </a:pPr>
            <a:r>
              <a:rPr lang="es-AR" sz="2400">
                <a:solidFill>
                  <a:schemeClr val="accent2"/>
                </a:solidFill>
                <a:latin typeface="Arial Black"/>
                <a:ea typeface="Arial Black"/>
                <a:cs typeface="Arial Black"/>
                <a:sym typeface="Arial Black"/>
              </a:rPr>
              <a:t>Estructuras</a:t>
            </a:r>
            <a:endParaRPr sz="2400">
              <a:solidFill>
                <a:schemeClr val="accent2"/>
              </a:solidFill>
              <a:latin typeface="Arial Black"/>
              <a:ea typeface="Arial Black"/>
              <a:cs typeface="Arial Black"/>
              <a:sym typeface="Arial Black"/>
            </a:endParaRPr>
          </a:p>
        </p:txBody>
      </p:sp>
      <p:sp>
        <p:nvSpPr>
          <p:cNvPr id="491" name="Google Shape;491;p49"/>
          <p:cNvSpPr/>
          <p:nvPr/>
        </p:nvSpPr>
        <p:spPr>
          <a:xfrm>
            <a:off x="4038600" y="1428750"/>
            <a:ext cx="457200" cy="1714500"/>
          </a:xfrm>
          <a:prstGeom prst="rightBrace">
            <a:avLst>
              <a:gd fmla="val 41667" name="adj1"/>
              <a:gd fmla="val 50000" name="adj2"/>
            </a:avLst>
          </a:prstGeom>
          <a:noFill/>
          <a:ln cap="flat" cmpd="sng" w="508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492" name="Google Shape;492;p49"/>
          <p:cNvSpPr txBox="1"/>
          <p:nvPr/>
        </p:nvSpPr>
        <p:spPr>
          <a:xfrm>
            <a:off x="4800600" y="1657350"/>
            <a:ext cx="3657600" cy="11643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accent2"/>
              </a:buClr>
              <a:buSzPts val="2400"/>
              <a:buFont typeface="Arial Black"/>
              <a:buNone/>
            </a:pPr>
            <a:r>
              <a:rPr lang="es-AR" sz="2400">
                <a:solidFill>
                  <a:schemeClr val="accent2"/>
                </a:solidFill>
                <a:latin typeface="Arial Black"/>
                <a:ea typeface="Arial Black"/>
                <a:cs typeface="Arial Black"/>
                <a:sym typeface="Arial Black"/>
              </a:rPr>
              <a:t>Se combinan y anidan generando estructuras de datos complejas</a:t>
            </a:r>
            <a:endParaRPr sz="2400">
              <a:solidFill>
                <a:schemeClr val="accent2"/>
              </a:solidFill>
              <a:latin typeface="Arial Black"/>
              <a:ea typeface="Arial Black"/>
              <a:cs typeface="Arial Black"/>
              <a:sym typeface="Arial Black"/>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50"/>
          <p:cNvSpPr/>
          <p:nvPr/>
        </p:nvSpPr>
        <p:spPr>
          <a:xfrm>
            <a:off x="3167063" y="285750"/>
            <a:ext cx="498600" cy="1714500"/>
          </a:xfrm>
          <a:prstGeom prst="leftBrace">
            <a:avLst>
              <a:gd fmla="val 38217" name="adj1"/>
              <a:gd fmla="val 50000" name="adj2"/>
            </a:avLst>
          </a:prstGeom>
          <a:noFill/>
          <a:ln cap="flat" cmpd="sng" w="3810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498" name="Google Shape;498;p50"/>
          <p:cNvSpPr txBox="1"/>
          <p:nvPr/>
        </p:nvSpPr>
        <p:spPr>
          <a:xfrm>
            <a:off x="3736975" y="400050"/>
            <a:ext cx="2206500" cy="1670400"/>
          </a:xfrm>
          <a:prstGeom prst="rect">
            <a:avLst/>
          </a:prstGeom>
          <a:noFill/>
          <a:ln>
            <a:noFill/>
          </a:ln>
        </p:spPr>
        <p:txBody>
          <a:bodyPr anchorCtr="0" anchor="t" bIns="45700" lIns="91425" spcFirstLastPara="1" rIns="91425" wrap="square" tIns="45700">
            <a:noAutofit/>
          </a:bodyPr>
          <a:lstStyle/>
          <a:p>
            <a:pPr indent="-177800" lvl="0" marL="0" marR="0" rtl="0" algn="l">
              <a:spcBef>
                <a:spcPts val="0"/>
              </a:spcBef>
              <a:spcAft>
                <a:spcPts val="0"/>
              </a:spcAft>
              <a:buClr>
                <a:schemeClr val="dk1"/>
              </a:buClr>
              <a:buSzPts val="2800"/>
              <a:buFont typeface="Noto Sans Symbols"/>
              <a:buChar char="⮚"/>
            </a:pPr>
            <a:r>
              <a:rPr b="1" lang="es-AR" sz="2800">
                <a:solidFill>
                  <a:schemeClr val="dk1"/>
                </a:solidFill>
                <a:latin typeface="Comic Sans MS"/>
                <a:ea typeface="Comic Sans MS"/>
                <a:cs typeface="Comic Sans MS"/>
                <a:sym typeface="Comic Sans MS"/>
              </a:rPr>
              <a:t> Título</a:t>
            </a:r>
            <a:endParaRPr/>
          </a:p>
          <a:p>
            <a:pPr indent="-177800" lvl="0" marL="0" marR="0" rtl="0" algn="l">
              <a:spcBef>
                <a:spcPts val="0"/>
              </a:spcBef>
              <a:spcAft>
                <a:spcPts val="0"/>
              </a:spcAft>
              <a:buClr>
                <a:schemeClr val="dk1"/>
              </a:buClr>
              <a:buSzPts val="2800"/>
              <a:buFont typeface="Noto Sans Symbols"/>
              <a:buChar char="⮚"/>
            </a:pPr>
            <a:r>
              <a:rPr b="1" lang="es-AR" sz="2800">
                <a:solidFill>
                  <a:schemeClr val="dk1"/>
                </a:solidFill>
                <a:latin typeface="Comic Sans MS"/>
                <a:ea typeface="Comic Sans MS"/>
                <a:cs typeface="Comic Sans MS"/>
                <a:sym typeface="Comic Sans MS"/>
              </a:rPr>
              <a:t> Autor</a:t>
            </a:r>
            <a:endParaRPr/>
          </a:p>
          <a:p>
            <a:pPr indent="-177800" lvl="0" marL="0" marR="0" rtl="0" algn="l">
              <a:spcBef>
                <a:spcPts val="0"/>
              </a:spcBef>
              <a:spcAft>
                <a:spcPts val="0"/>
              </a:spcAft>
              <a:buClr>
                <a:schemeClr val="dk1"/>
              </a:buClr>
              <a:buSzPts val="2800"/>
              <a:buFont typeface="Noto Sans Symbols"/>
              <a:buChar char="⮚"/>
            </a:pPr>
            <a:r>
              <a:rPr b="1" lang="es-AR" sz="2800">
                <a:solidFill>
                  <a:schemeClr val="dk1"/>
                </a:solidFill>
                <a:latin typeface="Comic Sans MS"/>
                <a:ea typeface="Comic Sans MS"/>
                <a:cs typeface="Comic Sans MS"/>
                <a:sym typeface="Comic Sans MS"/>
              </a:rPr>
              <a:t> ISBN</a:t>
            </a:r>
            <a:endParaRPr/>
          </a:p>
          <a:p>
            <a:pPr indent="-177800" lvl="0" marL="0" marR="0" rtl="0" algn="l">
              <a:spcBef>
                <a:spcPts val="0"/>
              </a:spcBef>
              <a:spcAft>
                <a:spcPts val="0"/>
              </a:spcAft>
              <a:buClr>
                <a:schemeClr val="dk1"/>
              </a:buClr>
              <a:buSzPts val="2800"/>
              <a:buFont typeface="Noto Sans Symbols"/>
              <a:buChar char="⮚"/>
            </a:pPr>
            <a:r>
              <a:rPr b="1" lang="es-AR" sz="2800">
                <a:solidFill>
                  <a:schemeClr val="dk1"/>
                </a:solidFill>
                <a:latin typeface="Comic Sans MS"/>
                <a:ea typeface="Comic Sans MS"/>
                <a:cs typeface="Comic Sans MS"/>
                <a:sym typeface="Comic Sans MS"/>
              </a:rPr>
              <a:t> Precio</a:t>
            </a:r>
            <a:endParaRPr/>
          </a:p>
          <a:p>
            <a:pPr indent="-177800" lvl="0" marL="0" marR="0" rtl="0" algn="l">
              <a:spcBef>
                <a:spcPts val="0"/>
              </a:spcBef>
              <a:spcAft>
                <a:spcPts val="0"/>
              </a:spcAft>
              <a:buClr>
                <a:schemeClr val="dk1"/>
              </a:buClr>
              <a:buSzPts val="2800"/>
              <a:buFont typeface="Noto Sans Symbols"/>
              <a:buChar char="⮚"/>
            </a:pPr>
            <a:r>
              <a:rPr b="1" lang="es-AR" sz="2800">
                <a:solidFill>
                  <a:schemeClr val="dk1"/>
                </a:solidFill>
                <a:latin typeface="Comic Sans MS"/>
                <a:ea typeface="Comic Sans MS"/>
                <a:cs typeface="Comic Sans MS"/>
                <a:sym typeface="Comic Sans MS"/>
              </a:rPr>
              <a:t> ...</a:t>
            </a:r>
            <a:endParaRPr b="1" sz="2800">
              <a:solidFill>
                <a:schemeClr val="dk1"/>
              </a:solidFill>
              <a:latin typeface="Comic Sans MS"/>
              <a:ea typeface="Comic Sans MS"/>
              <a:cs typeface="Comic Sans MS"/>
              <a:sym typeface="Comic Sans MS"/>
            </a:endParaRPr>
          </a:p>
        </p:txBody>
      </p:sp>
      <p:grpSp>
        <p:nvGrpSpPr>
          <p:cNvPr id="499" name="Google Shape;499;p50"/>
          <p:cNvGrpSpPr/>
          <p:nvPr/>
        </p:nvGrpSpPr>
        <p:grpSpPr>
          <a:xfrm>
            <a:off x="381000" y="2743200"/>
            <a:ext cx="8305800" cy="2173050"/>
            <a:chOff x="144" y="2688"/>
            <a:chExt cx="2640" cy="1392"/>
          </a:xfrm>
        </p:grpSpPr>
        <p:sp>
          <p:nvSpPr>
            <p:cNvPr id="500" name="Google Shape;500;p50"/>
            <p:cNvSpPr/>
            <p:nvPr/>
          </p:nvSpPr>
          <p:spPr>
            <a:xfrm>
              <a:off x="144" y="2688"/>
              <a:ext cx="2640" cy="1392"/>
            </a:xfrm>
            <a:prstGeom prst="roundRect">
              <a:avLst>
                <a:gd fmla="val 5917"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501" name="Google Shape;501;p50"/>
            <p:cNvSpPr txBox="1"/>
            <p:nvPr/>
          </p:nvSpPr>
          <p:spPr>
            <a:xfrm>
              <a:off x="192" y="2754"/>
              <a:ext cx="2496" cy="1282"/>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200"/>
                <a:buFont typeface="Courier New"/>
                <a:buNone/>
              </a:pPr>
              <a:r>
                <a:rPr b="1" lang="es-AR" sz="2200">
                  <a:solidFill>
                    <a:schemeClr val="dk1"/>
                  </a:solidFill>
                  <a:latin typeface="Courier New"/>
                  <a:ea typeface="Courier New"/>
                  <a:cs typeface="Courier New"/>
                  <a:sym typeface="Courier New"/>
                </a:rPr>
                <a:t>struct tipoLibro {</a:t>
              </a:r>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urier New"/>
                  <a:ea typeface="Courier New"/>
                  <a:cs typeface="Courier New"/>
                  <a:sym typeface="Courier New"/>
                </a:rPr>
                <a:t>	char 	titulo[30];</a:t>
              </a:r>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urier New"/>
                  <a:ea typeface="Courier New"/>
                  <a:cs typeface="Courier New"/>
                  <a:sym typeface="Courier New"/>
                </a:rPr>
                <a:t>	char	autor[30];</a:t>
              </a:r>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urier New"/>
                  <a:ea typeface="Courier New"/>
                  <a:cs typeface="Courier New"/>
                  <a:sym typeface="Courier New"/>
                </a:rPr>
                <a:t>	char	ISBN[11];</a:t>
              </a:r>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urier New"/>
                  <a:ea typeface="Courier New"/>
                  <a:cs typeface="Courier New"/>
                  <a:sym typeface="Courier New"/>
                </a:rPr>
                <a:t>	float precio;</a:t>
              </a:r>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urier New"/>
                  <a:ea typeface="Courier New"/>
                  <a:cs typeface="Courier New"/>
                  <a:sym typeface="Courier New"/>
                </a:rPr>
                <a:t>};</a:t>
              </a:r>
              <a:endParaRPr b="1" sz="2200">
                <a:solidFill>
                  <a:schemeClr val="dk1"/>
                </a:solidFill>
                <a:latin typeface="Courier New"/>
                <a:ea typeface="Courier New"/>
                <a:cs typeface="Courier New"/>
                <a:sym typeface="Courier New"/>
              </a:endParaRPr>
            </a:p>
          </p:txBody>
        </p:sp>
      </p:grpSp>
      <p:sp>
        <p:nvSpPr>
          <p:cNvPr id="502" name="Google Shape;502;p50"/>
          <p:cNvSpPr/>
          <p:nvPr/>
        </p:nvSpPr>
        <p:spPr>
          <a:xfrm>
            <a:off x="5867400" y="914400"/>
            <a:ext cx="2790824" cy="428626"/>
          </a:xfrm>
          <a:prstGeom prst="rect">
            <a:avLst/>
          </a:prstGeom>
        </p:spPr>
        <p:txBody>
          <a:bodyPr>
            <a:prstTxWarp prst="textPlain"/>
          </a:bodyPr>
          <a:lstStyle/>
          <a:p>
            <a:pPr lvl="0" algn="ctr"/>
            <a:r>
              <a:rPr b="0" i="0">
                <a:ln cap="flat" cmpd="sng" w="19050">
                  <a:solidFill>
                    <a:srgbClr val="99CCFF"/>
                  </a:solidFill>
                  <a:prstDash val="solid"/>
                  <a:round/>
                  <a:headEnd len="sm" w="sm" type="none"/>
                  <a:tailEnd len="sm" w="sm" type="none"/>
                </a:ln>
                <a:solidFill>
                  <a:srgbClr val="0066CC"/>
                </a:solidFill>
                <a:latin typeface="Impact"/>
              </a:rPr>
              <a:t>Una estructura</a:t>
            </a:r>
          </a:p>
        </p:txBody>
      </p:sp>
      <p:pic>
        <p:nvPicPr>
          <p:cNvPr id="503" name="Google Shape;503;p50"/>
          <p:cNvPicPr preferRelativeResize="0"/>
          <p:nvPr/>
        </p:nvPicPr>
        <p:blipFill>
          <a:blip r:embed="rId3">
            <a:alphaModFix/>
          </a:blip>
          <a:stretch>
            <a:fillRect/>
          </a:stretch>
        </p:blipFill>
        <p:spPr>
          <a:xfrm>
            <a:off x="549148" y="536148"/>
            <a:ext cx="1950625" cy="15343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51"/>
          <p:cNvSpPr/>
          <p:nvPr/>
        </p:nvSpPr>
        <p:spPr>
          <a:xfrm>
            <a:off x="4724400" y="114300"/>
            <a:ext cx="498600" cy="1714500"/>
          </a:xfrm>
          <a:prstGeom prst="leftBrace">
            <a:avLst>
              <a:gd fmla="val 38217" name="adj1"/>
              <a:gd fmla="val 50000" name="adj2"/>
            </a:avLst>
          </a:prstGeom>
          <a:noFill/>
          <a:ln cap="flat" cmpd="sng" w="3810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509" name="Google Shape;509;p51"/>
          <p:cNvSpPr txBox="1"/>
          <p:nvPr/>
        </p:nvSpPr>
        <p:spPr>
          <a:xfrm>
            <a:off x="5370513" y="76200"/>
            <a:ext cx="2206500" cy="1670400"/>
          </a:xfrm>
          <a:prstGeom prst="rect">
            <a:avLst/>
          </a:prstGeom>
          <a:noFill/>
          <a:ln>
            <a:noFill/>
          </a:ln>
        </p:spPr>
        <p:txBody>
          <a:bodyPr anchorCtr="0" anchor="t" bIns="45700" lIns="91425" spcFirstLastPara="1" rIns="91425" wrap="square" tIns="45700">
            <a:noAutofit/>
          </a:bodyPr>
          <a:lstStyle/>
          <a:p>
            <a:pPr indent="-177800" lvl="0" marL="0" marR="0" rtl="0" algn="l">
              <a:spcBef>
                <a:spcPts val="0"/>
              </a:spcBef>
              <a:spcAft>
                <a:spcPts val="0"/>
              </a:spcAft>
              <a:buClr>
                <a:schemeClr val="dk1"/>
              </a:buClr>
              <a:buSzPts val="2800"/>
              <a:buFont typeface="Noto Sans Symbols"/>
              <a:buChar char="⮚"/>
            </a:pPr>
            <a:r>
              <a:rPr b="1" lang="es-AR" sz="2800">
                <a:solidFill>
                  <a:schemeClr val="dk1"/>
                </a:solidFill>
                <a:latin typeface="Comic Sans MS"/>
                <a:ea typeface="Comic Sans MS"/>
                <a:cs typeface="Comic Sans MS"/>
                <a:sym typeface="Comic Sans MS"/>
              </a:rPr>
              <a:t> Títulos</a:t>
            </a:r>
            <a:endParaRPr/>
          </a:p>
          <a:p>
            <a:pPr indent="-177800" lvl="0" marL="0" marR="0" rtl="0" algn="l">
              <a:spcBef>
                <a:spcPts val="0"/>
              </a:spcBef>
              <a:spcAft>
                <a:spcPts val="0"/>
              </a:spcAft>
              <a:buClr>
                <a:schemeClr val="dk1"/>
              </a:buClr>
              <a:buSzPts val="2800"/>
              <a:buFont typeface="Noto Sans Symbols"/>
              <a:buChar char="⮚"/>
            </a:pPr>
            <a:r>
              <a:rPr b="1" lang="es-AR" sz="2800">
                <a:solidFill>
                  <a:schemeClr val="dk1"/>
                </a:solidFill>
                <a:latin typeface="Comic Sans MS"/>
                <a:ea typeface="Comic Sans MS"/>
                <a:cs typeface="Comic Sans MS"/>
                <a:sym typeface="Comic Sans MS"/>
              </a:rPr>
              <a:t> Autores</a:t>
            </a:r>
            <a:endParaRPr/>
          </a:p>
          <a:p>
            <a:pPr indent="-177800" lvl="0" marL="0" marR="0" rtl="0" algn="l">
              <a:spcBef>
                <a:spcPts val="0"/>
              </a:spcBef>
              <a:spcAft>
                <a:spcPts val="0"/>
              </a:spcAft>
              <a:buClr>
                <a:schemeClr val="dk1"/>
              </a:buClr>
              <a:buSzPts val="2800"/>
              <a:buFont typeface="Noto Sans Symbols"/>
              <a:buChar char="⮚"/>
            </a:pPr>
            <a:r>
              <a:rPr b="1" lang="es-AR" sz="2800">
                <a:solidFill>
                  <a:schemeClr val="dk1"/>
                </a:solidFill>
                <a:latin typeface="Comic Sans MS"/>
                <a:ea typeface="Comic Sans MS"/>
                <a:cs typeface="Comic Sans MS"/>
                <a:sym typeface="Comic Sans MS"/>
              </a:rPr>
              <a:t> ISBNs</a:t>
            </a:r>
            <a:endParaRPr/>
          </a:p>
          <a:p>
            <a:pPr indent="-177800" lvl="0" marL="0" marR="0" rtl="0" algn="l">
              <a:spcBef>
                <a:spcPts val="0"/>
              </a:spcBef>
              <a:spcAft>
                <a:spcPts val="0"/>
              </a:spcAft>
              <a:buClr>
                <a:schemeClr val="dk1"/>
              </a:buClr>
              <a:buSzPts val="2800"/>
              <a:buFont typeface="Noto Sans Symbols"/>
              <a:buChar char="⮚"/>
            </a:pPr>
            <a:r>
              <a:rPr b="1" lang="es-AR" sz="2800">
                <a:solidFill>
                  <a:schemeClr val="dk1"/>
                </a:solidFill>
                <a:latin typeface="Comic Sans MS"/>
                <a:ea typeface="Comic Sans MS"/>
                <a:cs typeface="Comic Sans MS"/>
                <a:sym typeface="Comic Sans MS"/>
              </a:rPr>
              <a:t> Precios</a:t>
            </a:r>
            <a:endParaRPr/>
          </a:p>
          <a:p>
            <a:pPr indent="-177800" lvl="0" marL="0" marR="0" rtl="0" algn="l">
              <a:spcBef>
                <a:spcPts val="0"/>
              </a:spcBef>
              <a:spcAft>
                <a:spcPts val="0"/>
              </a:spcAft>
              <a:buClr>
                <a:schemeClr val="dk1"/>
              </a:buClr>
              <a:buSzPts val="2800"/>
              <a:buFont typeface="Noto Sans Symbols"/>
              <a:buChar char="⮚"/>
            </a:pPr>
            <a:r>
              <a:rPr b="1" lang="es-AR" sz="2800">
                <a:solidFill>
                  <a:schemeClr val="dk1"/>
                </a:solidFill>
                <a:latin typeface="Comic Sans MS"/>
                <a:ea typeface="Comic Sans MS"/>
                <a:cs typeface="Comic Sans MS"/>
                <a:sym typeface="Comic Sans MS"/>
              </a:rPr>
              <a:t> ...</a:t>
            </a:r>
            <a:endParaRPr b="1" sz="2800">
              <a:solidFill>
                <a:schemeClr val="dk1"/>
              </a:solidFill>
              <a:latin typeface="Comic Sans MS"/>
              <a:ea typeface="Comic Sans MS"/>
              <a:cs typeface="Comic Sans MS"/>
              <a:sym typeface="Comic Sans MS"/>
            </a:endParaRPr>
          </a:p>
        </p:txBody>
      </p:sp>
      <p:grpSp>
        <p:nvGrpSpPr>
          <p:cNvPr id="510" name="Google Shape;510;p51"/>
          <p:cNvGrpSpPr/>
          <p:nvPr/>
        </p:nvGrpSpPr>
        <p:grpSpPr>
          <a:xfrm>
            <a:off x="381000" y="190500"/>
            <a:ext cx="3849075" cy="1239725"/>
            <a:chOff x="240" y="192"/>
            <a:chExt cx="2544" cy="1487"/>
          </a:xfrm>
        </p:grpSpPr>
        <p:sp>
          <p:nvSpPr>
            <p:cNvPr id="511" name="Google Shape;511;p51"/>
            <p:cNvSpPr/>
            <p:nvPr/>
          </p:nvSpPr>
          <p:spPr>
            <a:xfrm>
              <a:off x="240" y="192"/>
              <a:ext cx="2544" cy="148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512" name="Google Shape;512;p51"/>
            <p:cNvSpPr/>
            <p:nvPr/>
          </p:nvSpPr>
          <p:spPr>
            <a:xfrm>
              <a:off x="2185" y="1311"/>
              <a:ext cx="207" cy="362"/>
            </a:xfrm>
            <a:prstGeom prst="rect">
              <a:avLst/>
            </a:prstGeom>
            <a:solidFill>
              <a:srgbClr val="714100"/>
            </a:solid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513" name="Google Shape;513;p51"/>
            <p:cNvSpPr/>
            <p:nvPr/>
          </p:nvSpPr>
          <p:spPr>
            <a:xfrm>
              <a:off x="250" y="1215"/>
              <a:ext cx="2523" cy="99"/>
            </a:xfrm>
            <a:prstGeom prst="rect">
              <a:avLst/>
            </a:prstGeom>
            <a:solidFill>
              <a:srgbClr val="714100"/>
            </a:solid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514" name="Google Shape;514;p51"/>
            <p:cNvSpPr/>
            <p:nvPr/>
          </p:nvSpPr>
          <p:spPr>
            <a:xfrm>
              <a:off x="378" y="199"/>
              <a:ext cx="331" cy="998"/>
            </a:xfrm>
            <a:custGeom>
              <a:rect b="b" l="l" r="r" t="t"/>
              <a:pathLst>
                <a:path extrusionOk="0" h="1995" w="662">
                  <a:moveTo>
                    <a:pt x="70" y="0"/>
                  </a:moveTo>
                  <a:lnTo>
                    <a:pt x="591" y="0"/>
                  </a:lnTo>
                  <a:lnTo>
                    <a:pt x="606" y="2"/>
                  </a:lnTo>
                  <a:lnTo>
                    <a:pt x="619" y="5"/>
                  </a:lnTo>
                  <a:lnTo>
                    <a:pt x="630" y="11"/>
                  </a:lnTo>
                  <a:lnTo>
                    <a:pt x="641" y="20"/>
                  </a:lnTo>
                  <a:lnTo>
                    <a:pt x="651" y="31"/>
                  </a:lnTo>
                  <a:lnTo>
                    <a:pt x="656" y="42"/>
                  </a:lnTo>
                  <a:lnTo>
                    <a:pt x="660" y="55"/>
                  </a:lnTo>
                  <a:lnTo>
                    <a:pt x="662" y="70"/>
                  </a:lnTo>
                  <a:lnTo>
                    <a:pt x="662" y="1923"/>
                  </a:lnTo>
                  <a:lnTo>
                    <a:pt x="660" y="1937"/>
                  </a:lnTo>
                  <a:lnTo>
                    <a:pt x="656" y="1950"/>
                  </a:lnTo>
                  <a:lnTo>
                    <a:pt x="651" y="1963"/>
                  </a:lnTo>
                  <a:lnTo>
                    <a:pt x="641" y="1974"/>
                  </a:lnTo>
                  <a:lnTo>
                    <a:pt x="630" y="1982"/>
                  </a:lnTo>
                  <a:lnTo>
                    <a:pt x="619" y="1989"/>
                  </a:lnTo>
                  <a:lnTo>
                    <a:pt x="606" y="1993"/>
                  </a:lnTo>
                  <a:lnTo>
                    <a:pt x="591" y="1995"/>
                  </a:lnTo>
                  <a:lnTo>
                    <a:pt x="70" y="1995"/>
                  </a:lnTo>
                  <a:lnTo>
                    <a:pt x="55" y="1993"/>
                  </a:lnTo>
                  <a:lnTo>
                    <a:pt x="42" y="1989"/>
                  </a:lnTo>
                  <a:lnTo>
                    <a:pt x="31" y="1982"/>
                  </a:lnTo>
                  <a:lnTo>
                    <a:pt x="20" y="1974"/>
                  </a:lnTo>
                  <a:lnTo>
                    <a:pt x="11" y="1963"/>
                  </a:lnTo>
                  <a:lnTo>
                    <a:pt x="5" y="1950"/>
                  </a:lnTo>
                  <a:lnTo>
                    <a:pt x="1" y="1937"/>
                  </a:lnTo>
                  <a:lnTo>
                    <a:pt x="0" y="1923"/>
                  </a:lnTo>
                  <a:lnTo>
                    <a:pt x="0" y="70"/>
                  </a:lnTo>
                  <a:lnTo>
                    <a:pt x="1" y="55"/>
                  </a:lnTo>
                  <a:lnTo>
                    <a:pt x="5" y="42"/>
                  </a:lnTo>
                  <a:lnTo>
                    <a:pt x="11" y="31"/>
                  </a:lnTo>
                  <a:lnTo>
                    <a:pt x="20" y="20"/>
                  </a:lnTo>
                  <a:lnTo>
                    <a:pt x="31" y="11"/>
                  </a:lnTo>
                  <a:lnTo>
                    <a:pt x="42" y="5"/>
                  </a:lnTo>
                  <a:lnTo>
                    <a:pt x="55" y="2"/>
                  </a:lnTo>
                  <a:lnTo>
                    <a:pt x="70" y="0"/>
                  </a:lnTo>
                  <a:close/>
                </a:path>
              </a:pathLst>
            </a:custGeom>
            <a:solidFill>
              <a:srgbClr val="990000"/>
            </a:solidFill>
            <a:ln cap="flat" cmpd="sng" w="206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15" name="Google Shape;515;p51"/>
            <p:cNvSpPr/>
            <p:nvPr/>
          </p:nvSpPr>
          <p:spPr>
            <a:xfrm>
              <a:off x="730" y="199"/>
              <a:ext cx="242" cy="998"/>
            </a:xfrm>
            <a:custGeom>
              <a:rect b="b" l="l" r="r" t="t"/>
              <a:pathLst>
                <a:path extrusionOk="0" h="1995" w="485">
                  <a:moveTo>
                    <a:pt x="52" y="0"/>
                  </a:moveTo>
                  <a:lnTo>
                    <a:pt x="433" y="0"/>
                  </a:lnTo>
                  <a:lnTo>
                    <a:pt x="453" y="5"/>
                  </a:lnTo>
                  <a:lnTo>
                    <a:pt x="470" y="20"/>
                  </a:lnTo>
                  <a:lnTo>
                    <a:pt x="481" y="42"/>
                  </a:lnTo>
                  <a:lnTo>
                    <a:pt x="485" y="70"/>
                  </a:lnTo>
                  <a:lnTo>
                    <a:pt x="485" y="1923"/>
                  </a:lnTo>
                  <a:lnTo>
                    <a:pt x="481" y="1950"/>
                  </a:lnTo>
                  <a:lnTo>
                    <a:pt x="470" y="1974"/>
                  </a:lnTo>
                  <a:lnTo>
                    <a:pt x="453" y="1989"/>
                  </a:lnTo>
                  <a:lnTo>
                    <a:pt x="433" y="1995"/>
                  </a:lnTo>
                  <a:lnTo>
                    <a:pt x="52" y="1995"/>
                  </a:lnTo>
                  <a:lnTo>
                    <a:pt x="32" y="1989"/>
                  </a:lnTo>
                  <a:lnTo>
                    <a:pt x="15" y="1974"/>
                  </a:lnTo>
                  <a:lnTo>
                    <a:pt x="4" y="1950"/>
                  </a:lnTo>
                  <a:lnTo>
                    <a:pt x="0" y="1923"/>
                  </a:lnTo>
                  <a:lnTo>
                    <a:pt x="0" y="70"/>
                  </a:lnTo>
                  <a:lnTo>
                    <a:pt x="4" y="42"/>
                  </a:lnTo>
                  <a:lnTo>
                    <a:pt x="15" y="20"/>
                  </a:lnTo>
                  <a:lnTo>
                    <a:pt x="32" y="5"/>
                  </a:lnTo>
                  <a:lnTo>
                    <a:pt x="52" y="0"/>
                  </a:lnTo>
                  <a:close/>
                </a:path>
              </a:pathLst>
            </a:custGeom>
            <a:solidFill>
              <a:srgbClr val="000000"/>
            </a:solidFill>
            <a:ln cap="flat" cmpd="sng" w="206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16" name="Google Shape;516;p51"/>
            <p:cNvSpPr/>
            <p:nvPr/>
          </p:nvSpPr>
          <p:spPr>
            <a:xfrm>
              <a:off x="1005" y="381"/>
              <a:ext cx="287" cy="820"/>
            </a:xfrm>
            <a:custGeom>
              <a:rect b="b" l="l" r="r" t="t"/>
              <a:pathLst>
                <a:path extrusionOk="0" h="1638" w="575">
                  <a:moveTo>
                    <a:pt x="61" y="0"/>
                  </a:moveTo>
                  <a:lnTo>
                    <a:pt x="514" y="0"/>
                  </a:lnTo>
                  <a:lnTo>
                    <a:pt x="527" y="2"/>
                  </a:lnTo>
                  <a:lnTo>
                    <a:pt x="538" y="3"/>
                  </a:lnTo>
                  <a:lnTo>
                    <a:pt x="549" y="9"/>
                  </a:lnTo>
                  <a:lnTo>
                    <a:pt x="558" y="16"/>
                  </a:lnTo>
                  <a:lnTo>
                    <a:pt x="565" y="26"/>
                  </a:lnTo>
                  <a:lnTo>
                    <a:pt x="571" y="35"/>
                  </a:lnTo>
                  <a:lnTo>
                    <a:pt x="573" y="46"/>
                  </a:lnTo>
                  <a:lnTo>
                    <a:pt x="575" y="57"/>
                  </a:lnTo>
                  <a:lnTo>
                    <a:pt x="575" y="1581"/>
                  </a:lnTo>
                  <a:lnTo>
                    <a:pt x="573" y="1592"/>
                  </a:lnTo>
                  <a:lnTo>
                    <a:pt x="571" y="1603"/>
                  </a:lnTo>
                  <a:lnTo>
                    <a:pt x="565" y="1612"/>
                  </a:lnTo>
                  <a:lnTo>
                    <a:pt x="558" y="1622"/>
                  </a:lnTo>
                  <a:lnTo>
                    <a:pt x="549" y="1629"/>
                  </a:lnTo>
                  <a:lnTo>
                    <a:pt x="538" y="1634"/>
                  </a:lnTo>
                  <a:lnTo>
                    <a:pt x="527" y="1636"/>
                  </a:lnTo>
                  <a:lnTo>
                    <a:pt x="514" y="1638"/>
                  </a:lnTo>
                  <a:lnTo>
                    <a:pt x="61" y="1638"/>
                  </a:lnTo>
                  <a:lnTo>
                    <a:pt x="48" y="1636"/>
                  </a:lnTo>
                  <a:lnTo>
                    <a:pt x="37" y="1634"/>
                  </a:lnTo>
                  <a:lnTo>
                    <a:pt x="27" y="1629"/>
                  </a:lnTo>
                  <a:lnTo>
                    <a:pt x="18" y="1622"/>
                  </a:lnTo>
                  <a:lnTo>
                    <a:pt x="11" y="1612"/>
                  </a:lnTo>
                  <a:lnTo>
                    <a:pt x="5" y="1603"/>
                  </a:lnTo>
                  <a:lnTo>
                    <a:pt x="1" y="1592"/>
                  </a:lnTo>
                  <a:lnTo>
                    <a:pt x="0" y="1581"/>
                  </a:lnTo>
                  <a:lnTo>
                    <a:pt x="0" y="57"/>
                  </a:lnTo>
                  <a:lnTo>
                    <a:pt x="1" y="46"/>
                  </a:lnTo>
                  <a:lnTo>
                    <a:pt x="5" y="35"/>
                  </a:lnTo>
                  <a:lnTo>
                    <a:pt x="11" y="26"/>
                  </a:lnTo>
                  <a:lnTo>
                    <a:pt x="18" y="16"/>
                  </a:lnTo>
                  <a:lnTo>
                    <a:pt x="27" y="9"/>
                  </a:lnTo>
                  <a:lnTo>
                    <a:pt x="37" y="3"/>
                  </a:lnTo>
                  <a:lnTo>
                    <a:pt x="48" y="2"/>
                  </a:lnTo>
                  <a:lnTo>
                    <a:pt x="61" y="0"/>
                  </a:lnTo>
                  <a:close/>
                </a:path>
              </a:pathLst>
            </a:custGeom>
            <a:solidFill>
              <a:srgbClr val="339966"/>
            </a:solidFill>
            <a:ln cap="flat" cmpd="sng" w="20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17" name="Google Shape;517;p51"/>
            <p:cNvSpPr/>
            <p:nvPr/>
          </p:nvSpPr>
          <p:spPr>
            <a:xfrm>
              <a:off x="2407" y="290"/>
              <a:ext cx="287" cy="905"/>
            </a:xfrm>
            <a:custGeom>
              <a:rect b="b" l="l" r="r" t="t"/>
              <a:pathLst>
                <a:path extrusionOk="0" h="1810" w="576">
                  <a:moveTo>
                    <a:pt x="61" y="0"/>
                  </a:moveTo>
                  <a:lnTo>
                    <a:pt x="515" y="0"/>
                  </a:lnTo>
                  <a:lnTo>
                    <a:pt x="528" y="2"/>
                  </a:lnTo>
                  <a:lnTo>
                    <a:pt x="539" y="5"/>
                  </a:lnTo>
                  <a:lnTo>
                    <a:pt x="550" y="11"/>
                  </a:lnTo>
                  <a:lnTo>
                    <a:pt x="559" y="18"/>
                  </a:lnTo>
                  <a:lnTo>
                    <a:pt x="566" y="28"/>
                  </a:lnTo>
                  <a:lnTo>
                    <a:pt x="572" y="39"/>
                  </a:lnTo>
                  <a:lnTo>
                    <a:pt x="574" y="52"/>
                  </a:lnTo>
                  <a:lnTo>
                    <a:pt x="576" y="64"/>
                  </a:lnTo>
                  <a:lnTo>
                    <a:pt x="576" y="1747"/>
                  </a:lnTo>
                  <a:lnTo>
                    <a:pt x="574" y="1760"/>
                  </a:lnTo>
                  <a:lnTo>
                    <a:pt x="572" y="1771"/>
                  </a:lnTo>
                  <a:lnTo>
                    <a:pt x="566" y="1782"/>
                  </a:lnTo>
                  <a:lnTo>
                    <a:pt x="559" y="1792"/>
                  </a:lnTo>
                  <a:lnTo>
                    <a:pt x="550" y="1799"/>
                  </a:lnTo>
                  <a:lnTo>
                    <a:pt x="539" y="1805"/>
                  </a:lnTo>
                  <a:lnTo>
                    <a:pt x="528" y="1808"/>
                  </a:lnTo>
                  <a:lnTo>
                    <a:pt x="515" y="1810"/>
                  </a:lnTo>
                  <a:lnTo>
                    <a:pt x="61" y="1810"/>
                  </a:lnTo>
                  <a:lnTo>
                    <a:pt x="48" y="1808"/>
                  </a:lnTo>
                  <a:lnTo>
                    <a:pt x="37" y="1805"/>
                  </a:lnTo>
                  <a:lnTo>
                    <a:pt x="28" y="1799"/>
                  </a:lnTo>
                  <a:lnTo>
                    <a:pt x="19" y="1792"/>
                  </a:lnTo>
                  <a:lnTo>
                    <a:pt x="11" y="1782"/>
                  </a:lnTo>
                  <a:lnTo>
                    <a:pt x="6" y="1771"/>
                  </a:lnTo>
                  <a:lnTo>
                    <a:pt x="2" y="1760"/>
                  </a:lnTo>
                  <a:lnTo>
                    <a:pt x="0" y="1747"/>
                  </a:lnTo>
                  <a:lnTo>
                    <a:pt x="0" y="64"/>
                  </a:lnTo>
                  <a:lnTo>
                    <a:pt x="2" y="52"/>
                  </a:lnTo>
                  <a:lnTo>
                    <a:pt x="6" y="39"/>
                  </a:lnTo>
                  <a:lnTo>
                    <a:pt x="11" y="28"/>
                  </a:lnTo>
                  <a:lnTo>
                    <a:pt x="19" y="18"/>
                  </a:lnTo>
                  <a:lnTo>
                    <a:pt x="28" y="11"/>
                  </a:lnTo>
                  <a:lnTo>
                    <a:pt x="37" y="5"/>
                  </a:lnTo>
                  <a:lnTo>
                    <a:pt x="48" y="2"/>
                  </a:lnTo>
                  <a:lnTo>
                    <a:pt x="61" y="0"/>
                  </a:lnTo>
                  <a:close/>
                </a:path>
              </a:pathLst>
            </a:custGeom>
            <a:solidFill>
              <a:srgbClr val="000066"/>
            </a:solidFill>
            <a:ln cap="flat" cmpd="sng" w="206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18" name="Google Shape;518;p51"/>
            <p:cNvSpPr/>
            <p:nvPr/>
          </p:nvSpPr>
          <p:spPr>
            <a:xfrm>
              <a:off x="1315" y="378"/>
              <a:ext cx="191" cy="819"/>
            </a:xfrm>
            <a:custGeom>
              <a:rect b="b" l="l" r="r" t="t"/>
              <a:pathLst>
                <a:path extrusionOk="0" h="1639" w="381">
                  <a:moveTo>
                    <a:pt x="41" y="0"/>
                  </a:moveTo>
                  <a:lnTo>
                    <a:pt x="340" y="0"/>
                  </a:lnTo>
                  <a:lnTo>
                    <a:pt x="357" y="4"/>
                  </a:lnTo>
                  <a:lnTo>
                    <a:pt x="370" y="17"/>
                  </a:lnTo>
                  <a:lnTo>
                    <a:pt x="377" y="35"/>
                  </a:lnTo>
                  <a:lnTo>
                    <a:pt x="381" y="58"/>
                  </a:lnTo>
                  <a:lnTo>
                    <a:pt x="381" y="1581"/>
                  </a:lnTo>
                  <a:lnTo>
                    <a:pt x="377" y="1604"/>
                  </a:lnTo>
                  <a:lnTo>
                    <a:pt x="370" y="1622"/>
                  </a:lnTo>
                  <a:lnTo>
                    <a:pt x="357" y="1635"/>
                  </a:lnTo>
                  <a:lnTo>
                    <a:pt x="340" y="1639"/>
                  </a:lnTo>
                  <a:lnTo>
                    <a:pt x="41" y="1639"/>
                  </a:lnTo>
                  <a:lnTo>
                    <a:pt x="26" y="1635"/>
                  </a:lnTo>
                  <a:lnTo>
                    <a:pt x="13" y="1622"/>
                  </a:lnTo>
                  <a:lnTo>
                    <a:pt x="4" y="1604"/>
                  </a:lnTo>
                  <a:lnTo>
                    <a:pt x="0" y="1581"/>
                  </a:lnTo>
                  <a:lnTo>
                    <a:pt x="0" y="58"/>
                  </a:lnTo>
                  <a:lnTo>
                    <a:pt x="4" y="35"/>
                  </a:lnTo>
                  <a:lnTo>
                    <a:pt x="13" y="17"/>
                  </a:lnTo>
                  <a:lnTo>
                    <a:pt x="26" y="4"/>
                  </a:lnTo>
                  <a:lnTo>
                    <a:pt x="41" y="0"/>
                  </a:lnTo>
                  <a:close/>
                </a:path>
              </a:pathLst>
            </a:custGeom>
            <a:solidFill>
              <a:srgbClr val="00FFFF"/>
            </a:solidFill>
            <a:ln cap="flat" cmpd="sng" w="206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19" name="Google Shape;519;p51"/>
            <p:cNvSpPr/>
            <p:nvPr/>
          </p:nvSpPr>
          <p:spPr>
            <a:xfrm>
              <a:off x="1522" y="387"/>
              <a:ext cx="445" cy="823"/>
            </a:xfrm>
            <a:custGeom>
              <a:rect b="b" l="l" r="r" t="t"/>
              <a:pathLst>
                <a:path extrusionOk="0" h="1646" w="890">
                  <a:moveTo>
                    <a:pt x="24" y="105"/>
                  </a:moveTo>
                  <a:lnTo>
                    <a:pt x="306" y="2"/>
                  </a:lnTo>
                  <a:lnTo>
                    <a:pt x="313" y="0"/>
                  </a:lnTo>
                  <a:lnTo>
                    <a:pt x="322" y="0"/>
                  </a:lnTo>
                  <a:lnTo>
                    <a:pt x="330" y="3"/>
                  </a:lnTo>
                  <a:lnTo>
                    <a:pt x="337" y="7"/>
                  </a:lnTo>
                  <a:lnTo>
                    <a:pt x="344" y="15"/>
                  </a:lnTo>
                  <a:lnTo>
                    <a:pt x="352" y="22"/>
                  </a:lnTo>
                  <a:lnTo>
                    <a:pt x="357" y="31"/>
                  </a:lnTo>
                  <a:lnTo>
                    <a:pt x="363" y="42"/>
                  </a:lnTo>
                  <a:lnTo>
                    <a:pt x="884" y="1474"/>
                  </a:lnTo>
                  <a:lnTo>
                    <a:pt x="890" y="1496"/>
                  </a:lnTo>
                  <a:lnTo>
                    <a:pt x="888" y="1516"/>
                  </a:lnTo>
                  <a:lnTo>
                    <a:pt x="879" y="1533"/>
                  </a:lnTo>
                  <a:lnTo>
                    <a:pt x="866" y="1542"/>
                  </a:lnTo>
                  <a:lnTo>
                    <a:pt x="585" y="1644"/>
                  </a:lnTo>
                  <a:lnTo>
                    <a:pt x="577" y="1646"/>
                  </a:lnTo>
                  <a:lnTo>
                    <a:pt x="568" y="1646"/>
                  </a:lnTo>
                  <a:lnTo>
                    <a:pt x="561" y="1642"/>
                  </a:lnTo>
                  <a:lnTo>
                    <a:pt x="553" y="1638"/>
                  </a:lnTo>
                  <a:lnTo>
                    <a:pt x="546" y="1631"/>
                  </a:lnTo>
                  <a:lnTo>
                    <a:pt x="539" y="1623"/>
                  </a:lnTo>
                  <a:lnTo>
                    <a:pt x="533" y="1614"/>
                  </a:lnTo>
                  <a:lnTo>
                    <a:pt x="528" y="1603"/>
                  </a:lnTo>
                  <a:lnTo>
                    <a:pt x="6" y="173"/>
                  </a:lnTo>
                  <a:lnTo>
                    <a:pt x="0" y="151"/>
                  </a:lnTo>
                  <a:lnTo>
                    <a:pt x="2" y="131"/>
                  </a:lnTo>
                  <a:lnTo>
                    <a:pt x="12" y="114"/>
                  </a:lnTo>
                  <a:lnTo>
                    <a:pt x="24" y="10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20" name="Google Shape;520;p51"/>
            <p:cNvSpPr/>
            <p:nvPr/>
          </p:nvSpPr>
          <p:spPr>
            <a:xfrm>
              <a:off x="1966" y="375"/>
              <a:ext cx="190" cy="819"/>
            </a:xfrm>
            <a:custGeom>
              <a:rect b="b" l="l" r="r" t="t"/>
              <a:pathLst>
                <a:path extrusionOk="0" h="1638" w="381">
                  <a:moveTo>
                    <a:pt x="41" y="0"/>
                  </a:moveTo>
                  <a:lnTo>
                    <a:pt x="340" y="0"/>
                  </a:lnTo>
                  <a:lnTo>
                    <a:pt x="357" y="3"/>
                  </a:lnTo>
                  <a:lnTo>
                    <a:pt x="370" y="16"/>
                  </a:lnTo>
                  <a:lnTo>
                    <a:pt x="377" y="35"/>
                  </a:lnTo>
                  <a:lnTo>
                    <a:pt x="381" y="57"/>
                  </a:lnTo>
                  <a:lnTo>
                    <a:pt x="381" y="1581"/>
                  </a:lnTo>
                  <a:lnTo>
                    <a:pt x="377" y="1603"/>
                  </a:lnTo>
                  <a:lnTo>
                    <a:pt x="370" y="1622"/>
                  </a:lnTo>
                  <a:lnTo>
                    <a:pt x="357" y="1635"/>
                  </a:lnTo>
                  <a:lnTo>
                    <a:pt x="340" y="1638"/>
                  </a:lnTo>
                  <a:lnTo>
                    <a:pt x="41" y="1638"/>
                  </a:lnTo>
                  <a:lnTo>
                    <a:pt x="26" y="1635"/>
                  </a:lnTo>
                  <a:lnTo>
                    <a:pt x="13" y="1622"/>
                  </a:lnTo>
                  <a:lnTo>
                    <a:pt x="4" y="1603"/>
                  </a:lnTo>
                  <a:lnTo>
                    <a:pt x="0" y="1581"/>
                  </a:lnTo>
                  <a:lnTo>
                    <a:pt x="0" y="57"/>
                  </a:lnTo>
                  <a:lnTo>
                    <a:pt x="4" y="35"/>
                  </a:lnTo>
                  <a:lnTo>
                    <a:pt x="13" y="16"/>
                  </a:lnTo>
                  <a:lnTo>
                    <a:pt x="26" y="3"/>
                  </a:lnTo>
                  <a:lnTo>
                    <a:pt x="41" y="0"/>
                  </a:lnTo>
                  <a:close/>
                </a:path>
              </a:pathLst>
            </a:custGeom>
            <a:solidFill>
              <a:srgbClr val="FFCC99"/>
            </a:solidFill>
            <a:ln cap="flat" cmpd="sng" w="27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21" name="Google Shape;521;p51"/>
            <p:cNvSpPr/>
            <p:nvPr/>
          </p:nvSpPr>
          <p:spPr>
            <a:xfrm>
              <a:off x="2188" y="382"/>
              <a:ext cx="189" cy="89"/>
            </a:xfrm>
            <a:custGeom>
              <a:rect b="b" l="l" r="r" t="t"/>
              <a:pathLst>
                <a:path extrusionOk="0" h="177" w="379">
                  <a:moveTo>
                    <a:pt x="0" y="177"/>
                  </a:moveTo>
                  <a:lnTo>
                    <a:pt x="0" y="57"/>
                  </a:lnTo>
                  <a:lnTo>
                    <a:pt x="4" y="35"/>
                  </a:lnTo>
                  <a:lnTo>
                    <a:pt x="13" y="16"/>
                  </a:lnTo>
                  <a:lnTo>
                    <a:pt x="26" y="3"/>
                  </a:lnTo>
                  <a:lnTo>
                    <a:pt x="41" y="0"/>
                  </a:lnTo>
                  <a:lnTo>
                    <a:pt x="340" y="0"/>
                  </a:lnTo>
                  <a:lnTo>
                    <a:pt x="355" y="3"/>
                  </a:lnTo>
                  <a:lnTo>
                    <a:pt x="368" y="16"/>
                  </a:lnTo>
                  <a:lnTo>
                    <a:pt x="376" y="35"/>
                  </a:lnTo>
                  <a:lnTo>
                    <a:pt x="379" y="57"/>
                  </a:lnTo>
                  <a:lnTo>
                    <a:pt x="379" y="177"/>
                  </a:lnTo>
                  <a:lnTo>
                    <a:pt x="379" y="153"/>
                  </a:lnTo>
                  <a:lnTo>
                    <a:pt x="0" y="153"/>
                  </a:lnTo>
                  <a:lnTo>
                    <a:pt x="0" y="177"/>
                  </a:lnTo>
                  <a:close/>
                </a:path>
              </a:pathLst>
            </a:custGeom>
            <a:solidFill>
              <a:srgbClr val="66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22" name="Google Shape;522;p51"/>
            <p:cNvSpPr/>
            <p:nvPr/>
          </p:nvSpPr>
          <p:spPr>
            <a:xfrm>
              <a:off x="2188" y="471"/>
              <a:ext cx="189" cy="136"/>
            </a:xfrm>
            <a:custGeom>
              <a:rect b="b" l="l" r="r" t="t"/>
              <a:pathLst>
                <a:path extrusionOk="0" h="271" w="379">
                  <a:moveTo>
                    <a:pt x="0" y="271"/>
                  </a:moveTo>
                  <a:lnTo>
                    <a:pt x="0" y="0"/>
                  </a:lnTo>
                  <a:lnTo>
                    <a:pt x="0" y="22"/>
                  </a:lnTo>
                  <a:lnTo>
                    <a:pt x="379" y="22"/>
                  </a:lnTo>
                  <a:lnTo>
                    <a:pt x="379" y="0"/>
                  </a:lnTo>
                  <a:lnTo>
                    <a:pt x="379" y="271"/>
                  </a:lnTo>
                  <a:lnTo>
                    <a:pt x="379" y="249"/>
                  </a:lnTo>
                  <a:lnTo>
                    <a:pt x="2" y="249"/>
                  </a:lnTo>
                  <a:lnTo>
                    <a:pt x="2" y="271"/>
                  </a:lnTo>
                  <a:lnTo>
                    <a:pt x="0" y="271"/>
                  </a:lnTo>
                  <a:close/>
                </a:path>
              </a:pathLst>
            </a:custGeom>
            <a:solidFill>
              <a:srgbClr val="66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23" name="Google Shape;523;p51"/>
            <p:cNvSpPr/>
            <p:nvPr/>
          </p:nvSpPr>
          <p:spPr>
            <a:xfrm>
              <a:off x="2188" y="607"/>
              <a:ext cx="189" cy="594"/>
            </a:xfrm>
            <a:custGeom>
              <a:rect b="b" l="l" r="r" t="t"/>
              <a:pathLst>
                <a:path extrusionOk="0" h="1190" w="379">
                  <a:moveTo>
                    <a:pt x="0" y="0"/>
                  </a:moveTo>
                  <a:lnTo>
                    <a:pt x="0" y="1133"/>
                  </a:lnTo>
                  <a:lnTo>
                    <a:pt x="4" y="1155"/>
                  </a:lnTo>
                  <a:lnTo>
                    <a:pt x="13" y="1173"/>
                  </a:lnTo>
                  <a:lnTo>
                    <a:pt x="26" y="1186"/>
                  </a:lnTo>
                  <a:lnTo>
                    <a:pt x="41" y="1190"/>
                  </a:lnTo>
                  <a:lnTo>
                    <a:pt x="340" y="1190"/>
                  </a:lnTo>
                  <a:lnTo>
                    <a:pt x="355" y="1186"/>
                  </a:lnTo>
                  <a:lnTo>
                    <a:pt x="368" y="1173"/>
                  </a:lnTo>
                  <a:lnTo>
                    <a:pt x="376" y="1155"/>
                  </a:lnTo>
                  <a:lnTo>
                    <a:pt x="379" y="1133"/>
                  </a:lnTo>
                  <a:lnTo>
                    <a:pt x="379" y="0"/>
                  </a:lnTo>
                  <a:lnTo>
                    <a:pt x="379" y="21"/>
                  </a:lnTo>
                  <a:lnTo>
                    <a:pt x="2" y="21"/>
                  </a:lnTo>
                  <a:lnTo>
                    <a:pt x="2" y="0"/>
                  </a:lnTo>
                  <a:lnTo>
                    <a:pt x="0" y="0"/>
                  </a:lnTo>
                  <a:close/>
                </a:path>
              </a:pathLst>
            </a:custGeom>
            <a:solidFill>
              <a:srgbClr val="66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24" name="Google Shape;524;p51"/>
            <p:cNvSpPr/>
            <p:nvPr/>
          </p:nvSpPr>
          <p:spPr>
            <a:xfrm>
              <a:off x="408" y="312"/>
              <a:ext cx="277" cy="216"/>
            </a:xfrm>
            <a:custGeom>
              <a:rect b="b" l="l" r="r" t="t"/>
              <a:pathLst>
                <a:path extrusionOk="0" h="432" w="553">
                  <a:moveTo>
                    <a:pt x="38" y="0"/>
                  </a:moveTo>
                  <a:lnTo>
                    <a:pt x="512" y="0"/>
                  </a:lnTo>
                  <a:lnTo>
                    <a:pt x="529" y="4"/>
                  </a:lnTo>
                  <a:lnTo>
                    <a:pt x="542" y="11"/>
                  </a:lnTo>
                  <a:lnTo>
                    <a:pt x="549" y="24"/>
                  </a:lnTo>
                  <a:lnTo>
                    <a:pt x="553" y="39"/>
                  </a:lnTo>
                  <a:lnTo>
                    <a:pt x="553" y="394"/>
                  </a:lnTo>
                  <a:lnTo>
                    <a:pt x="549" y="408"/>
                  </a:lnTo>
                  <a:lnTo>
                    <a:pt x="542" y="421"/>
                  </a:lnTo>
                  <a:lnTo>
                    <a:pt x="529" y="429"/>
                  </a:lnTo>
                  <a:lnTo>
                    <a:pt x="512" y="432"/>
                  </a:lnTo>
                  <a:lnTo>
                    <a:pt x="38" y="432"/>
                  </a:lnTo>
                  <a:lnTo>
                    <a:pt x="24" y="429"/>
                  </a:lnTo>
                  <a:lnTo>
                    <a:pt x="11" y="421"/>
                  </a:lnTo>
                  <a:lnTo>
                    <a:pt x="3" y="408"/>
                  </a:lnTo>
                  <a:lnTo>
                    <a:pt x="0" y="394"/>
                  </a:lnTo>
                  <a:lnTo>
                    <a:pt x="0" y="39"/>
                  </a:lnTo>
                  <a:lnTo>
                    <a:pt x="3" y="24"/>
                  </a:lnTo>
                  <a:lnTo>
                    <a:pt x="11" y="11"/>
                  </a:lnTo>
                  <a:lnTo>
                    <a:pt x="24" y="4"/>
                  </a:lnTo>
                  <a:lnTo>
                    <a:pt x="38" y="0"/>
                  </a:lnTo>
                  <a:close/>
                </a:path>
              </a:pathLst>
            </a:custGeom>
            <a:solidFill>
              <a:srgbClr val="00FFFF"/>
            </a:solidFill>
            <a:ln cap="flat" cmpd="sng" w="206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25" name="Google Shape;525;p51"/>
            <p:cNvSpPr/>
            <p:nvPr/>
          </p:nvSpPr>
          <p:spPr>
            <a:xfrm>
              <a:off x="750" y="306"/>
              <a:ext cx="204" cy="65"/>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526" name="Google Shape;526;p51"/>
            <p:cNvSpPr/>
            <p:nvPr/>
          </p:nvSpPr>
          <p:spPr>
            <a:xfrm>
              <a:off x="1331" y="425"/>
              <a:ext cx="157" cy="105"/>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527" name="Google Shape;527;p51"/>
            <p:cNvSpPr/>
            <p:nvPr/>
          </p:nvSpPr>
          <p:spPr>
            <a:xfrm>
              <a:off x="750" y="443"/>
              <a:ext cx="204" cy="66"/>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528" name="Google Shape;528;p51"/>
            <p:cNvSpPr/>
            <p:nvPr/>
          </p:nvSpPr>
          <p:spPr>
            <a:xfrm>
              <a:off x="2000" y="457"/>
              <a:ext cx="125" cy="261"/>
            </a:xfrm>
            <a:custGeom>
              <a:rect b="b" l="l" r="r" t="t"/>
              <a:pathLst>
                <a:path extrusionOk="0" h="523" w="249">
                  <a:moveTo>
                    <a:pt x="0" y="523"/>
                  </a:moveTo>
                  <a:lnTo>
                    <a:pt x="247" y="523"/>
                  </a:lnTo>
                  <a:lnTo>
                    <a:pt x="249" y="523"/>
                  </a:lnTo>
                  <a:lnTo>
                    <a:pt x="249" y="0"/>
                  </a:lnTo>
                  <a:lnTo>
                    <a:pt x="247" y="0"/>
                  </a:lnTo>
                  <a:lnTo>
                    <a:pt x="0" y="0"/>
                  </a:lnTo>
                  <a:lnTo>
                    <a:pt x="0" y="52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29" name="Google Shape;529;p51"/>
            <p:cNvSpPr/>
            <p:nvPr/>
          </p:nvSpPr>
          <p:spPr>
            <a:xfrm>
              <a:off x="1046" y="1116"/>
              <a:ext cx="220" cy="49"/>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530" name="Google Shape;530;p51"/>
            <p:cNvSpPr/>
            <p:nvPr/>
          </p:nvSpPr>
          <p:spPr>
            <a:xfrm>
              <a:off x="1593" y="464"/>
              <a:ext cx="310" cy="655"/>
            </a:xfrm>
            <a:custGeom>
              <a:rect b="b" l="l" r="r" t="t"/>
              <a:pathLst>
                <a:path extrusionOk="0" h="1312" w="619">
                  <a:moveTo>
                    <a:pt x="619" y="1251"/>
                  </a:moveTo>
                  <a:lnTo>
                    <a:pt x="457" y="1312"/>
                  </a:lnTo>
                  <a:lnTo>
                    <a:pt x="0" y="59"/>
                  </a:lnTo>
                  <a:lnTo>
                    <a:pt x="164" y="0"/>
                  </a:lnTo>
                  <a:lnTo>
                    <a:pt x="619" y="125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31" name="Google Shape;531;p51"/>
            <p:cNvSpPr/>
            <p:nvPr/>
          </p:nvSpPr>
          <p:spPr>
            <a:xfrm>
              <a:off x="2438" y="393"/>
              <a:ext cx="230" cy="58"/>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532" name="Google Shape;532;p51"/>
            <p:cNvSpPr/>
            <p:nvPr/>
          </p:nvSpPr>
          <p:spPr>
            <a:xfrm>
              <a:off x="594" y="1312"/>
              <a:ext cx="207" cy="357"/>
            </a:xfrm>
            <a:prstGeom prst="rect">
              <a:avLst/>
            </a:prstGeom>
            <a:solidFill>
              <a:srgbClr val="714100"/>
            </a:solid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533" name="Google Shape;533;p51"/>
            <p:cNvSpPr/>
            <p:nvPr/>
          </p:nvSpPr>
          <p:spPr>
            <a:xfrm>
              <a:off x="1044" y="1056"/>
              <a:ext cx="220" cy="49"/>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cxnSp>
          <p:nvCxnSpPr>
            <p:cNvPr id="534" name="Google Shape;534;p51"/>
            <p:cNvCxnSpPr/>
            <p:nvPr/>
          </p:nvCxnSpPr>
          <p:spPr>
            <a:xfrm>
              <a:off x="480" y="384"/>
              <a:ext cx="144" cy="0"/>
            </a:xfrm>
            <a:prstGeom prst="straightConnector1">
              <a:avLst/>
            </a:prstGeom>
            <a:noFill/>
            <a:ln cap="flat" cmpd="sng" w="9525">
              <a:solidFill>
                <a:schemeClr val="dk1"/>
              </a:solidFill>
              <a:prstDash val="solid"/>
              <a:round/>
              <a:headEnd len="med" w="med" type="none"/>
              <a:tailEnd len="med" w="med" type="none"/>
            </a:ln>
          </p:spPr>
        </p:cxnSp>
        <p:cxnSp>
          <p:nvCxnSpPr>
            <p:cNvPr id="535" name="Google Shape;535;p51"/>
            <p:cNvCxnSpPr/>
            <p:nvPr/>
          </p:nvCxnSpPr>
          <p:spPr>
            <a:xfrm>
              <a:off x="480" y="396"/>
              <a:ext cx="144" cy="0"/>
            </a:xfrm>
            <a:prstGeom prst="straightConnector1">
              <a:avLst/>
            </a:prstGeom>
            <a:noFill/>
            <a:ln cap="flat" cmpd="sng" w="9525">
              <a:solidFill>
                <a:schemeClr val="dk1"/>
              </a:solidFill>
              <a:prstDash val="solid"/>
              <a:round/>
              <a:headEnd len="med" w="med" type="none"/>
              <a:tailEnd len="med" w="med" type="none"/>
            </a:ln>
          </p:spPr>
        </p:cxnSp>
        <p:cxnSp>
          <p:nvCxnSpPr>
            <p:cNvPr id="536" name="Google Shape;536;p51"/>
            <p:cNvCxnSpPr/>
            <p:nvPr/>
          </p:nvCxnSpPr>
          <p:spPr>
            <a:xfrm>
              <a:off x="480" y="417"/>
              <a:ext cx="144" cy="0"/>
            </a:xfrm>
            <a:prstGeom prst="straightConnector1">
              <a:avLst/>
            </a:prstGeom>
            <a:noFill/>
            <a:ln cap="flat" cmpd="sng" w="9525">
              <a:solidFill>
                <a:schemeClr val="dk1"/>
              </a:solidFill>
              <a:prstDash val="solid"/>
              <a:round/>
              <a:headEnd len="med" w="med" type="none"/>
              <a:tailEnd len="med" w="med" type="none"/>
            </a:ln>
          </p:spPr>
        </p:cxnSp>
        <p:cxnSp>
          <p:nvCxnSpPr>
            <p:cNvPr id="537" name="Google Shape;537;p51"/>
            <p:cNvCxnSpPr/>
            <p:nvPr/>
          </p:nvCxnSpPr>
          <p:spPr>
            <a:xfrm>
              <a:off x="480" y="435"/>
              <a:ext cx="144" cy="0"/>
            </a:xfrm>
            <a:prstGeom prst="straightConnector1">
              <a:avLst/>
            </a:prstGeom>
            <a:noFill/>
            <a:ln cap="flat" cmpd="sng" w="9525">
              <a:solidFill>
                <a:schemeClr val="dk1"/>
              </a:solidFill>
              <a:prstDash val="solid"/>
              <a:round/>
              <a:headEnd len="med" w="med" type="none"/>
              <a:tailEnd len="med" w="med" type="none"/>
            </a:ln>
          </p:spPr>
        </p:cxnSp>
      </p:grpSp>
      <p:grpSp>
        <p:nvGrpSpPr>
          <p:cNvPr id="538" name="Google Shape;538;p51"/>
          <p:cNvGrpSpPr/>
          <p:nvPr/>
        </p:nvGrpSpPr>
        <p:grpSpPr>
          <a:xfrm>
            <a:off x="304805" y="1865599"/>
            <a:ext cx="8305801" cy="3188103"/>
            <a:chOff x="240" y="1631"/>
            <a:chExt cx="5232" cy="2449"/>
          </a:xfrm>
        </p:grpSpPr>
        <p:grpSp>
          <p:nvGrpSpPr>
            <p:cNvPr id="539" name="Google Shape;539;p51"/>
            <p:cNvGrpSpPr/>
            <p:nvPr/>
          </p:nvGrpSpPr>
          <p:grpSpPr>
            <a:xfrm>
              <a:off x="240" y="1631"/>
              <a:ext cx="5232" cy="2449"/>
              <a:chOff x="144" y="2687"/>
              <a:chExt cx="2640" cy="1393"/>
            </a:xfrm>
          </p:grpSpPr>
          <p:sp>
            <p:nvSpPr>
              <p:cNvPr id="540" name="Google Shape;540;p51"/>
              <p:cNvSpPr/>
              <p:nvPr/>
            </p:nvSpPr>
            <p:spPr>
              <a:xfrm>
                <a:off x="144" y="2688"/>
                <a:ext cx="2640" cy="1392"/>
              </a:xfrm>
              <a:prstGeom prst="roundRect">
                <a:avLst>
                  <a:gd fmla="val 5917"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541" name="Google Shape;541;p51"/>
              <p:cNvSpPr txBox="1"/>
              <p:nvPr/>
            </p:nvSpPr>
            <p:spPr>
              <a:xfrm>
                <a:off x="192" y="2687"/>
                <a:ext cx="2400" cy="12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struct tipoBiblioteca {</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	char 	titulo1[30];</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	char	autor1[30];</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	char	ISBN1[11];</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	float precio1;</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	...</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	char 	tituloN[30];</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	char	autorN[30];</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	char	ISBNN[11];</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	float precioN;</a:t>
                </a:r>
                <a:endParaRPr sz="11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1900">
                    <a:solidFill>
                      <a:schemeClr val="dk1"/>
                    </a:solidFill>
                    <a:latin typeface="Consolas"/>
                    <a:ea typeface="Consolas"/>
                    <a:cs typeface="Consolas"/>
                    <a:sym typeface="Consolas"/>
                  </a:rPr>
                  <a:t>};</a:t>
                </a:r>
                <a:endParaRPr b="1" sz="1900">
                  <a:solidFill>
                    <a:schemeClr val="dk1"/>
                  </a:solidFill>
                  <a:latin typeface="Consolas"/>
                  <a:ea typeface="Consolas"/>
                  <a:cs typeface="Consolas"/>
                  <a:sym typeface="Consolas"/>
                </a:endParaRPr>
              </a:p>
            </p:txBody>
          </p:sp>
        </p:grpSp>
        <p:sp>
          <p:nvSpPr>
            <p:cNvPr id="542" name="Google Shape;542;p51"/>
            <p:cNvSpPr/>
            <p:nvPr/>
          </p:nvSpPr>
          <p:spPr>
            <a:xfrm>
              <a:off x="3312" y="2208"/>
              <a:ext cx="1758" cy="360"/>
            </a:xfrm>
            <a:prstGeom prst="rect">
              <a:avLst/>
            </a:prstGeom>
          </p:spPr>
          <p:txBody>
            <a:bodyPr>
              <a:prstTxWarp prst="textPlain"/>
            </a:bodyPr>
            <a:lstStyle/>
            <a:p>
              <a:pPr lvl="0" algn="ctr"/>
              <a:r>
                <a:rPr b="0" i="0">
                  <a:ln cap="flat" cmpd="sng" w="19050">
                    <a:solidFill>
                      <a:srgbClr val="99CCFF"/>
                    </a:solidFill>
                    <a:prstDash val="solid"/>
                    <a:round/>
                    <a:headEnd len="sm" w="sm" type="none"/>
                    <a:tailEnd len="sm" w="sm" type="none"/>
                  </a:ln>
                  <a:solidFill>
                    <a:srgbClr val="0066CC"/>
                  </a:solidFill>
                  <a:latin typeface="Impact"/>
                </a:rPr>
                <a:t>Una estructura</a:t>
              </a:r>
            </a:p>
          </p:txBody>
        </p:sp>
      </p:grpSp>
      <p:sp>
        <p:nvSpPr>
          <p:cNvPr id="543" name="Google Shape;543;p51"/>
          <p:cNvSpPr/>
          <p:nvPr/>
        </p:nvSpPr>
        <p:spPr>
          <a:xfrm>
            <a:off x="5470775" y="3619500"/>
            <a:ext cx="3464614" cy="980536"/>
          </a:xfrm>
          <a:prstGeom prst="rect">
            <a:avLst/>
          </a:prstGeom>
        </p:spPr>
        <p:txBody>
          <a:bodyPr>
            <a:prstTxWarp prst="textPlain"/>
          </a:bodyPr>
          <a:lstStyle/>
          <a:p>
            <a:pPr lvl="0" algn="ctr"/>
            <a:r>
              <a:rPr b="0" i="0">
                <a:ln>
                  <a:noFill/>
                </a:ln>
                <a:gradFill>
                  <a:gsLst>
                    <a:gs pos="0">
                      <a:srgbClr val="FFE701"/>
                    </a:gs>
                    <a:gs pos="100000">
                      <a:srgbClr val="FE3E02"/>
                    </a:gs>
                  </a:gsLst>
                  <a:lin ang="5400000" scaled="0"/>
                </a:gradFill>
                <a:latin typeface="Impact"/>
              </a:rPr>
              <a:t>Pásima idea</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38"/>
                                        </p:tgtEl>
                                        <p:attrNameLst>
                                          <p:attrName>style.visibility</p:attrName>
                                        </p:attrNameLst>
                                      </p:cBhvr>
                                      <p:to>
                                        <p:strVal val="visible"/>
                                      </p:to>
                                    </p:set>
                                    <p:anim calcmode="lin" valueType="num">
                                      <p:cBhvr additive="base">
                                        <p:cTn dur="500"/>
                                        <p:tgtEl>
                                          <p:spTgt spid="53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43"/>
                                        </p:tgtEl>
                                        <p:attrNameLst>
                                          <p:attrName>style.visibility</p:attrName>
                                        </p:attrNameLst>
                                      </p:cBhvr>
                                      <p:to>
                                        <p:strVal val="visible"/>
                                      </p:to>
                                    </p:set>
                                    <p:anim calcmode="lin" valueType="num">
                                      <p:cBhvr additive="base">
                                        <p:cTn dur="500"/>
                                        <p:tgtEl>
                                          <p:spTgt spid="543"/>
                                        </p:tgtEl>
                                        <p:attrNameLst>
                                          <p:attrName>ppt_w</p:attrName>
                                        </p:attrNameLst>
                                      </p:cBhvr>
                                      <p:tavLst>
                                        <p:tav fmla="" tm="0">
                                          <p:val>
                                            <p:strVal val="0"/>
                                          </p:val>
                                        </p:tav>
                                        <p:tav fmla="" tm="100000">
                                          <p:val>
                                            <p:strVal val="#ppt_w"/>
                                          </p:val>
                                        </p:tav>
                                      </p:tavLst>
                                    </p:anim>
                                    <p:anim calcmode="lin" valueType="num">
                                      <p:cBhvr additive="base">
                                        <p:cTn dur="500"/>
                                        <p:tgtEl>
                                          <p:spTgt spid="54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52"/>
          <p:cNvSpPr/>
          <p:nvPr/>
        </p:nvSpPr>
        <p:spPr>
          <a:xfrm>
            <a:off x="4724400" y="190500"/>
            <a:ext cx="498600" cy="1714500"/>
          </a:xfrm>
          <a:prstGeom prst="leftBrace">
            <a:avLst>
              <a:gd fmla="val 38217" name="adj1"/>
              <a:gd fmla="val 50000" name="adj2"/>
            </a:avLst>
          </a:prstGeom>
          <a:noFill/>
          <a:ln cap="flat" cmpd="sng" w="3810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549" name="Google Shape;549;p52"/>
          <p:cNvSpPr txBox="1"/>
          <p:nvPr/>
        </p:nvSpPr>
        <p:spPr>
          <a:xfrm>
            <a:off x="5446713" y="228600"/>
            <a:ext cx="2206500" cy="1670400"/>
          </a:xfrm>
          <a:prstGeom prst="rect">
            <a:avLst/>
          </a:prstGeom>
          <a:noFill/>
          <a:ln>
            <a:noFill/>
          </a:ln>
        </p:spPr>
        <p:txBody>
          <a:bodyPr anchorCtr="0" anchor="t" bIns="45700" lIns="91425" spcFirstLastPara="1" rIns="91425" wrap="square" tIns="45700">
            <a:noAutofit/>
          </a:bodyPr>
          <a:lstStyle/>
          <a:p>
            <a:pPr indent="-177800" lvl="0" marL="0" marR="0" rtl="0" algn="l">
              <a:spcBef>
                <a:spcPts val="0"/>
              </a:spcBef>
              <a:spcAft>
                <a:spcPts val="0"/>
              </a:spcAft>
              <a:buClr>
                <a:schemeClr val="dk1"/>
              </a:buClr>
              <a:buSzPts val="2800"/>
              <a:buFont typeface="Noto Sans Symbols"/>
              <a:buChar char="⮚"/>
            </a:pPr>
            <a:r>
              <a:rPr b="1" lang="es-AR" sz="2800">
                <a:solidFill>
                  <a:schemeClr val="dk1"/>
                </a:solidFill>
                <a:latin typeface="Comic Sans MS"/>
                <a:ea typeface="Comic Sans MS"/>
                <a:cs typeface="Comic Sans MS"/>
                <a:sym typeface="Comic Sans MS"/>
              </a:rPr>
              <a:t> Títulos</a:t>
            </a:r>
            <a:endParaRPr/>
          </a:p>
          <a:p>
            <a:pPr indent="-177800" lvl="0" marL="0" marR="0" rtl="0" algn="l">
              <a:spcBef>
                <a:spcPts val="0"/>
              </a:spcBef>
              <a:spcAft>
                <a:spcPts val="0"/>
              </a:spcAft>
              <a:buClr>
                <a:schemeClr val="dk1"/>
              </a:buClr>
              <a:buSzPts val="2800"/>
              <a:buFont typeface="Noto Sans Symbols"/>
              <a:buChar char="⮚"/>
            </a:pPr>
            <a:r>
              <a:rPr b="1" lang="es-AR" sz="2800">
                <a:solidFill>
                  <a:schemeClr val="dk1"/>
                </a:solidFill>
                <a:latin typeface="Comic Sans MS"/>
                <a:ea typeface="Comic Sans MS"/>
                <a:cs typeface="Comic Sans MS"/>
                <a:sym typeface="Comic Sans MS"/>
              </a:rPr>
              <a:t> Autores</a:t>
            </a:r>
            <a:endParaRPr/>
          </a:p>
          <a:p>
            <a:pPr indent="-177800" lvl="0" marL="0" marR="0" rtl="0" algn="l">
              <a:spcBef>
                <a:spcPts val="0"/>
              </a:spcBef>
              <a:spcAft>
                <a:spcPts val="0"/>
              </a:spcAft>
              <a:buClr>
                <a:schemeClr val="dk1"/>
              </a:buClr>
              <a:buSzPts val="2800"/>
              <a:buFont typeface="Noto Sans Symbols"/>
              <a:buChar char="⮚"/>
            </a:pPr>
            <a:r>
              <a:rPr b="1" lang="es-AR" sz="2800">
                <a:solidFill>
                  <a:schemeClr val="dk1"/>
                </a:solidFill>
                <a:latin typeface="Comic Sans MS"/>
                <a:ea typeface="Comic Sans MS"/>
                <a:cs typeface="Comic Sans MS"/>
                <a:sym typeface="Comic Sans MS"/>
              </a:rPr>
              <a:t> ISBNs</a:t>
            </a:r>
            <a:endParaRPr/>
          </a:p>
          <a:p>
            <a:pPr indent="-177800" lvl="0" marL="0" marR="0" rtl="0" algn="l">
              <a:spcBef>
                <a:spcPts val="0"/>
              </a:spcBef>
              <a:spcAft>
                <a:spcPts val="0"/>
              </a:spcAft>
              <a:buClr>
                <a:schemeClr val="dk1"/>
              </a:buClr>
              <a:buSzPts val="2800"/>
              <a:buFont typeface="Noto Sans Symbols"/>
              <a:buChar char="⮚"/>
            </a:pPr>
            <a:r>
              <a:rPr b="1" lang="es-AR" sz="2800">
                <a:solidFill>
                  <a:schemeClr val="dk1"/>
                </a:solidFill>
                <a:latin typeface="Comic Sans MS"/>
                <a:ea typeface="Comic Sans MS"/>
                <a:cs typeface="Comic Sans MS"/>
                <a:sym typeface="Comic Sans MS"/>
              </a:rPr>
              <a:t> Precios</a:t>
            </a:r>
            <a:endParaRPr/>
          </a:p>
          <a:p>
            <a:pPr indent="-177800" lvl="0" marL="0" marR="0" rtl="0" algn="l">
              <a:spcBef>
                <a:spcPts val="0"/>
              </a:spcBef>
              <a:spcAft>
                <a:spcPts val="0"/>
              </a:spcAft>
              <a:buClr>
                <a:schemeClr val="dk1"/>
              </a:buClr>
              <a:buSzPts val="2800"/>
              <a:buFont typeface="Noto Sans Symbols"/>
              <a:buChar char="⮚"/>
            </a:pPr>
            <a:r>
              <a:rPr b="1" lang="es-AR" sz="2800">
                <a:solidFill>
                  <a:schemeClr val="dk1"/>
                </a:solidFill>
                <a:latin typeface="Comic Sans MS"/>
                <a:ea typeface="Comic Sans MS"/>
                <a:cs typeface="Comic Sans MS"/>
                <a:sym typeface="Comic Sans MS"/>
              </a:rPr>
              <a:t> ...</a:t>
            </a:r>
            <a:endParaRPr b="1" sz="2800">
              <a:solidFill>
                <a:schemeClr val="dk1"/>
              </a:solidFill>
              <a:latin typeface="Comic Sans MS"/>
              <a:ea typeface="Comic Sans MS"/>
              <a:cs typeface="Comic Sans MS"/>
              <a:sym typeface="Comic Sans MS"/>
            </a:endParaRPr>
          </a:p>
        </p:txBody>
      </p:sp>
      <p:grpSp>
        <p:nvGrpSpPr>
          <p:cNvPr id="550" name="Google Shape;550;p52"/>
          <p:cNvGrpSpPr/>
          <p:nvPr/>
        </p:nvGrpSpPr>
        <p:grpSpPr>
          <a:xfrm>
            <a:off x="381000" y="342900"/>
            <a:ext cx="4038600" cy="1428750"/>
            <a:chOff x="240" y="192"/>
            <a:chExt cx="2544" cy="1487"/>
          </a:xfrm>
        </p:grpSpPr>
        <p:sp>
          <p:nvSpPr>
            <p:cNvPr id="551" name="Google Shape;551;p52"/>
            <p:cNvSpPr/>
            <p:nvPr/>
          </p:nvSpPr>
          <p:spPr>
            <a:xfrm>
              <a:off x="240" y="192"/>
              <a:ext cx="2544" cy="148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552" name="Google Shape;552;p52"/>
            <p:cNvSpPr/>
            <p:nvPr/>
          </p:nvSpPr>
          <p:spPr>
            <a:xfrm>
              <a:off x="2185" y="1311"/>
              <a:ext cx="207" cy="362"/>
            </a:xfrm>
            <a:prstGeom prst="rect">
              <a:avLst/>
            </a:prstGeom>
            <a:solidFill>
              <a:srgbClr val="714100"/>
            </a:solid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553" name="Google Shape;553;p52"/>
            <p:cNvSpPr/>
            <p:nvPr/>
          </p:nvSpPr>
          <p:spPr>
            <a:xfrm>
              <a:off x="250" y="1215"/>
              <a:ext cx="2523" cy="99"/>
            </a:xfrm>
            <a:prstGeom prst="rect">
              <a:avLst/>
            </a:prstGeom>
            <a:solidFill>
              <a:srgbClr val="714100"/>
            </a:solid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554" name="Google Shape;554;p52"/>
            <p:cNvSpPr/>
            <p:nvPr/>
          </p:nvSpPr>
          <p:spPr>
            <a:xfrm>
              <a:off x="378" y="199"/>
              <a:ext cx="331" cy="998"/>
            </a:xfrm>
            <a:custGeom>
              <a:rect b="b" l="l" r="r" t="t"/>
              <a:pathLst>
                <a:path extrusionOk="0" h="1995" w="662">
                  <a:moveTo>
                    <a:pt x="70" y="0"/>
                  </a:moveTo>
                  <a:lnTo>
                    <a:pt x="591" y="0"/>
                  </a:lnTo>
                  <a:lnTo>
                    <a:pt x="606" y="2"/>
                  </a:lnTo>
                  <a:lnTo>
                    <a:pt x="619" y="5"/>
                  </a:lnTo>
                  <a:lnTo>
                    <a:pt x="630" y="11"/>
                  </a:lnTo>
                  <a:lnTo>
                    <a:pt x="641" y="20"/>
                  </a:lnTo>
                  <a:lnTo>
                    <a:pt x="651" y="31"/>
                  </a:lnTo>
                  <a:lnTo>
                    <a:pt x="656" y="42"/>
                  </a:lnTo>
                  <a:lnTo>
                    <a:pt x="660" y="55"/>
                  </a:lnTo>
                  <a:lnTo>
                    <a:pt x="662" y="70"/>
                  </a:lnTo>
                  <a:lnTo>
                    <a:pt x="662" y="1923"/>
                  </a:lnTo>
                  <a:lnTo>
                    <a:pt x="660" y="1937"/>
                  </a:lnTo>
                  <a:lnTo>
                    <a:pt x="656" y="1950"/>
                  </a:lnTo>
                  <a:lnTo>
                    <a:pt x="651" y="1963"/>
                  </a:lnTo>
                  <a:lnTo>
                    <a:pt x="641" y="1974"/>
                  </a:lnTo>
                  <a:lnTo>
                    <a:pt x="630" y="1982"/>
                  </a:lnTo>
                  <a:lnTo>
                    <a:pt x="619" y="1989"/>
                  </a:lnTo>
                  <a:lnTo>
                    <a:pt x="606" y="1993"/>
                  </a:lnTo>
                  <a:lnTo>
                    <a:pt x="591" y="1995"/>
                  </a:lnTo>
                  <a:lnTo>
                    <a:pt x="70" y="1995"/>
                  </a:lnTo>
                  <a:lnTo>
                    <a:pt x="55" y="1993"/>
                  </a:lnTo>
                  <a:lnTo>
                    <a:pt x="42" y="1989"/>
                  </a:lnTo>
                  <a:lnTo>
                    <a:pt x="31" y="1982"/>
                  </a:lnTo>
                  <a:lnTo>
                    <a:pt x="20" y="1974"/>
                  </a:lnTo>
                  <a:lnTo>
                    <a:pt x="11" y="1963"/>
                  </a:lnTo>
                  <a:lnTo>
                    <a:pt x="5" y="1950"/>
                  </a:lnTo>
                  <a:lnTo>
                    <a:pt x="1" y="1937"/>
                  </a:lnTo>
                  <a:lnTo>
                    <a:pt x="0" y="1923"/>
                  </a:lnTo>
                  <a:lnTo>
                    <a:pt x="0" y="70"/>
                  </a:lnTo>
                  <a:lnTo>
                    <a:pt x="1" y="55"/>
                  </a:lnTo>
                  <a:lnTo>
                    <a:pt x="5" y="42"/>
                  </a:lnTo>
                  <a:lnTo>
                    <a:pt x="11" y="31"/>
                  </a:lnTo>
                  <a:lnTo>
                    <a:pt x="20" y="20"/>
                  </a:lnTo>
                  <a:lnTo>
                    <a:pt x="31" y="11"/>
                  </a:lnTo>
                  <a:lnTo>
                    <a:pt x="42" y="5"/>
                  </a:lnTo>
                  <a:lnTo>
                    <a:pt x="55" y="2"/>
                  </a:lnTo>
                  <a:lnTo>
                    <a:pt x="70" y="0"/>
                  </a:lnTo>
                  <a:close/>
                </a:path>
              </a:pathLst>
            </a:custGeom>
            <a:solidFill>
              <a:srgbClr val="990000"/>
            </a:solidFill>
            <a:ln cap="flat" cmpd="sng" w="206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55" name="Google Shape;555;p52"/>
            <p:cNvSpPr/>
            <p:nvPr/>
          </p:nvSpPr>
          <p:spPr>
            <a:xfrm>
              <a:off x="730" y="199"/>
              <a:ext cx="242" cy="998"/>
            </a:xfrm>
            <a:custGeom>
              <a:rect b="b" l="l" r="r" t="t"/>
              <a:pathLst>
                <a:path extrusionOk="0" h="1995" w="485">
                  <a:moveTo>
                    <a:pt x="52" y="0"/>
                  </a:moveTo>
                  <a:lnTo>
                    <a:pt x="433" y="0"/>
                  </a:lnTo>
                  <a:lnTo>
                    <a:pt x="453" y="5"/>
                  </a:lnTo>
                  <a:lnTo>
                    <a:pt x="470" y="20"/>
                  </a:lnTo>
                  <a:lnTo>
                    <a:pt x="481" y="42"/>
                  </a:lnTo>
                  <a:lnTo>
                    <a:pt x="485" y="70"/>
                  </a:lnTo>
                  <a:lnTo>
                    <a:pt x="485" y="1923"/>
                  </a:lnTo>
                  <a:lnTo>
                    <a:pt x="481" y="1950"/>
                  </a:lnTo>
                  <a:lnTo>
                    <a:pt x="470" y="1974"/>
                  </a:lnTo>
                  <a:lnTo>
                    <a:pt x="453" y="1989"/>
                  </a:lnTo>
                  <a:lnTo>
                    <a:pt x="433" y="1995"/>
                  </a:lnTo>
                  <a:lnTo>
                    <a:pt x="52" y="1995"/>
                  </a:lnTo>
                  <a:lnTo>
                    <a:pt x="32" y="1989"/>
                  </a:lnTo>
                  <a:lnTo>
                    <a:pt x="15" y="1974"/>
                  </a:lnTo>
                  <a:lnTo>
                    <a:pt x="4" y="1950"/>
                  </a:lnTo>
                  <a:lnTo>
                    <a:pt x="0" y="1923"/>
                  </a:lnTo>
                  <a:lnTo>
                    <a:pt x="0" y="70"/>
                  </a:lnTo>
                  <a:lnTo>
                    <a:pt x="4" y="42"/>
                  </a:lnTo>
                  <a:lnTo>
                    <a:pt x="15" y="20"/>
                  </a:lnTo>
                  <a:lnTo>
                    <a:pt x="32" y="5"/>
                  </a:lnTo>
                  <a:lnTo>
                    <a:pt x="52" y="0"/>
                  </a:lnTo>
                  <a:close/>
                </a:path>
              </a:pathLst>
            </a:custGeom>
            <a:solidFill>
              <a:srgbClr val="000000"/>
            </a:solidFill>
            <a:ln cap="flat" cmpd="sng" w="206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56" name="Google Shape;556;p52"/>
            <p:cNvSpPr/>
            <p:nvPr/>
          </p:nvSpPr>
          <p:spPr>
            <a:xfrm>
              <a:off x="1005" y="381"/>
              <a:ext cx="287" cy="820"/>
            </a:xfrm>
            <a:custGeom>
              <a:rect b="b" l="l" r="r" t="t"/>
              <a:pathLst>
                <a:path extrusionOk="0" h="1638" w="575">
                  <a:moveTo>
                    <a:pt x="61" y="0"/>
                  </a:moveTo>
                  <a:lnTo>
                    <a:pt x="514" y="0"/>
                  </a:lnTo>
                  <a:lnTo>
                    <a:pt x="527" y="2"/>
                  </a:lnTo>
                  <a:lnTo>
                    <a:pt x="538" y="3"/>
                  </a:lnTo>
                  <a:lnTo>
                    <a:pt x="549" y="9"/>
                  </a:lnTo>
                  <a:lnTo>
                    <a:pt x="558" y="16"/>
                  </a:lnTo>
                  <a:lnTo>
                    <a:pt x="565" y="26"/>
                  </a:lnTo>
                  <a:lnTo>
                    <a:pt x="571" y="35"/>
                  </a:lnTo>
                  <a:lnTo>
                    <a:pt x="573" y="46"/>
                  </a:lnTo>
                  <a:lnTo>
                    <a:pt x="575" y="57"/>
                  </a:lnTo>
                  <a:lnTo>
                    <a:pt x="575" y="1581"/>
                  </a:lnTo>
                  <a:lnTo>
                    <a:pt x="573" y="1592"/>
                  </a:lnTo>
                  <a:lnTo>
                    <a:pt x="571" y="1603"/>
                  </a:lnTo>
                  <a:lnTo>
                    <a:pt x="565" y="1612"/>
                  </a:lnTo>
                  <a:lnTo>
                    <a:pt x="558" y="1622"/>
                  </a:lnTo>
                  <a:lnTo>
                    <a:pt x="549" y="1629"/>
                  </a:lnTo>
                  <a:lnTo>
                    <a:pt x="538" y="1634"/>
                  </a:lnTo>
                  <a:lnTo>
                    <a:pt x="527" y="1636"/>
                  </a:lnTo>
                  <a:lnTo>
                    <a:pt x="514" y="1638"/>
                  </a:lnTo>
                  <a:lnTo>
                    <a:pt x="61" y="1638"/>
                  </a:lnTo>
                  <a:lnTo>
                    <a:pt x="48" y="1636"/>
                  </a:lnTo>
                  <a:lnTo>
                    <a:pt x="37" y="1634"/>
                  </a:lnTo>
                  <a:lnTo>
                    <a:pt x="27" y="1629"/>
                  </a:lnTo>
                  <a:lnTo>
                    <a:pt x="18" y="1622"/>
                  </a:lnTo>
                  <a:lnTo>
                    <a:pt x="11" y="1612"/>
                  </a:lnTo>
                  <a:lnTo>
                    <a:pt x="5" y="1603"/>
                  </a:lnTo>
                  <a:lnTo>
                    <a:pt x="1" y="1592"/>
                  </a:lnTo>
                  <a:lnTo>
                    <a:pt x="0" y="1581"/>
                  </a:lnTo>
                  <a:lnTo>
                    <a:pt x="0" y="57"/>
                  </a:lnTo>
                  <a:lnTo>
                    <a:pt x="1" y="46"/>
                  </a:lnTo>
                  <a:lnTo>
                    <a:pt x="5" y="35"/>
                  </a:lnTo>
                  <a:lnTo>
                    <a:pt x="11" y="26"/>
                  </a:lnTo>
                  <a:lnTo>
                    <a:pt x="18" y="16"/>
                  </a:lnTo>
                  <a:lnTo>
                    <a:pt x="27" y="9"/>
                  </a:lnTo>
                  <a:lnTo>
                    <a:pt x="37" y="3"/>
                  </a:lnTo>
                  <a:lnTo>
                    <a:pt x="48" y="2"/>
                  </a:lnTo>
                  <a:lnTo>
                    <a:pt x="61" y="0"/>
                  </a:lnTo>
                  <a:close/>
                </a:path>
              </a:pathLst>
            </a:custGeom>
            <a:solidFill>
              <a:srgbClr val="339966"/>
            </a:solidFill>
            <a:ln cap="flat" cmpd="sng" w="20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57" name="Google Shape;557;p52"/>
            <p:cNvSpPr/>
            <p:nvPr/>
          </p:nvSpPr>
          <p:spPr>
            <a:xfrm>
              <a:off x="2407" y="290"/>
              <a:ext cx="287" cy="905"/>
            </a:xfrm>
            <a:custGeom>
              <a:rect b="b" l="l" r="r" t="t"/>
              <a:pathLst>
                <a:path extrusionOk="0" h="1810" w="576">
                  <a:moveTo>
                    <a:pt x="61" y="0"/>
                  </a:moveTo>
                  <a:lnTo>
                    <a:pt x="515" y="0"/>
                  </a:lnTo>
                  <a:lnTo>
                    <a:pt x="528" y="2"/>
                  </a:lnTo>
                  <a:lnTo>
                    <a:pt x="539" y="5"/>
                  </a:lnTo>
                  <a:lnTo>
                    <a:pt x="550" y="11"/>
                  </a:lnTo>
                  <a:lnTo>
                    <a:pt x="559" y="18"/>
                  </a:lnTo>
                  <a:lnTo>
                    <a:pt x="566" y="28"/>
                  </a:lnTo>
                  <a:lnTo>
                    <a:pt x="572" y="39"/>
                  </a:lnTo>
                  <a:lnTo>
                    <a:pt x="574" y="52"/>
                  </a:lnTo>
                  <a:lnTo>
                    <a:pt x="576" y="64"/>
                  </a:lnTo>
                  <a:lnTo>
                    <a:pt x="576" y="1747"/>
                  </a:lnTo>
                  <a:lnTo>
                    <a:pt x="574" y="1760"/>
                  </a:lnTo>
                  <a:lnTo>
                    <a:pt x="572" y="1771"/>
                  </a:lnTo>
                  <a:lnTo>
                    <a:pt x="566" y="1782"/>
                  </a:lnTo>
                  <a:lnTo>
                    <a:pt x="559" y="1792"/>
                  </a:lnTo>
                  <a:lnTo>
                    <a:pt x="550" y="1799"/>
                  </a:lnTo>
                  <a:lnTo>
                    <a:pt x="539" y="1805"/>
                  </a:lnTo>
                  <a:lnTo>
                    <a:pt x="528" y="1808"/>
                  </a:lnTo>
                  <a:lnTo>
                    <a:pt x="515" y="1810"/>
                  </a:lnTo>
                  <a:lnTo>
                    <a:pt x="61" y="1810"/>
                  </a:lnTo>
                  <a:lnTo>
                    <a:pt x="48" y="1808"/>
                  </a:lnTo>
                  <a:lnTo>
                    <a:pt x="37" y="1805"/>
                  </a:lnTo>
                  <a:lnTo>
                    <a:pt x="28" y="1799"/>
                  </a:lnTo>
                  <a:lnTo>
                    <a:pt x="19" y="1792"/>
                  </a:lnTo>
                  <a:lnTo>
                    <a:pt x="11" y="1782"/>
                  </a:lnTo>
                  <a:lnTo>
                    <a:pt x="6" y="1771"/>
                  </a:lnTo>
                  <a:lnTo>
                    <a:pt x="2" y="1760"/>
                  </a:lnTo>
                  <a:lnTo>
                    <a:pt x="0" y="1747"/>
                  </a:lnTo>
                  <a:lnTo>
                    <a:pt x="0" y="64"/>
                  </a:lnTo>
                  <a:lnTo>
                    <a:pt x="2" y="52"/>
                  </a:lnTo>
                  <a:lnTo>
                    <a:pt x="6" y="39"/>
                  </a:lnTo>
                  <a:lnTo>
                    <a:pt x="11" y="28"/>
                  </a:lnTo>
                  <a:lnTo>
                    <a:pt x="19" y="18"/>
                  </a:lnTo>
                  <a:lnTo>
                    <a:pt x="28" y="11"/>
                  </a:lnTo>
                  <a:lnTo>
                    <a:pt x="37" y="5"/>
                  </a:lnTo>
                  <a:lnTo>
                    <a:pt x="48" y="2"/>
                  </a:lnTo>
                  <a:lnTo>
                    <a:pt x="61" y="0"/>
                  </a:lnTo>
                  <a:close/>
                </a:path>
              </a:pathLst>
            </a:custGeom>
            <a:solidFill>
              <a:srgbClr val="000066"/>
            </a:solidFill>
            <a:ln cap="flat" cmpd="sng" w="206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58" name="Google Shape;558;p52"/>
            <p:cNvSpPr/>
            <p:nvPr/>
          </p:nvSpPr>
          <p:spPr>
            <a:xfrm>
              <a:off x="1315" y="378"/>
              <a:ext cx="191" cy="819"/>
            </a:xfrm>
            <a:custGeom>
              <a:rect b="b" l="l" r="r" t="t"/>
              <a:pathLst>
                <a:path extrusionOk="0" h="1639" w="381">
                  <a:moveTo>
                    <a:pt x="41" y="0"/>
                  </a:moveTo>
                  <a:lnTo>
                    <a:pt x="340" y="0"/>
                  </a:lnTo>
                  <a:lnTo>
                    <a:pt x="357" y="4"/>
                  </a:lnTo>
                  <a:lnTo>
                    <a:pt x="370" y="17"/>
                  </a:lnTo>
                  <a:lnTo>
                    <a:pt x="377" y="35"/>
                  </a:lnTo>
                  <a:lnTo>
                    <a:pt x="381" y="58"/>
                  </a:lnTo>
                  <a:lnTo>
                    <a:pt x="381" y="1581"/>
                  </a:lnTo>
                  <a:lnTo>
                    <a:pt x="377" y="1604"/>
                  </a:lnTo>
                  <a:lnTo>
                    <a:pt x="370" y="1622"/>
                  </a:lnTo>
                  <a:lnTo>
                    <a:pt x="357" y="1635"/>
                  </a:lnTo>
                  <a:lnTo>
                    <a:pt x="340" y="1639"/>
                  </a:lnTo>
                  <a:lnTo>
                    <a:pt x="41" y="1639"/>
                  </a:lnTo>
                  <a:lnTo>
                    <a:pt x="26" y="1635"/>
                  </a:lnTo>
                  <a:lnTo>
                    <a:pt x="13" y="1622"/>
                  </a:lnTo>
                  <a:lnTo>
                    <a:pt x="4" y="1604"/>
                  </a:lnTo>
                  <a:lnTo>
                    <a:pt x="0" y="1581"/>
                  </a:lnTo>
                  <a:lnTo>
                    <a:pt x="0" y="58"/>
                  </a:lnTo>
                  <a:lnTo>
                    <a:pt x="4" y="35"/>
                  </a:lnTo>
                  <a:lnTo>
                    <a:pt x="13" y="17"/>
                  </a:lnTo>
                  <a:lnTo>
                    <a:pt x="26" y="4"/>
                  </a:lnTo>
                  <a:lnTo>
                    <a:pt x="41" y="0"/>
                  </a:lnTo>
                  <a:close/>
                </a:path>
              </a:pathLst>
            </a:custGeom>
            <a:solidFill>
              <a:srgbClr val="00FFFF"/>
            </a:solidFill>
            <a:ln cap="flat" cmpd="sng" w="206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59" name="Google Shape;559;p52"/>
            <p:cNvSpPr/>
            <p:nvPr/>
          </p:nvSpPr>
          <p:spPr>
            <a:xfrm>
              <a:off x="1522" y="387"/>
              <a:ext cx="445" cy="823"/>
            </a:xfrm>
            <a:custGeom>
              <a:rect b="b" l="l" r="r" t="t"/>
              <a:pathLst>
                <a:path extrusionOk="0" h="1646" w="890">
                  <a:moveTo>
                    <a:pt x="24" y="105"/>
                  </a:moveTo>
                  <a:lnTo>
                    <a:pt x="306" y="2"/>
                  </a:lnTo>
                  <a:lnTo>
                    <a:pt x="313" y="0"/>
                  </a:lnTo>
                  <a:lnTo>
                    <a:pt x="322" y="0"/>
                  </a:lnTo>
                  <a:lnTo>
                    <a:pt x="330" y="3"/>
                  </a:lnTo>
                  <a:lnTo>
                    <a:pt x="337" y="7"/>
                  </a:lnTo>
                  <a:lnTo>
                    <a:pt x="344" y="15"/>
                  </a:lnTo>
                  <a:lnTo>
                    <a:pt x="352" y="22"/>
                  </a:lnTo>
                  <a:lnTo>
                    <a:pt x="357" y="31"/>
                  </a:lnTo>
                  <a:lnTo>
                    <a:pt x="363" y="42"/>
                  </a:lnTo>
                  <a:lnTo>
                    <a:pt x="884" y="1474"/>
                  </a:lnTo>
                  <a:lnTo>
                    <a:pt x="890" y="1496"/>
                  </a:lnTo>
                  <a:lnTo>
                    <a:pt x="888" y="1516"/>
                  </a:lnTo>
                  <a:lnTo>
                    <a:pt x="879" y="1533"/>
                  </a:lnTo>
                  <a:lnTo>
                    <a:pt x="866" y="1542"/>
                  </a:lnTo>
                  <a:lnTo>
                    <a:pt x="585" y="1644"/>
                  </a:lnTo>
                  <a:lnTo>
                    <a:pt x="577" y="1646"/>
                  </a:lnTo>
                  <a:lnTo>
                    <a:pt x="568" y="1646"/>
                  </a:lnTo>
                  <a:lnTo>
                    <a:pt x="561" y="1642"/>
                  </a:lnTo>
                  <a:lnTo>
                    <a:pt x="553" y="1638"/>
                  </a:lnTo>
                  <a:lnTo>
                    <a:pt x="546" y="1631"/>
                  </a:lnTo>
                  <a:lnTo>
                    <a:pt x="539" y="1623"/>
                  </a:lnTo>
                  <a:lnTo>
                    <a:pt x="533" y="1614"/>
                  </a:lnTo>
                  <a:lnTo>
                    <a:pt x="528" y="1603"/>
                  </a:lnTo>
                  <a:lnTo>
                    <a:pt x="6" y="173"/>
                  </a:lnTo>
                  <a:lnTo>
                    <a:pt x="0" y="151"/>
                  </a:lnTo>
                  <a:lnTo>
                    <a:pt x="2" y="131"/>
                  </a:lnTo>
                  <a:lnTo>
                    <a:pt x="12" y="114"/>
                  </a:lnTo>
                  <a:lnTo>
                    <a:pt x="24" y="10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60" name="Google Shape;560;p52"/>
            <p:cNvSpPr/>
            <p:nvPr/>
          </p:nvSpPr>
          <p:spPr>
            <a:xfrm>
              <a:off x="1966" y="375"/>
              <a:ext cx="190" cy="819"/>
            </a:xfrm>
            <a:custGeom>
              <a:rect b="b" l="l" r="r" t="t"/>
              <a:pathLst>
                <a:path extrusionOk="0" h="1638" w="381">
                  <a:moveTo>
                    <a:pt x="41" y="0"/>
                  </a:moveTo>
                  <a:lnTo>
                    <a:pt x="340" y="0"/>
                  </a:lnTo>
                  <a:lnTo>
                    <a:pt x="357" y="3"/>
                  </a:lnTo>
                  <a:lnTo>
                    <a:pt x="370" y="16"/>
                  </a:lnTo>
                  <a:lnTo>
                    <a:pt x="377" y="35"/>
                  </a:lnTo>
                  <a:lnTo>
                    <a:pt x="381" y="57"/>
                  </a:lnTo>
                  <a:lnTo>
                    <a:pt x="381" y="1581"/>
                  </a:lnTo>
                  <a:lnTo>
                    <a:pt x="377" y="1603"/>
                  </a:lnTo>
                  <a:lnTo>
                    <a:pt x="370" y="1622"/>
                  </a:lnTo>
                  <a:lnTo>
                    <a:pt x="357" y="1635"/>
                  </a:lnTo>
                  <a:lnTo>
                    <a:pt x="340" y="1638"/>
                  </a:lnTo>
                  <a:lnTo>
                    <a:pt x="41" y="1638"/>
                  </a:lnTo>
                  <a:lnTo>
                    <a:pt x="26" y="1635"/>
                  </a:lnTo>
                  <a:lnTo>
                    <a:pt x="13" y="1622"/>
                  </a:lnTo>
                  <a:lnTo>
                    <a:pt x="4" y="1603"/>
                  </a:lnTo>
                  <a:lnTo>
                    <a:pt x="0" y="1581"/>
                  </a:lnTo>
                  <a:lnTo>
                    <a:pt x="0" y="57"/>
                  </a:lnTo>
                  <a:lnTo>
                    <a:pt x="4" y="35"/>
                  </a:lnTo>
                  <a:lnTo>
                    <a:pt x="13" y="16"/>
                  </a:lnTo>
                  <a:lnTo>
                    <a:pt x="26" y="3"/>
                  </a:lnTo>
                  <a:lnTo>
                    <a:pt x="41" y="0"/>
                  </a:lnTo>
                  <a:close/>
                </a:path>
              </a:pathLst>
            </a:custGeom>
            <a:solidFill>
              <a:srgbClr val="FFCC99"/>
            </a:solidFill>
            <a:ln cap="flat" cmpd="sng" w="27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61" name="Google Shape;561;p52"/>
            <p:cNvSpPr/>
            <p:nvPr/>
          </p:nvSpPr>
          <p:spPr>
            <a:xfrm>
              <a:off x="2188" y="382"/>
              <a:ext cx="189" cy="89"/>
            </a:xfrm>
            <a:custGeom>
              <a:rect b="b" l="l" r="r" t="t"/>
              <a:pathLst>
                <a:path extrusionOk="0" h="177" w="379">
                  <a:moveTo>
                    <a:pt x="0" y="177"/>
                  </a:moveTo>
                  <a:lnTo>
                    <a:pt x="0" y="57"/>
                  </a:lnTo>
                  <a:lnTo>
                    <a:pt x="4" y="35"/>
                  </a:lnTo>
                  <a:lnTo>
                    <a:pt x="13" y="16"/>
                  </a:lnTo>
                  <a:lnTo>
                    <a:pt x="26" y="3"/>
                  </a:lnTo>
                  <a:lnTo>
                    <a:pt x="41" y="0"/>
                  </a:lnTo>
                  <a:lnTo>
                    <a:pt x="340" y="0"/>
                  </a:lnTo>
                  <a:lnTo>
                    <a:pt x="355" y="3"/>
                  </a:lnTo>
                  <a:lnTo>
                    <a:pt x="368" y="16"/>
                  </a:lnTo>
                  <a:lnTo>
                    <a:pt x="376" y="35"/>
                  </a:lnTo>
                  <a:lnTo>
                    <a:pt x="379" y="57"/>
                  </a:lnTo>
                  <a:lnTo>
                    <a:pt x="379" y="177"/>
                  </a:lnTo>
                  <a:lnTo>
                    <a:pt x="379" y="153"/>
                  </a:lnTo>
                  <a:lnTo>
                    <a:pt x="0" y="153"/>
                  </a:lnTo>
                  <a:lnTo>
                    <a:pt x="0" y="177"/>
                  </a:lnTo>
                  <a:close/>
                </a:path>
              </a:pathLst>
            </a:custGeom>
            <a:solidFill>
              <a:srgbClr val="66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62" name="Google Shape;562;p52"/>
            <p:cNvSpPr/>
            <p:nvPr/>
          </p:nvSpPr>
          <p:spPr>
            <a:xfrm>
              <a:off x="2188" y="471"/>
              <a:ext cx="189" cy="136"/>
            </a:xfrm>
            <a:custGeom>
              <a:rect b="b" l="l" r="r" t="t"/>
              <a:pathLst>
                <a:path extrusionOk="0" h="271" w="379">
                  <a:moveTo>
                    <a:pt x="0" y="271"/>
                  </a:moveTo>
                  <a:lnTo>
                    <a:pt x="0" y="0"/>
                  </a:lnTo>
                  <a:lnTo>
                    <a:pt x="0" y="22"/>
                  </a:lnTo>
                  <a:lnTo>
                    <a:pt x="379" y="22"/>
                  </a:lnTo>
                  <a:lnTo>
                    <a:pt x="379" y="0"/>
                  </a:lnTo>
                  <a:lnTo>
                    <a:pt x="379" y="271"/>
                  </a:lnTo>
                  <a:lnTo>
                    <a:pt x="379" y="249"/>
                  </a:lnTo>
                  <a:lnTo>
                    <a:pt x="2" y="249"/>
                  </a:lnTo>
                  <a:lnTo>
                    <a:pt x="2" y="271"/>
                  </a:lnTo>
                  <a:lnTo>
                    <a:pt x="0" y="271"/>
                  </a:lnTo>
                  <a:close/>
                </a:path>
              </a:pathLst>
            </a:custGeom>
            <a:solidFill>
              <a:srgbClr val="66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63" name="Google Shape;563;p52"/>
            <p:cNvSpPr/>
            <p:nvPr/>
          </p:nvSpPr>
          <p:spPr>
            <a:xfrm>
              <a:off x="2188" y="607"/>
              <a:ext cx="189" cy="594"/>
            </a:xfrm>
            <a:custGeom>
              <a:rect b="b" l="l" r="r" t="t"/>
              <a:pathLst>
                <a:path extrusionOk="0" h="1190" w="379">
                  <a:moveTo>
                    <a:pt x="0" y="0"/>
                  </a:moveTo>
                  <a:lnTo>
                    <a:pt x="0" y="1133"/>
                  </a:lnTo>
                  <a:lnTo>
                    <a:pt x="4" y="1155"/>
                  </a:lnTo>
                  <a:lnTo>
                    <a:pt x="13" y="1173"/>
                  </a:lnTo>
                  <a:lnTo>
                    <a:pt x="26" y="1186"/>
                  </a:lnTo>
                  <a:lnTo>
                    <a:pt x="41" y="1190"/>
                  </a:lnTo>
                  <a:lnTo>
                    <a:pt x="340" y="1190"/>
                  </a:lnTo>
                  <a:lnTo>
                    <a:pt x="355" y="1186"/>
                  </a:lnTo>
                  <a:lnTo>
                    <a:pt x="368" y="1173"/>
                  </a:lnTo>
                  <a:lnTo>
                    <a:pt x="376" y="1155"/>
                  </a:lnTo>
                  <a:lnTo>
                    <a:pt x="379" y="1133"/>
                  </a:lnTo>
                  <a:lnTo>
                    <a:pt x="379" y="0"/>
                  </a:lnTo>
                  <a:lnTo>
                    <a:pt x="379" y="21"/>
                  </a:lnTo>
                  <a:lnTo>
                    <a:pt x="2" y="21"/>
                  </a:lnTo>
                  <a:lnTo>
                    <a:pt x="2" y="0"/>
                  </a:lnTo>
                  <a:lnTo>
                    <a:pt x="0" y="0"/>
                  </a:lnTo>
                  <a:close/>
                </a:path>
              </a:pathLst>
            </a:custGeom>
            <a:solidFill>
              <a:srgbClr val="66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64" name="Google Shape;564;p52"/>
            <p:cNvSpPr/>
            <p:nvPr/>
          </p:nvSpPr>
          <p:spPr>
            <a:xfrm>
              <a:off x="408" y="312"/>
              <a:ext cx="277" cy="216"/>
            </a:xfrm>
            <a:custGeom>
              <a:rect b="b" l="l" r="r" t="t"/>
              <a:pathLst>
                <a:path extrusionOk="0" h="432" w="553">
                  <a:moveTo>
                    <a:pt x="38" y="0"/>
                  </a:moveTo>
                  <a:lnTo>
                    <a:pt x="512" y="0"/>
                  </a:lnTo>
                  <a:lnTo>
                    <a:pt x="529" y="4"/>
                  </a:lnTo>
                  <a:lnTo>
                    <a:pt x="542" y="11"/>
                  </a:lnTo>
                  <a:lnTo>
                    <a:pt x="549" y="24"/>
                  </a:lnTo>
                  <a:lnTo>
                    <a:pt x="553" y="39"/>
                  </a:lnTo>
                  <a:lnTo>
                    <a:pt x="553" y="394"/>
                  </a:lnTo>
                  <a:lnTo>
                    <a:pt x="549" y="408"/>
                  </a:lnTo>
                  <a:lnTo>
                    <a:pt x="542" y="421"/>
                  </a:lnTo>
                  <a:lnTo>
                    <a:pt x="529" y="429"/>
                  </a:lnTo>
                  <a:lnTo>
                    <a:pt x="512" y="432"/>
                  </a:lnTo>
                  <a:lnTo>
                    <a:pt x="38" y="432"/>
                  </a:lnTo>
                  <a:lnTo>
                    <a:pt x="24" y="429"/>
                  </a:lnTo>
                  <a:lnTo>
                    <a:pt x="11" y="421"/>
                  </a:lnTo>
                  <a:lnTo>
                    <a:pt x="3" y="408"/>
                  </a:lnTo>
                  <a:lnTo>
                    <a:pt x="0" y="394"/>
                  </a:lnTo>
                  <a:lnTo>
                    <a:pt x="0" y="39"/>
                  </a:lnTo>
                  <a:lnTo>
                    <a:pt x="3" y="24"/>
                  </a:lnTo>
                  <a:lnTo>
                    <a:pt x="11" y="11"/>
                  </a:lnTo>
                  <a:lnTo>
                    <a:pt x="24" y="4"/>
                  </a:lnTo>
                  <a:lnTo>
                    <a:pt x="38" y="0"/>
                  </a:lnTo>
                  <a:close/>
                </a:path>
              </a:pathLst>
            </a:custGeom>
            <a:solidFill>
              <a:srgbClr val="00FFFF"/>
            </a:solidFill>
            <a:ln cap="flat" cmpd="sng" w="206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65" name="Google Shape;565;p52"/>
            <p:cNvSpPr/>
            <p:nvPr/>
          </p:nvSpPr>
          <p:spPr>
            <a:xfrm>
              <a:off x="750" y="306"/>
              <a:ext cx="204" cy="65"/>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566" name="Google Shape;566;p52"/>
            <p:cNvSpPr/>
            <p:nvPr/>
          </p:nvSpPr>
          <p:spPr>
            <a:xfrm>
              <a:off x="1331" y="425"/>
              <a:ext cx="157" cy="105"/>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567" name="Google Shape;567;p52"/>
            <p:cNvSpPr/>
            <p:nvPr/>
          </p:nvSpPr>
          <p:spPr>
            <a:xfrm>
              <a:off x="750" y="443"/>
              <a:ext cx="204" cy="66"/>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568" name="Google Shape;568;p52"/>
            <p:cNvSpPr/>
            <p:nvPr/>
          </p:nvSpPr>
          <p:spPr>
            <a:xfrm>
              <a:off x="2000" y="457"/>
              <a:ext cx="125" cy="261"/>
            </a:xfrm>
            <a:custGeom>
              <a:rect b="b" l="l" r="r" t="t"/>
              <a:pathLst>
                <a:path extrusionOk="0" h="523" w="249">
                  <a:moveTo>
                    <a:pt x="0" y="523"/>
                  </a:moveTo>
                  <a:lnTo>
                    <a:pt x="247" y="523"/>
                  </a:lnTo>
                  <a:lnTo>
                    <a:pt x="249" y="523"/>
                  </a:lnTo>
                  <a:lnTo>
                    <a:pt x="249" y="0"/>
                  </a:lnTo>
                  <a:lnTo>
                    <a:pt x="247" y="0"/>
                  </a:lnTo>
                  <a:lnTo>
                    <a:pt x="0" y="0"/>
                  </a:lnTo>
                  <a:lnTo>
                    <a:pt x="0" y="52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69" name="Google Shape;569;p52"/>
            <p:cNvSpPr/>
            <p:nvPr/>
          </p:nvSpPr>
          <p:spPr>
            <a:xfrm>
              <a:off x="1046" y="1116"/>
              <a:ext cx="220" cy="49"/>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570" name="Google Shape;570;p52"/>
            <p:cNvSpPr/>
            <p:nvPr/>
          </p:nvSpPr>
          <p:spPr>
            <a:xfrm>
              <a:off x="1593" y="464"/>
              <a:ext cx="310" cy="655"/>
            </a:xfrm>
            <a:custGeom>
              <a:rect b="b" l="l" r="r" t="t"/>
              <a:pathLst>
                <a:path extrusionOk="0" h="1312" w="619">
                  <a:moveTo>
                    <a:pt x="619" y="1251"/>
                  </a:moveTo>
                  <a:lnTo>
                    <a:pt x="457" y="1312"/>
                  </a:lnTo>
                  <a:lnTo>
                    <a:pt x="0" y="59"/>
                  </a:lnTo>
                  <a:lnTo>
                    <a:pt x="164" y="0"/>
                  </a:lnTo>
                  <a:lnTo>
                    <a:pt x="619" y="125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71" name="Google Shape;571;p52"/>
            <p:cNvSpPr/>
            <p:nvPr/>
          </p:nvSpPr>
          <p:spPr>
            <a:xfrm>
              <a:off x="2438" y="393"/>
              <a:ext cx="230" cy="58"/>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572" name="Google Shape;572;p52"/>
            <p:cNvSpPr/>
            <p:nvPr/>
          </p:nvSpPr>
          <p:spPr>
            <a:xfrm>
              <a:off x="594" y="1312"/>
              <a:ext cx="207" cy="357"/>
            </a:xfrm>
            <a:prstGeom prst="rect">
              <a:avLst/>
            </a:prstGeom>
            <a:solidFill>
              <a:srgbClr val="714100"/>
            </a:solid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573" name="Google Shape;573;p52"/>
            <p:cNvSpPr/>
            <p:nvPr/>
          </p:nvSpPr>
          <p:spPr>
            <a:xfrm>
              <a:off x="1044" y="1056"/>
              <a:ext cx="220" cy="49"/>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cxnSp>
          <p:nvCxnSpPr>
            <p:cNvPr id="574" name="Google Shape;574;p52"/>
            <p:cNvCxnSpPr/>
            <p:nvPr/>
          </p:nvCxnSpPr>
          <p:spPr>
            <a:xfrm>
              <a:off x="480" y="384"/>
              <a:ext cx="144" cy="0"/>
            </a:xfrm>
            <a:prstGeom prst="straightConnector1">
              <a:avLst/>
            </a:prstGeom>
            <a:noFill/>
            <a:ln cap="flat" cmpd="sng" w="9525">
              <a:solidFill>
                <a:schemeClr val="dk1"/>
              </a:solidFill>
              <a:prstDash val="solid"/>
              <a:round/>
              <a:headEnd len="med" w="med" type="none"/>
              <a:tailEnd len="med" w="med" type="none"/>
            </a:ln>
          </p:spPr>
        </p:cxnSp>
        <p:cxnSp>
          <p:nvCxnSpPr>
            <p:cNvPr id="575" name="Google Shape;575;p52"/>
            <p:cNvCxnSpPr/>
            <p:nvPr/>
          </p:nvCxnSpPr>
          <p:spPr>
            <a:xfrm>
              <a:off x="480" y="396"/>
              <a:ext cx="144" cy="0"/>
            </a:xfrm>
            <a:prstGeom prst="straightConnector1">
              <a:avLst/>
            </a:prstGeom>
            <a:noFill/>
            <a:ln cap="flat" cmpd="sng" w="9525">
              <a:solidFill>
                <a:schemeClr val="dk1"/>
              </a:solidFill>
              <a:prstDash val="solid"/>
              <a:round/>
              <a:headEnd len="med" w="med" type="none"/>
              <a:tailEnd len="med" w="med" type="none"/>
            </a:ln>
          </p:spPr>
        </p:cxnSp>
        <p:cxnSp>
          <p:nvCxnSpPr>
            <p:cNvPr id="576" name="Google Shape;576;p52"/>
            <p:cNvCxnSpPr/>
            <p:nvPr/>
          </p:nvCxnSpPr>
          <p:spPr>
            <a:xfrm>
              <a:off x="480" y="417"/>
              <a:ext cx="144" cy="0"/>
            </a:xfrm>
            <a:prstGeom prst="straightConnector1">
              <a:avLst/>
            </a:prstGeom>
            <a:noFill/>
            <a:ln cap="flat" cmpd="sng" w="9525">
              <a:solidFill>
                <a:schemeClr val="dk1"/>
              </a:solidFill>
              <a:prstDash val="solid"/>
              <a:round/>
              <a:headEnd len="med" w="med" type="none"/>
              <a:tailEnd len="med" w="med" type="none"/>
            </a:ln>
          </p:spPr>
        </p:cxnSp>
        <p:cxnSp>
          <p:nvCxnSpPr>
            <p:cNvPr id="577" name="Google Shape;577;p52"/>
            <p:cNvCxnSpPr/>
            <p:nvPr/>
          </p:nvCxnSpPr>
          <p:spPr>
            <a:xfrm>
              <a:off x="480" y="435"/>
              <a:ext cx="144" cy="0"/>
            </a:xfrm>
            <a:prstGeom prst="straightConnector1">
              <a:avLst/>
            </a:prstGeom>
            <a:noFill/>
            <a:ln cap="flat" cmpd="sng" w="9525">
              <a:solidFill>
                <a:schemeClr val="dk1"/>
              </a:solidFill>
              <a:prstDash val="solid"/>
              <a:round/>
              <a:headEnd len="med" w="med" type="none"/>
              <a:tailEnd len="med" w="med" type="none"/>
            </a:ln>
          </p:spPr>
        </p:cxnSp>
      </p:grpSp>
      <p:grpSp>
        <p:nvGrpSpPr>
          <p:cNvPr id="578" name="Google Shape;578;p52"/>
          <p:cNvGrpSpPr/>
          <p:nvPr/>
        </p:nvGrpSpPr>
        <p:grpSpPr>
          <a:xfrm>
            <a:off x="381005" y="2057358"/>
            <a:ext cx="8305801" cy="1540037"/>
            <a:chOff x="240" y="1728"/>
            <a:chExt cx="5232" cy="960"/>
          </a:xfrm>
        </p:grpSpPr>
        <p:grpSp>
          <p:nvGrpSpPr>
            <p:cNvPr id="579" name="Google Shape;579;p52"/>
            <p:cNvGrpSpPr/>
            <p:nvPr/>
          </p:nvGrpSpPr>
          <p:grpSpPr>
            <a:xfrm>
              <a:off x="240" y="1728"/>
              <a:ext cx="5232" cy="960"/>
              <a:chOff x="144" y="2688"/>
              <a:chExt cx="2640" cy="1392"/>
            </a:xfrm>
          </p:grpSpPr>
          <p:sp>
            <p:nvSpPr>
              <p:cNvPr id="580" name="Google Shape;580;p52"/>
              <p:cNvSpPr/>
              <p:nvPr/>
            </p:nvSpPr>
            <p:spPr>
              <a:xfrm>
                <a:off x="144" y="2688"/>
                <a:ext cx="2640" cy="1392"/>
              </a:xfrm>
              <a:prstGeom prst="roundRect">
                <a:avLst>
                  <a:gd fmla="val 5917"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581" name="Google Shape;581;p52"/>
              <p:cNvSpPr txBox="1"/>
              <p:nvPr/>
            </p:nvSpPr>
            <p:spPr>
              <a:xfrm>
                <a:off x="192" y="2755"/>
                <a:ext cx="2496" cy="1247"/>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200"/>
                  <a:buFont typeface="Courier New"/>
                  <a:buNone/>
                </a:pPr>
                <a:r>
                  <a:rPr b="1" lang="es-AR" sz="2200">
                    <a:solidFill>
                      <a:schemeClr val="dk1"/>
                    </a:solidFill>
                    <a:latin typeface="Courier New"/>
                    <a:ea typeface="Courier New"/>
                    <a:cs typeface="Courier New"/>
                    <a:sym typeface="Courier New"/>
                  </a:rPr>
                  <a:t>char 	titulos[N][30];</a:t>
                </a:r>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urier New"/>
                    <a:ea typeface="Courier New"/>
                    <a:cs typeface="Courier New"/>
                    <a:sym typeface="Courier New"/>
                  </a:rPr>
                  <a:t>char	autores[N][30];</a:t>
                </a:r>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urier New"/>
                    <a:ea typeface="Courier New"/>
                    <a:cs typeface="Courier New"/>
                    <a:sym typeface="Courier New"/>
                  </a:rPr>
                  <a:t>char	ISBNs[N][11];</a:t>
                </a:r>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urier New"/>
                    <a:ea typeface="Courier New"/>
                    <a:cs typeface="Courier New"/>
                    <a:sym typeface="Courier New"/>
                  </a:rPr>
                  <a:t>float precios[N];</a:t>
                </a:r>
                <a:endParaRPr/>
              </a:p>
            </p:txBody>
          </p:sp>
        </p:grpSp>
        <p:sp>
          <p:nvSpPr>
            <p:cNvPr id="582" name="Google Shape;582;p52"/>
            <p:cNvSpPr/>
            <p:nvPr/>
          </p:nvSpPr>
          <p:spPr>
            <a:xfrm>
              <a:off x="3312" y="1968"/>
              <a:ext cx="2016" cy="480"/>
            </a:xfrm>
            <a:prstGeom prst="rect">
              <a:avLst/>
            </a:prstGeom>
          </p:spPr>
          <p:txBody>
            <a:bodyPr>
              <a:prstTxWarp prst="textPlain"/>
            </a:bodyPr>
            <a:lstStyle/>
            <a:p>
              <a:pPr lvl="0" algn="ctr"/>
              <a:r>
                <a:rPr b="0" i="0">
                  <a:ln cap="flat" cmpd="sng" w="19050">
                    <a:solidFill>
                      <a:srgbClr val="99CCFF"/>
                    </a:solidFill>
                    <a:prstDash val="solid"/>
                    <a:round/>
                    <a:headEnd len="sm" w="sm" type="none"/>
                    <a:tailEnd len="sm" w="sm" type="none"/>
                  </a:ln>
                  <a:solidFill>
                    <a:srgbClr val="0066CC"/>
                  </a:solidFill>
                  <a:latin typeface="Impact"/>
                </a:rPr>
                <a:t>Arreglos paralelos</a:t>
              </a:r>
            </a:p>
          </p:txBody>
        </p:sp>
      </p:grpSp>
      <p:sp>
        <p:nvSpPr>
          <p:cNvPr id="583" name="Google Shape;583;p52"/>
          <p:cNvSpPr/>
          <p:nvPr/>
        </p:nvSpPr>
        <p:spPr>
          <a:xfrm>
            <a:off x="457200" y="3829050"/>
            <a:ext cx="7543808" cy="1028697"/>
          </a:xfrm>
          <a:prstGeom prst="rect">
            <a:avLst/>
          </a:prstGeom>
        </p:spPr>
        <p:txBody>
          <a:bodyPr>
            <a:prstTxWarp prst="textPlain"/>
          </a:bodyPr>
          <a:lstStyle/>
          <a:p>
            <a:pPr lvl="0" algn="ctr"/>
            <a:r>
              <a:rPr b="0" i="0">
                <a:ln>
                  <a:noFill/>
                </a:ln>
                <a:gradFill>
                  <a:gsLst>
                    <a:gs pos="0">
                      <a:srgbClr val="FFE701"/>
                    </a:gs>
                    <a:gs pos="100000">
                      <a:srgbClr val="FE3E02"/>
                    </a:gs>
                  </a:gsLst>
                  <a:lin ang="5400000" scaled="0"/>
                </a:gradFill>
                <a:latin typeface="Impact"/>
              </a:rPr>
              <a:t>Otra mala idea</a:t>
            </a:r>
            <a:br>
              <a:rPr b="0" i="0">
                <a:ln>
                  <a:noFill/>
                </a:ln>
                <a:gradFill>
                  <a:gsLst>
                    <a:gs pos="0">
                      <a:srgbClr val="FFE701"/>
                    </a:gs>
                    <a:gs pos="100000">
                      <a:srgbClr val="FE3E02"/>
                    </a:gs>
                  </a:gsLst>
                  <a:lin ang="5400000" scaled="0"/>
                </a:gradFill>
                <a:latin typeface="Impact"/>
              </a:rPr>
            </a:br>
            <a:r>
              <a:rPr b="0" i="0">
                <a:ln>
                  <a:noFill/>
                </a:ln>
                <a:gradFill>
                  <a:gsLst>
                    <a:gs pos="0">
                      <a:srgbClr val="FFE701"/>
                    </a:gs>
                    <a:gs pos="100000">
                      <a:srgbClr val="FE3E02"/>
                    </a:gs>
                  </a:gsLst>
                  <a:lin ang="5400000" scaled="0"/>
                </a:gradFill>
                <a:latin typeface="Impact"/>
              </a:rPr>
              <a:t>No hay coherencia semántica</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83"/>
                                        </p:tgtEl>
                                        <p:attrNameLst>
                                          <p:attrName>style.visibility</p:attrName>
                                        </p:attrNameLst>
                                      </p:cBhvr>
                                      <p:to>
                                        <p:strVal val="visible"/>
                                      </p:to>
                                    </p:set>
                                    <p:anim calcmode="lin" valueType="num">
                                      <p:cBhvr additive="base">
                                        <p:cTn dur="500"/>
                                        <p:tgtEl>
                                          <p:spTgt spid="583"/>
                                        </p:tgtEl>
                                        <p:attrNameLst>
                                          <p:attrName>ppt_w</p:attrName>
                                        </p:attrNameLst>
                                      </p:cBhvr>
                                      <p:tavLst>
                                        <p:tav fmla="" tm="0">
                                          <p:val>
                                            <p:strVal val="0"/>
                                          </p:val>
                                        </p:tav>
                                        <p:tav fmla="" tm="100000">
                                          <p:val>
                                            <p:strVal val="#ppt_w"/>
                                          </p:val>
                                        </p:tav>
                                      </p:tavLst>
                                    </p:anim>
                                    <p:anim calcmode="lin" valueType="num">
                                      <p:cBhvr additive="base">
                                        <p:cTn dur="500"/>
                                        <p:tgtEl>
                                          <p:spTgt spid="58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grpSp>
        <p:nvGrpSpPr>
          <p:cNvPr id="588" name="Google Shape;588;p53"/>
          <p:cNvGrpSpPr/>
          <p:nvPr/>
        </p:nvGrpSpPr>
        <p:grpSpPr>
          <a:xfrm>
            <a:off x="206775" y="200825"/>
            <a:ext cx="8305800" cy="3889725"/>
            <a:chOff x="144" y="2688"/>
            <a:chExt cx="2640" cy="1392"/>
          </a:xfrm>
        </p:grpSpPr>
        <p:sp>
          <p:nvSpPr>
            <p:cNvPr id="589" name="Google Shape;589;p53"/>
            <p:cNvSpPr/>
            <p:nvPr/>
          </p:nvSpPr>
          <p:spPr>
            <a:xfrm>
              <a:off x="144" y="2688"/>
              <a:ext cx="2640" cy="1392"/>
            </a:xfrm>
            <a:prstGeom prst="roundRect">
              <a:avLst>
                <a:gd fmla="val 5917"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590" name="Google Shape;590;p53"/>
            <p:cNvSpPr txBox="1"/>
            <p:nvPr/>
          </p:nvSpPr>
          <p:spPr>
            <a:xfrm>
              <a:off x="192" y="2754"/>
              <a:ext cx="2496" cy="1252"/>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200"/>
                <a:buFont typeface="Courier New"/>
                <a:buNone/>
              </a:pPr>
              <a:r>
                <a:rPr b="1" lang="es-AR" sz="2300">
                  <a:solidFill>
                    <a:schemeClr val="dk1"/>
                  </a:solidFill>
                  <a:latin typeface="Consolas"/>
                  <a:ea typeface="Consolas"/>
                  <a:cs typeface="Consolas"/>
                  <a:sym typeface="Consolas"/>
                </a:rPr>
                <a:t>struct tipoLibro {</a:t>
              </a:r>
              <a:endParaRPr sz="15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300">
                  <a:solidFill>
                    <a:schemeClr val="dk1"/>
                  </a:solidFill>
                  <a:latin typeface="Consolas"/>
                  <a:ea typeface="Consolas"/>
                  <a:cs typeface="Consolas"/>
                  <a:sym typeface="Consolas"/>
                </a:rPr>
                <a:t>	char 	titulo[30];</a:t>
              </a:r>
              <a:endParaRPr sz="15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300">
                  <a:solidFill>
                    <a:schemeClr val="dk1"/>
                  </a:solidFill>
                  <a:latin typeface="Consolas"/>
                  <a:ea typeface="Consolas"/>
                  <a:cs typeface="Consolas"/>
                  <a:sym typeface="Consolas"/>
                </a:rPr>
                <a:t>	char	autor[30];</a:t>
              </a:r>
              <a:endParaRPr sz="15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300">
                  <a:solidFill>
                    <a:schemeClr val="dk1"/>
                  </a:solidFill>
                  <a:latin typeface="Consolas"/>
                  <a:ea typeface="Consolas"/>
                  <a:cs typeface="Consolas"/>
                  <a:sym typeface="Consolas"/>
                </a:rPr>
                <a:t>	char	ISBN[11];</a:t>
              </a:r>
              <a:endParaRPr sz="15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300">
                  <a:solidFill>
                    <a:schemeClr val="dk1"/>
                  </a:solidFill>
                  <a:latin typeface="Consolas"/>
                  <a:ea typeface="Consolas"/>
                  <a:cs typeface="Consolas"/>
                  <a:sym typeface="Consolas"/>
                </a:rPr>
                <a:t>	float precio;</a:t>
              </a:r>
              <a:endParaRPr sz="15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300">
                  <a:solidFill>
                    <a:schemeClr val="dk1"/>
                  </a:solidFill>
                  <a:latin typeface="Consolas"/>
                  <a:ea typeface="Consolas"/>
                  <a:cs typeface="Consolas"/>
                  <a:sym typeface="Consolas"/>
                </a:rPr>
                <a:t>};</a:t>
              </a:r>
              <a:endParaRPr sz="1500">
                <a:latin typeface="Consolas"/>
                <a:ea typeface="Consolas"/>
                <a:cs typeface="Consolas"/>
                <a:sym typeface="Consolas"/>
              </a:endParaRPr>
            </a:p>
            <a:p>
              <a:pPr indent="0" lvl="0" marL="0" marR="0" rtl="0" algn="l">
                <a:lnSpc>
                  <a:spcPct val="80000"/>
                </a:lnSpc>
                <a:spcBef>
                  <a:spcPts val="160"/>
                </a:spcBef>
                <a:spcAft>
                  <a:spcPts val="0"/>
                </a:spcAft>
                <a:buClr>
                  <a:schemeClr val="dk1"/>
                </a:buClr>
                <a:buSzPts val="800"/>
                <a:buFont typeface="Times New Roman"/>
                <a:buNone/>
              </a:pPr>
              <a:r>
                <a:t/>
              </a:r>
              <a:endParaRPr b="1" sz="900">
                <a:solidFill>
                  <a:schemeClr val="dk1"/>
                </a:solidFill>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300">
                  <a:solidFill>
                    <a:schemeClr val="dk1"/>
                  </a:solidFill>
                  <a:latin typeface="Consolas"/>
                  <a:ea typeface="Consolas"/>
                  <a:cs typeface="Consolas"/>
                  <a:sym typeface="Consolas"/>
                </a:rPr>
                <a:t>struct tipoLibro </a:t>
              </a:r>
              <a:r>
                <a:rPr b="1" lang="es-AR" sz="2300">
                  <a:solidFill>
                    <a:srgbClr val="CC0066"/>
                  </a:solidFill>
                  <a:latin typeface="Consolas"/>
                  <a:ea typeface="Consolas"/>
                  <a:cs typeface="Consolas"/>
                  <a:sym typeface="Consolas"/>
                </a:rPr>
                <a:t>biblioteca1</a:t>
              </a:r>
              <a:r>
                <a:rPr b="1" lang="es-AR" sz="2300">
                  <a:solidFill>
                    <a:schemeClr val="dk1"/>
                  </a:solidFill>
                  <a:latin typeface="Consolas"/>
                  <a:ea typeface="Consolas"/>
                  <a:cs typeface="Consolas"/>
                  <a:sym typeface="Consolas"/>
                </a:rPr>
                <a:t>[N];</a:t>
              </a:r>
              <a:endParaRPr sz="15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Times New Roman"/>
                <a:buNone/>
              </a:pPr>
              <a:r>
                <a:t/>
              </a:r>
              <a:endParaRPr b="1" sz="2300">
                <a:solidFill>
                  <a:schemeClr val="dk1"/>
                </a:solidFill>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300">
                  <a:solidFill>
                    <a:schemeClr val="dk1"/>
                  </a:solidFill>
                  <a:latin typeface="Consolas"/>
                  <a:ea typeface="Consolas"/>
                  <a:cs typeface="Consolas"/>
                  <a:sym typeface="Consolas"/>
                </a:rPr>
                <a:t>typedef struct tipoLibro tipoBiblioteca[N];</a:t>
              </a:r>
              <a:endParaRPr sz="15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300">
                  <a:solidFill>
                    <a:schemeClr val="dk1"/>
                  </a:solidFill>
                  <a:latin typeface="Consolas"/>
                  <a:ea typeface="Consolas"/>
                  <a:cs typeface="Consolas"/>
                  <a:sym typeface="Consolas"/>
                </a:rPr>
                <a:t>tipoBiblioteca </a:t>
              </a:r>
              <a:r>
                <a:rPr b="1" lang="es-AR" sz="2300">
                  <a:solidFill>
                    <a:srgbClr val="CC0066"/>
                  </a:solidFill>
                  <a:latin typeface="Consolas"/>
                  <a:ea typeface="Consolas"/>
                  <a:cs typeface="Consolas"/>
                  <a:sym typeface="Consolas"/>
                </a:rPr>
                <a:t>biblioteca2</a:t>
              </a:r>
              <a:r>
                <a:rPr b="1" lang="es-AR" sz="2300">
                  <a:solidFill>
                    <a:schemeClr val="dk1"/>
                  </a:solidFill>
                  <a:latin typeface="Consolas"/>
                  <a:ea typeface="Consolas"/>
                  <a:cs typeface="Consolas"/>
                  <a:sym typeface="Consolas"/>
                </a:rPr>
                <a:t>;</a:t>
              </a:r>
              <a:endParaRPr b="1" sz="2300">
                <a:solidFill>
                  <a:schemeClr val="dk1"/>
                </a:solidFill>
                <a:latin typeface="Consolas"/>
                <a:ea typeface="Consolas"/>
                <a:cs typeface="Consolas"/>
                <a:sym typeface="Consolas"/>
              </a:endParaRPr>
            </a:p>
          </p:txBody>
        </p:sp>
      </p:grpSp>
      <p:sp>
        <p:nvSpPr>
          <p:cNvPr id="591" name="Google Shape;591;p53"/>
          <p:cNvSpPr/>
          <p:nvPr/>
        </p:nvSpPr>
        <p:spPr>
          <a:xfrm>
            <a:off x="4956150" y="437000"/>
            <a:ext cx="2790825" cy="800101"/>
          </a:xfrm>
          <a:prstGeom prst="rect">
            <a:avLst/>
          </a:prstGeom>
        </p:spPr>
        <p:txBody>
          <a:bodyPr>
            <a:prstTxWarp prst="textPlain"/>
          </a:bodyPr>
          <a:lstStyle/>
          <a:p>
            <a:pPr lvl="0" algn="ctr"/>
            <a:r>
              <a:rPr b="0" i="0">
                <a:ln cap="flat" cmpd="sng" w="19050">
                  <a:solidFill>
                    <a:srgbClr val="99CCFF"/>
                  </a:solidFill>
                  <a:prstDash val="solid"/>
                  <a:round/>
                  <a:headEnd len="sm" w="sm" type="none"/>
                  <a:tailEnd len="sm" w="sm" type="none"/>
                </a:ln>
                <a:solidFill>
                  <a:srgbClr val="0066CC"/>
                </a:solidFill>
                <a:latin typeface="Impact"/>
              </a:rPr>
              <a:t>Un arreglo de </a:t>
            </a:r>
            <a:br>
              <a:rPr b="0" i="0">
                <a:ln cap="flat" cmpd="sng" w="19050">
                  <a:solidFill>
                    <a:srgbClr val="99CCFF"/>
                  </a:solidFill>
                  <a:prstDash val="solid"/>
                  <a:round/>
                  <a:headEnd len="sm" w="sm" type="none"/>
                  <a:tailEnd len="sm" w="sm" type="none"/>
                </a:ln>
                <a:solidFill>
                  <a:srgbClr val="0066CC"/>
                </a:solidFill>
                <a:latin typeface="Impact"/>
              </a:rPr>
            </a:br>
            <a:r>
              <a:rPr b="0" i="0">
                <a:ln cap="flat" cmpd="sng" w="19050">
                  <a:solidFill>
                    <a:srgbClr val="99CCFF"/>
                  </a:solidFill>
                  <a:prstDash val="solid"/>
                  <a:round/>
                  <a:headEnd len="sm" w="sm" type="none"/>
                  <a:tailEnd len="sm" w="sm" type="none"/>
                </a:ln>
                <a:solidFill>
                  <a:srgbClr val="0066CC"/>
                </a:solidFill>
                <a:latin typeface="Impact"/>
              </a:rPr>
              <a:t>estructuras</a:t>
            </a:r>
          </a:p>
        </p:txBody>
      </p:sp>
      <p:cxnSp>
        <p:nvCxnSpPr>
          <p:cNvPr id="592" name="Google Shape;592;p53"/>
          <p:cNvCxnSpPr/>
          <p:nvPr/>
        </p:nvCxnSpPr>
        <p:spPr>
          <a:xfrm>
            <a:off x="206775" y="2947575"/>
            <a:ext cx="8305800" cy="0"/>
          </a:xfrm>
          <a:prstGeom prst="straightConnector1">
            <a:avLst/>
          </a:prstGeom>
          <a:noFill/>
          <a:ln cap="flat" cmpd="sng" w="9525">
            <a:solidFill>
              <a:schemeClr val="dk1"/>
            </a:solidFill>
            <a:prstDash val="solid"/>
            <a:round/>
            <a:headEnd len="med" w="med" type="none"/>
            <a:tailEnd len="med" w="med" type="none"/>
          </a:ln>
        </p:spPr>
      </p:cxnSp>
      <p:pic>
        <p:nvPicPr>
          <p:cNvPr id="593" name="Google Shape;593;p53"/>
          <p:cNvPicPr preferRelativeResize="0"/>
          <p:nvPr/>
        </p:nvPicPr>
        <p:blipFill>
          <a:blip r:embed="rId3">
            <a:alphaModFix/>
          </a:blip>
          <a:stretch>
            <a:fillRect/>
          </a:stretch>
        </p:blipFill>
        <p:spPr>
          <a:xfrm>
            <a:off x="6238009" y="3505200"/>
            <a:ext cx="2470878" cy="16383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54"/>
          <p:cNvSpPr txBox="1"/>
          <p:nvPr/>
        </p:nvSpPr>
        <p:spPr>
          <a:xfrm>
            <a:off x="914400" y="342900"/>
            <a:ext cx="7315200" cy="2400300"/>
          </a:xfrm>
          <a:prstGeom prst="rect">
            <a:avLst/>
          </a:prstGeom>
          <a:gradFill>
            <a:gsLst>
              <a:gs pos="0">
                <a:srgbClr val="CC99FF"/>
              </a:gs>
              <a:gs pos="100000">
                <a:schemeClr val="lt1"/>
              </a:gs>
            </a:gsLst>
            <a:lin ang="2700000" scaled="0"/>
          </a:gradFill>
          <a:ln>
            <a:noFill/>
          </a:ln>
        </p:spPr>
        <p:txBody>
          <a:bodyPr anchorCtr="0" anchor="t" bIns="45700" lIns="91425" spcFirstLastPara="1" rIns="91425" wrap="square" tIns="45700">
            <a:noAutofit/>
          </a:bodyPr>
          <a:lstStyle/>
          <a:p>
            <a:pPr indent="0" lvl="0" marL="0" marR="0" rtl="0" algn="just">
              <a:spcBef>
                <a:spcPts val="0"/>
              </a:spcBef>
              <a:spcAft>
                <a:spcPts val="0"/>
              </a:spcAft>
              <a:buClr>
                <a:schemeClr val="dk1"/>
              </a:buClr>
              <a:buSzPts val="2800"/>
              <a:buFont typeface="Times New Roman"/>
              <a:buNone/>
            </a:pPr>
            <a:r>
              <a:rPr b="1" i="1" lang="es-AR" sz="2800">
                <a:solidFill>
                  <a:schemeClr val="dk1"/>
                </a:solidFill>
                <a:latin typeface="Times New Roman"/>
                <a:ea typeface="Times New Roman"/>
                <a:cs typeface="Times New Roman"/>
                <a:sym typeface="Times New Roman"/>
              </a:rPr>
              <a:t>Ejemplo 1:</a:t>
            </a:r>
            <a:endParaRPr/>
          </a:p>
          <a:p>
            <a:pPr indent="0" lvl="0" marL="0" marR="0" rtl="0" algn="just">
              <a:spcBef>
                <a:spcPts val="1400"/>
              </a:spcBef>
              <a:spcAft>
                <a:spcPts val="0"/>
              </a:spcAft>
              <a:buClr>
                <a:schemeClr val="dk1"/>
              </a:buClr>
              <a:buSzPts val="2800"/>
              <a:buFont typeface="Times New Roman"/>
              <a:buNone/>
            </a:pPr>
            <a:r>
              <a:rPr b="1" i="1" lang="es-AR" sz="2800">
                <a:solidFill>
                  <a:schemeClr val="dk1"/>
                </a:solidFill>
                <a:latin typeface="Times New Roman"/>
                <a:ea typeface="Times New Roman"/>
                <a:cs typeface="Times New Roman"/>
                <a:sym typeface="Times New Roman"/>
              </a:rPr>
              <a:t>	Cargamos los libros en el arreglo de estructuras “biblioteca” y luego los imprimimos. Se asume una biblioteca de 10 libros.</a:t>
            </a:r>
            <a:endParaRPr b="1" i="1" sz="2800">
              <a:solidFill>
                <a:schemeClr val="dk1"/>
              </a:solidFill>
              <a:latin typeface="Times New Roman"/>
              <a:ea typeface="Times New Roman"/>
              <a:cs typeface="Times New Roman"/>
              <a:sym typeface="Times New Roman"/>
            </a:endParaRPr>
          </a:p>
        </p:txBody>
      </p:sp>
      <p:sp>
        <p:nvSpPr>
          <p:cNvPr id="599" name="Google Shape;599;p54"/>
          <p:cNvSpPr txBox="1"/>
          <p:nvPr/>
        </p:nvSpPr>
        <p:spPr>
          <a:xfrm>
            <a:off x="1828800" y="2743200"/>
            <a:ext cx="5410200" cy="342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rPr lang="es-AR" sz="2400">
                <a:solidFill>
                  <a:schemeClr val="dk1"/>
                </a:solidFill>
                <a:latin typeface="Times New Roman"/>
                <a:ea typeface="Times New Roman"/>
                <a:cs typeface="Times New Roman"/>
                <a:sym typeface="Times New Roman"/>
              </a:rPr>
              <a:t>Ver Ejemplos 1, 2 y 3</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55"/>
          <p:cNvSpPr txBox="1"/>
          <p:nvPr/>
        </p:nvSpPr>
        <p:spPr>
          <a:xfrm>
            <a:off x="914400" y="342900"/>
            <a:ext cx="7315200" cy="2448000"/>
          </a:xfrm>
          <a:prstGeom prst="rect">
            <a:avLst/>
          </a:prstGeom>
          <a:gradFill>
            <a:gsLst>
              <a:gs pos="0">
                <a:srgbClr val="CC99FF"/>
              </a:gs>
              <a:gs pos="100000">
                <a:schemeClr val="lt1"/>
              </a:gs>
            </a:gsLst>
            <a:lin ang="2700000" scaled="0"/>
          </a:gradFill>
          <a:ln>
            <a:noFill/>
          </a:ln>
        </p:spPr>
        <p:txBody>
          <a:bodyPr anchorCtr="0" anchor="t" bIns="45700" lIns="91425" spcFirstLastPara="1" rIns="91425" wrap="square" tIns="45700">
            <a:noAutofit/>
          </a:bodyPr>
          <a:lstStyle/>
          <a:p>
            <a:pPr indent="0" lvl="0" marL="0" marR="0" rtl="0" algn="just">
              <a:spcBef>
                <a:spcPts val="0"/>
              </a:spcBef>
              <a:spcAft>
                <a:spcPts val="0"/>
              </a:spcAft>
              <a:buClr>
                <a:schemeClr val="dk1"/>
              </a:buClr>
              <a:buSzPts val="2800"/>
              <a:buFont typeface="Times New Roman"/>
              <a:buNone/>
            </a:pPr>
            <a:r>
              <a:rPr b="1" i="1" lang="es-AR" sz="2800">
                <a:solidFill>
                  <a:schemeClr val="dk1"/>
                </a:solidFill>
                <a:latin typeface="Times New Roman"/>
                <a:ea typeface="Times New Roman"/>
                <a:cs typeface="Times New Roman"/>
                <a:sym typeface="Times New Roman"/>
              </a:rPr>
              <a:t>Ejemplo 2:</a:t>
            </a:r>
            <a:endParaRPr/>
          </a:p>
          <a:p>
            <a:pPr indent="0" lvl="0" marL="0" marR="0" rtl="0" algn="just">
              <a:spcBef>
                <a:spcPts val="1400"/>
              </a:spcBef>
              <a:spcAft>
                <a:spcPts val="0"/>
              </a:spcAft>
              <a:buClr>
                <a:schemeClr val="dk1"/>
              </a:buClr>
              <a:buSzPts val="2800"/>
              <a:buFont typeface="Times New Roman"/>
              <a:buNone/>
            </a:pPr>
            <a:r>
              <a:rPr b="1" i="1" lang="es-AR" sz="2800">
                <a:solidFill>
                  <a:schemeClr val="dk1"/>
                </a:solidFill>
                <a:latin typeface="Times New Roman"/>
                <a:ea typeface="Times New Roman"/>
                <a:cs typeface="Times New Roman"/>
                <a:sym typeface="Times New Roman"/>
              </a:rPr>
              <a:t>	Cargamos los libros en el arreglo de estructuras “biblioteca” y luego los imprimimos, pero ahora dejamos que la cantidad de libros la indique el usuario en tiempo de ejecución.</a:t>
            </a:r>
            <a:endParaRPr b="1" i="1" sz="2800">
              <a:solidFill>
                <a:schemeClr val="dk1"/>
              </a:solidFill>
              <a:latin typeface="Times New Roman"/>
              <a:ea typeface="Times New Roman"/>
              <a:cs typeface="Times New Roman"/>
              <a:sym typeface="Times New Roman"/>
            </a:endParaRPr>
          </a:p>
        </p:txBody>
      </p:sp>
      <p:sp>
        <p:nvSpPr>
          <p:cNvPr id="605" name="Google Shape;605;p55"/>
          <p:cNvSpPr txBox="1"/>
          <p:nvPr/>
        </p:nvSpPr>
        <p:spPr>
          <a:xfrm>
            <a:off x="1828800" y="2743200"/>
            <a:ext cx="5410200" cy="342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rPr lang="es-AR" sz="2400">
                <a:solidFill>
                  <a:schemeClr val="dk1"/>
                </a:solidFill>
                <a:latin typeface="Times New Roman"/>
                <a:ea typeface="Times New Roman"/>
                <a:cs typeface="Times New Roman"/>
                <a:sym typeface="Times New Roman"/>
              </a:rPr>
              <a:t>Ver Ejemplo 4</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56"/>
          <p:cNvSpPr txBox="1"/>
          <p:nvPr>
            <p:ph type="title"/>
          </p:nvPr>
        </p:nvSpPr>
        <p:spPr>
          <a:xfrm>
            <a:off x="685800" y="92925"/>
            <a:ext cx="7772400" cy="399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i="1" lang="es-AR" sz="4000"/>
              <a:t>Encapsulamiento</a:t>
            </a:r>
            <a:endParaRPr/>
          </a:p>
        </p:txBody>
      </p:sp>
      <p:sp>
        <p:nvSpPr>
          <p:cNvPr id="611" name="Google Shape;611;p56"/>
          <p:cNvSpPr txBox="1"/>
          <p:nvPr/>
        </p:nvSpPr>
        <p:spPr>
          <a:xfrm>
            <a:off x="151500" y="622275"/>
            <a:ext cx="8862900" cy="20613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chemeClr val="dk1"/>
              </a:buClr>
              <a:buSzPts val="2400"/>
              <a:buFont typeface="Comic Sans MS"/>
              <a:buNone/>
            </a:pPr>
            <a:r>
              <a:rPr lang="es-AR" sz="2400">
                <a:solidFill>
                  <a:schemeClr val="dk1"/>
                </a:solidFill>
                <a:latin typeface="Comic Sans MS"/>
                <a:ea typeface="Comic Sans MS"/>
                <a:cs typeface="Comic Sans MS"/>
                <a:sym typeface="Comic Sans MS"/>
              </a:rPr>
              <a:t>Cuando se utilizan arreglos para almacenar elementos sin orden (desde el punto de vista semántico), ocurre que en cierto instante hay una cantidad de componentes ocupadas menor a la disponible, por lo que resulta necesario almacenar en una variable la cantidad de componentes en uso.</a:t>
            </a:r>
            <a:endParaRPr sz="2400">
              <a:solidFill>
                <a:schemeClr val="dk1"/>
              </a:solidFill>
              <a:latin typeface="Comic Sans MS"/>
              <a:ea typeface="Comic Sans MS"/>
              <a:cs typeface="Comic Sans MS"/>
              <a:sym typeface="Comic Sans MS"/>
            </a:endParaRPr>
          </a:p>
        </p:txBody>
      </p:sp>
      <p:grpSp>
        <p:nvGrpSpPr>
          <p:cNvPr id="612" name="Google Shape;612;p56"/>
          <p:cNvGrpSpPr/>
          <p:nvPr/>
        </p:nvGrpSpPr>
        <p:grpSpPr>
          <a:xfrm>
            <a:off x="381000" y="2590800"/>
            <a:ext cx="3581400" cy="1428750"/>
            <a:chOff x="240" y="2304"/>
            <a:chExt cx="2256" cy="1200"/>
          </a:xfrm>
        </p:grpSpPr>
        <p:grpSp>
          <p:nvGrpSpPr>
            <p:cNvPr id="613" name="Google Shape;613;p56"/>
            <p:cNvGrpSpPr/>
            <p:nvPr/>
          </p:nvGrpSpPr>
          <p:grpSpPr>
            <a:xfrm>
              <a:off x="240" y="2832"/>
              <a:ext cx="2256" cy="672"/>
              <a:chOff x="240" y="2928"/>
              <a:chExt cx="2256" cy="672"/>
            </a:xfrm>
          </p:grpSpPr>
          <p:sp>
            <p:nvSpPr>
              <p:cNvPr id="614" name="Google Shape;614;p56"/>
              <p:cNvSpPr/>
              <p:nvPr/>
            </p:nvSpPr>
            <p:spPr>
              <a:xfrm>
                <a:off x="240" y="2928"/>
                <a:ext cx="2208" cy="672"/>
              </a:xfrm>
              <a:prstGeom prst="roundRect">
                <a:avLst>
                  <a:gd fmla="val 5917"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615" name="Google Shape;615;p56"/>
              <p:cNvSpPr txBox="1"/>
              <p:nvPr/>
            </p:nvSpPr>
            <p:spPr>
              <a:xfrm>
                <a:off x="335" y="3018"/>
                <a:ext cx="2161" cy="438"/>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int values[30];</a:t>
                </a:r>
                <a:endParaRPr>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unsigned </a:t>
                </a:r>
                <a:r>
                  <a:rPr b="1" lang="es-AR" sz="2200">
                    <a:solidFill>
                      <a:schemeClr val="dk1"/>
                    </a:solidFill>
                    <a:latin typeface="Consolas"/>
                    <a:ea typeface="Consolas"/>
                    <a:cs typeface="Consolas"/>
                    <a:sym typeface="Consolas"/>
                  </a:rPr>
                  <a:t>int dim;</a:t>
                </a:r>
                <a:endParaRPr>
                  <a:latin typeface="Consolas"/>
                  <a:ea typeface="Consolas"/>
                  <a:cs typeface="Consolas"/>
                  <a:sym typeface="Consolas"/>
                </a:endParaRPr>
              </a:p>
            </p:txBody>
          </p:sp>
        </p:grpSp>
        <p:sp>
          <p:nvSpPr>
            <p:cNvPr id="616" name="Google Shape;616;p56"/>
            <p:cNvSpPr/>
            <p:nvPr/>
          </p:nvSpPr>
          <p:spPr>
            <a:xfrm>
              <a:off x="1152" y="2304"/>
              <a:ext cx="432" cy="432"/>
            </a:xfrm>
            <a:prstGeom prst="downArrow">
              <a:avLst>
                <a:gd fmla="val 50000" name="adj1"/>
                <a:gd fmla="val 25000" name="adj2"/>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grpSp>
      <p:grpSp>
        <p:nvGrpSpPr>
          <p:cNvPr id="617" name="Google Shape;617;p56"/>
          <p:cNvGrpSpPr/>
          <p:nvPr/>
        </p:nvGrpSpPr>
        <p:grpSpPr>
          <a:xfrm>
            <a:off x="2362200" y="2850825"/>
            <a:ext cx="5881243" cy="2143125"/>
            <a:chOff x="1968" y="2784"/>
            <a:chExt cx="3705" cy="1800"/>
          </a:xfrm>
        </p:grpSpPr>
        <p:grpSp>
          <p:nvGrpSpPr>
            <p:cNvPr id="618" name="Google Shape;618;p56"/>
            <p:cNvGrpSpPr/>
            <p:nvPr/>
          </p:nvGrpSpPr>
          <p:grpSpPr>
            <a:xfrm>
              <a:off x="3120" y="2784"/>
              <a:ext cx="2553" cy="1800"/>
              <a:chOff x="144" y="2688"/>
              <a:chExt cx="2700" cy="1800"/>
            </a:xfrm>
          </p:grpSpPr>
          <p:sp>
            <p:nvSpPr>
              <p:cNvPr id="619" name="Google Shape;619;p56"/>
              <p:cNvSpPr/>
              <p:nvPr/>
            </p:nvSpPr>
            <p:spPr>
              <a:xfrm>
                <a:off x="144" y="2688"/>
                <a:ext cx="2700" cy="1800"/>
              </a:xfrm>
              <a:prstGeom prst="roundRect">
                <a:avLst>
                  <a:gd fmla="val 5917"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620" name="Google Shape;620;p56"/>
              <p:cNvSpPr txBox="1"/>
              <p:nvPr/>
            </p:nvSpPr>
            <p:spPr>
              <a:xfrm>
                <a:off x="192" y="2754"/>
                <a:ext cx="2400" cy="15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typedef struct {</a:t>
                </a:r>
                <a:endParaRPr>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	int values[30];</a:t>
                </a:r>
                <a:endParaRPr>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	unsigned int dim;</a:t>
                </a:r>
                <a:endParaRPr>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 Array;</a:t>
                </a:r>
                <a:endParaRPr>
                  <a:latin typeface="Consolas"/>
                  <a:ea typeface="Consolas"/>
                  <a:cs typeface="Consolas"/>
                  <a:sym typeface="Consolas"/>
                </a:endParaRPr>
              </a:p>
              <a:p>
                <a:pPr indent="0" lvl="0" marL="0" marR="0" rtl="0" algn="l">
                  <a:lnSpc>
                    <a:spcPct val="80000"/>
                  </a:lnSpc>
                  <a:spcBef>
                    <a:spcPts val="200"/>
                  </a:spcBef>
                  <a:spcAft>
                    <a:spcPts val="0"/>
                  </a:spcAft>
                  <a:buClr>
                    <a:schemeClr val="dk1"/>
                  </a:buClr>
                  <a:buSzPts val="1000"/>
                  <a:buFont typeface="Times New Roman"/>
                  <a:buNone/>
                </a:pPr>
                <a:r>
                  <a:t/>
                </a:r>
                <a:endParaRPr b="1" sz="1000">
                  <a:solidFill>
                    <a:schemeClr val="dk1"/>
                  </a:solidFill>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Array</a:t>
                </a:r>
                <a:r>
                  <a:rPr b="1" lang="es-AR" sz="2200">
                    <a:solidFill>
                      <a:schemeClr val="dk1"/>
                    </a:solidFill>
                    <a:latin typeface="Consolas"/>
                    <a:ea typeface="Consolas"/>
                    <a:cs typeface="Consolas"/>
                    <a:sym typeface="Consolas"/>
                  </a:rPr>
                  <a:t> v;</a:t>
                </a:r>
                <a:endParaRPr b="1" sz="2200">
                  <a:solidFill>
                    <a:schemeClr val="dk1"/>
                  </a:solidFill>
                  <a:latin typeface="Consolas"/>
                  <a:ea typeface="Consolas"/>
                  <a:cs typeface="Consolas"/>
                  <a:sym typeface="Consolas"/>
                </a:endParaRPr>
              </a:p>
            </p:txBody>
          </p:sp>
        </p:grpSp>
        <p:sp>
          <p:nvSpPr>
            <p:cNvPr id="621" name="Google Shape;621;p56"/>
            <p:cNvSpPr/>
            <p:nvPr/>
          </p:nvSpPr>
          <p:spPr>
            <a:xfrm flipH="1" rot="10800000">
              <a:off x="1968" y="3760"/>
              <a:ext cx="918" cy="486"/>
            </a:xfrm>
            <a:custGeom>
              <a:rect b="b" l="l" r="r" t="t"/>
              <a:pathLst>
                <a:path extrusionOk="0" h="21600" w="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2"/>
                                        </p:tgtEl>
                                        <p:attrNameLst>
                                          <p:attrName>style.visibility</p:attrName>
                                        </p:attrNameLst>
                                      </p:cBhvr>
                                      <p:to>
                                        <p:strVal val="visible"/>
                                      </p:to>
                                    </p:set>
                                    <p:animEffect filter="fade" transition="in">
                                      <p:cBhvr>
                                        <p:cTn dur="500"/>
                                        <p:tgtEl>
                                          <p:spTgt spid="6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7"/>
                                        </p:tgtEl>
                                        <p:attrNameLst>
                                          <p:attrName>style.visibility</p:attrName>
                                        </p:attrNameLst>
                                      </p:cBhvr>
                                      <p:to>
                                        <p:strVal val="visible"/>
                                      </p:to>
                                    </p:set>
                                    <p:animEffect filter="fade" transition="in">
                                      <p:cBhvr>
                                        <p:cTn dur="500"/>
                                        <p:tgtEl>
                                          <p:spTgt spid="6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grpSp>
        <p:nvGrpSpPr>
          <p:cNvPr id="626" name="Google Shape;626;p57"/>
          <p:cNvGrpSpPr/>
          <p:nvPr/>
        </p:nvGrpSpPr>
        <p:grpSpPr>
          <a:xfrm>
            <a:off x="2362200" y="2698425"/>
            <a:ext cx="5953500" cy="2221700"/>
            <a:chOff x="1968" y="2656"/>
            <a:chExt cx="3750" cy="1866"/>
          </a:xfrm>
        </p:grpSpPr>
        <p:grpSp>
          <p:nvGrpSpPr>
            <p:cNvPr id="627" name="Google Shape;627;p57"/>
            <p:cNvGrpSpPr/>
            <p:nvPr/>
          </p:nvGrpSpPr>
          <p:grpSpPr>
            <a:xfrm>
              <a:off x="3120" y="2656"/>
              <a:ext cx="2598" cy="1866"/>
              <a:chOff x="144" y="2560"/>
              <a:chExt cx="2748" cy="1866"/>
            </a:xfrm>
          </p:grpSpPr>
          <p:sp>
            <p:nvSpPr>
              <p:cNvPr id="628" name="Google Shape;628;p57"/>
              <p:cNvSpPr/>
              <p:nvPr/>
            </p:nvSpPr>
            <p:spPr>
              <a:xfrm>
                <a:off x="144" y="2560"/>
                <a:ext cx="2700" cy="1800"/>
              </a:xfrm>
              <a:prstGeom prst="roundRect">
                <a:avLst>
                  <a:gd fmla="val 5917"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Consolas"/>
                  <a:ea typeface="Consolas"/>
                  <a:cs typeface="Consolas"/>
                  <a:sym typeface="Consolas"/>
                </a:endParaRPr>
              </a:p>
            </p:txBody>
          </p:sp>
          <p:sp>
            <p:nvSpPr>
              <p:cNvPr id="629" name="Google Shape;629;p57"/>
              <p:cNvSpPr txBox="1"/>
              <p:nvPr/>
            </p:nvSpPr>
            <p:spPr>
              <a:xfrm>
                <a:off x="192" y="2626"/>
                <a:ext cx="2700" cy="18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typedef struct {</a:t>
                </a:r>
                <a:endParaRPr>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	int * values;</a:t>
                </a:r>
                <a:endParaRPr>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	unsigned int size;</a:t>
                </a:r>
                <a:endParaRPr b="1" sz="2200">
                  <a:solidFill>
                    <a:schemeClr val="dk1"/>
                  </a:solidFill>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	unsigned int dim</a:t>
                </a:r>
                <a:endParaRPr b="1" sz="2200">
                  <a:solidFill>
                    <a:schemeClr val="dk1"/>
                  </a:solidFill>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 Array;</a:t>
                </a:r>
                <a:endParaRPr>
                  <a:latin typeface="Consolas"/>
                  <a:ea typeface="Consolas"/>
                  <a:cs typeface="Consolas"/>
                  <a:sym typeface="Consolas"/>
                </a:endParaRPr>
              </a:p>
              <a:p>
                <a:pPr indent="0" lvl="0" marL="0" marR="0" rtl="0" algn="l">
                  <a:lnSpc>
                    <a:spcPct val="80000"/>
                  </a:lnSpc>
                  <a:spcBef>
                    <a:spcPts val="200"/>
                  </a:spcBef>
                  <a:spcAft>
                    <a:spcPts val="0"/>
                  </a:spcAft>
                  <a:buClr>
                    <a:schemeClr val="dk1"/>
                  </a:buClr>
                  <a:buSzPts val="1000"/>
                  <a:buFont typeface="Times New Roman"/>
                  <a:buNone/>
                </a:pPr>
                <a:r>
                  <a:t/>
                </a:r>
                <a:endParaRPr b="1" sz="1000">
                  <a:solidFill>
                    <a:schemeClr val="dk1"/>
                  </a:solidFill>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Array v;</a:t>
                </a:r>
                <a:endParaRPr b="1" sz="2200">
                  <a:solidFill>
                    <a:schemeClr val="dk1"/>
                  </a:solidFill>
                  <a:latin typeface="Consolas"/>
                  <a:ea typeface="Consolas"/>
                  <a:cs typeface="Consolas"/>
                  <a:sym typeface="Consolas"/>
                </a:endParaRPr>
              </a:p>
            </p:txBody>
          </p:sp>
        </p:grpSp>
        <p:sp>
          <p:nvSpPr>
            <p:cNvPr id="630" name="Google Shape;630;p57"/>
            <p:cNvSpPr/>
            <p:nvPr/>
          </p:nvSpPr>
          <p:spPr>
            <a:xfrm flipH="1" rot="10800000">
              <a:off x="1968" y="3952"/>
              <a:ext cx="918" cy="486"/>
            </a:xfrm>
            <a:custGeom>
              <a:rect b="b" l="l" r="r" t="t"/>
              <a:pathLst>
                <a:path extrusionOk="0" h="21600" w="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onsolas"/>
                <a:ea typeface="Consolas"/>
                <a:cs typeface="Consolas"/>
                <a:sym typeface="Consolas"/>
              </a:endParaRPr>
            </a:p>
          </p:txBody>
        </p:sp>
      </p:grpSp>
      <p:sp>
        <p:nvSpPr>
          <p:cNvPr id="631" name="Google Shape;631;p57"/>
          <p:cNvSpPr txBox="1"/>
          <p:nvPr>
            <p:ph type="title"/>
          </p:nvPr>
        </p:nvSpPr>
        <p:spPr>
          <a:xfrm>
            <a:off x="685800" y="92925"/>
            <a:ext cx="7772400" cy="399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i="1" lang="es-AR" sz="4000"/>
              <a:t>Encapsulamiento</a:t>
            </a:r>
            <a:endParaRPr/>
          </a:p>
        </p:txBody>
      </p:sp>
      <p:sp>
        <p:nvSpPr>
          <p:cNvPr id="632" name="Google Shape;632;p57"/>
          <p:cNvSpPr txBox="1"/>
          <p:nvPr/>
        </p:nvSpPr>
        <p:spPr>
          <a:xfrm>
            <a:off x="151500" y="622275"/>
            <a:ext cx="8862900" cy="20613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chemeClr val="dk1"/>
              </a:buClr>
              <a:buSzPts val="2400"/>
              <a:buFont typeface="Comic Sans MS"/>
              <a:buNone/>
            </a:pPr>
            <a:r>
              <a:rPr lang="es-AR" sz="2400">
                <a:solidFill>
                  <a:schemeClr val="dk1"/>
                </a:solidFill>
                <a:latin typeface="Comic Sans MS"/>
                <a:ea typeface="Comic Sans MS"/>
                <a:cs typeface="Comic Sans MS"/>
                <a:sym typeface="Comic Sans MS"/>
              </a:rPr>
              <a:t>Podemos usar el mismo criterio para vectores dinámicos</a:t>
            </a:r>
            <a:endParaRPr sz="2400">
              <a:solidFill>
                <a:schemeClr val="dk1"/>
              </a:solidFill>
              <a:latin typeface="Comic Sans MS"/>
              <a:ea typeface="Comic Sans MS"/>
              <a:cs typeface="Comic Sans MS"/>
              <a:sym typeface="Comic Sans MS"/>
            </a:endParaRPr>
          </a:p>
          <a:p>
            <a:pPr indent="-381000" lvl="0" marL="457200" marR="0" rtl="0" algn="just">
              <a:spcBef>
                <a:spcPts val="0"/>
              </a:spcBef>
              <a:spcAft>
                <a:spcPts val="0"/>
              </a:spcAft>
              <a:buClr>
                <a:schemeClr val="dk1"/>
              </a:buClr>
              <a:buSzPts val="2400"/>
              <a:buFont typeface="Comic Sans MS"/>
              <a:buChar char="❖"/>
            </a:pPr>
            <a:r>
              <a:rPr lang="es-AR" sz="2400">
                <a:solidFill>
                  <a:schemeClr val="dk1"/>
                </a:solidFill>
                <a:latin typeface="Comic Sans MS"/>
                <a:ea typeface="Comic Sans MS"/>
                <a:cs typeface="Comic Sans MS"/>
                <a:sym typeface="Comic Sans MS"/>
              </a:rPr>
              <a:t>values: los elementos</a:t>
            </a:r>
            <a:endParaRPr sz="2400">
              <a:solidFill>
                <a:schemeClr val="dk1"/>
              </a:solidFill>
              <a:latin typeface="Comic Sans MS"/>
              <a:ea typeface="Comic Sans MS"/>
              <a:cs typeface="Comic Sans MS"/>
              <a:sym typeface="Comic Sans MS"/>
            </a:endParaRPr>
          </a:p>
          <a:p>
            <a:pPr indent="-381000" lvl="0" marL="457200" marR="0" rtl="0" algn="just">
              <a:spcBef>
                <a:spcPts val="0"/>
              </a:spcBef>
              <a:spcAft>
                <a:spcPts val="0"/>
              </a:spcAft>
              <a:buClr>
                <a:schemeClr val="dk1"/>
              </a:buClr>
              <a:buSzPts val="2400"/>
              <a:buFont typeface="Comic Sans MS"/>
              <a:buChar char="❖"/>
            </a:pPr>
            <a:r>
              <a:rPr lang="es-AR" sz="2400">
                <a:solidFill>
                  <a:schemeClr val="dk1"/>
                </a:solidFill>
                <a:latin typeface="Comic Sans MS"/>
                <a:ea typeface="Comic Sans MS"/>
                <a:cs typeface="Comic Sans MS"/>
                <a:sym typeface="Comic Sans MS"/>
              </a:rPr>
              <a:t>size: espacios reservados</a:t>
            </a:r>
            <a:endParaRPr sz="2400">
              <a:solidFill>
                <a:schemeClr val="dk1"/>
              </a:solidFill>
              <a:latin typeface="Comic Sans MS"/>
              <a:ea typeface="Comic Sans MS"/>
              <a:cs typeface="Comic Sans MS"/>
              <a:sym typeface="Comic Sans MS"/>
            </a:endParaRPr>
          </a:p>
          <a:p>
            <a:pPr indent="-381000" lvl="0" marL="457200" marR="0" rtl="0" algn="just">
              <a:spcBef>
                <a:spcPts val="0"/>
              </a:spcBef>
              <a:spcAft>
                <a:spcPts val="0"/>
              </a:spcAft>
              <a:buClr>
                <a:schemeClr val="dk1"/>
              </a:buClr>
              <a:buSzPts val="2400"/>
              <a:buFont typeface="Comic Sans MS"/>
              <a:buChar char="❖"/>
            </a:pPr>
            <a:r>
              <a:rPr lang="es-AR" sz="2400">
                <a:solidFill>
                  <a:schemeClr val="dk1"/>
                </a:solidFill>
                <a:latin typeface="Comic Sans MS"/>
                <a:ea typeface="Comic Sans MS"/>
                <a:cs typeface="Comic Sans MS"/>
                <a:sym typeface="Comic Sans MS"/>
              </a:rPr>
              <a:t>dim: componentes almacenadas</a:t>
            </a:r>
            <a:endParaRPr sz="2400">
              <a:solidFill>
                <a:schemeClr val="dk1"/>
              </a:solidFill>
              <a:latin typeface="Comic Sans MS"/>
              <a:ea typeface="Comic Sans MS"/>
              <a:cs typeface="Comic Sans MS"/>
              <a:sym typeface="Comic Sans MS"/>
            </a:endParaRPr>
          </a:p>
        </p:txBody>
      </p:sp>
      <p:grpSp>
        <p:nvGrpSpPr>
          <p:cNvPr id="633" name="Google Shape;633;p57"/>
          <p:cNvGrpSpPr/>
          <p:nvPr/>
        </p:nvGrpSpPr>
        <p:grpSpPr>
          <a:xfrm>
            <a:off x="381000" y="2343150"/>
            <a:ext cx="3484574" cy="1959751"/>
            <a:chOff x="240" y="2112"/>
            <a:chExt cx="2195" cy="1646"/>
          </a:xfrm>
        </p:grpSpPr>
        <p:grpSp>
          <p:nvGrpSpPr>
            <p:cNvPr id="634" name="Google Shape;634;p57"/>
            <p:cNvGrpSpPr/>
            <p:nvPr/>
          </p:nvGrpSpPr>
          <p:grpSpPr>
            <a:xfrm>
              <a:off x="240" y="2832"/>
              <a:ext cx="2195" cy="926"/>
              <a:chOff x="240" y="2928"/>
              <a:chExt cx="2195" cy="926"/>
            </a:xfrm>
          </p:grpSpPr>
          <p:sp>
            <p:nvSpPr>
              <p:cNvPr id="635" name="Google Shape;635;p57"/>
              <p:cNvSpPr/>
              <p:nvPr/>
            </p:nvSpPr>
            <p:spPr>
              <a:xfrm>
                <a:off x="240" y="2928"/>
                <a:ext cx="2100" cy="900"/>
              </a:xfrm>
              <a:prstGeom prst="roundRect">
                <a:avLst>
                  <a:gd fmla="val 5917"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636" name="Google Shape;636;p57"/>
              <p:cNvSpPr txBox="1"/>
              <p:nvPr/>
            </p:nvSpPr>
            <p:spPr>
              <a:xfrm>
                <a:off x="335" y="2954"/>
                <a:ext cx="2100" cy="9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int * values;</a:t>
                </a:r>
                <a:endParaRPr>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unsigned </a:t>
                </a:r>
                <a:r>
                  <a:rPr b="1" lang="es-AR" sz="2200">
                    <a:solidFill>
                      <a:schemeClr val="dk1"/>
                    </a:solidFill>
                    <a:latin typeface="Consolas"/>
                    <a:ea typeface="Consolas"/>
                    <a:cs typeface="Consolas"/>
                    <a:sym typeface="Consolas"/>
                  </a:rPr>
                  <a:t>int size;</a:t>
                </a:r>
                <a:endParaRPr b="1" sz="2200">
                  <a:solidFill>
                    <a:schemeClr val="dk1"/>
                  </a:solidFill>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unsigned int dim;</a:t>
                </a:r>
                <a:endParaRPr b="1" sz="2200">
                  <a:solidFill>
                    <a:schemeClr val="dk1"/>
                  </a:solidFill>
                  <a:latin typeface="Consolas"/>
                  <a:ea typeface="Consolas"/>
                  <a:cs typeface="Consolas"/>
                  <a:sym typeface="Consolas"/>
                </a:endParaRPr>
              </a:p>
            </p:txBody>
          </p:sp>
        </p:grpSp>
        <p:sp>
          <p:nvSpPr>
            <p:cNvPr id="637" name="Google Shape;637;p57"/>
            <p:cNvSpPr/>
            <p:nvPr/>
          </p:nvSpPr>
          <p:spPr>
            <a:xfrm>
              <a:off x="1152" y="2112"/>
              <a:ext cx="300" cy="600"/>
            </a:xfrm>
            <a:prstGeom prst="downArrow">
              <a:avLst>
                <a:gd fmla="val 47265" name="adj1"/>
                <a:gd fmla="val 25000" name="adj2"/>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3"/>
                                        </p:tgtEl>
                                        <p:attrNameLst>
                                          <p:attrName>style.visibility</p:attrName>
                                        </p:attrNameLst>
                                      </p:cBhvr>
                                      <p:to>
                                        <p:strVal val="visible"/>
                                      </p:to>
                                    </p:set>
                                    <p:animEffect filter="fade" transition="in">
                                      <p:cBhvr>
                                        <p:cTn dur="500"/>
                                        <p:tgtEl>
                                          <p:spTgt spid="6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6"/>
                                        </p:tgtEl>
                                        <p:attrNameLst>
                                          <p:attrName>style.visibility</p:attrName>
                                        </p:attrNameLst>
                                      </p:cBhvr>
                                      <p:to>
                                        <p:strVal val="visible"/>
                                      </p:to>
                                    </p:set>
                                    <p:animEffect filter="fade" transition="in">
                                      <p:cBhvr>
                                        <p:cTn dur="500"/>
                                        <p:tgtEl>
                                          <p:spTgt spid="6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58"/>
          <p:cNvSpPr txBox="1"/>
          <p:nvPr>
            <p:ph type="title"/>
          </p:nvPr>
        </p:nvSpPr>
        <p:spPr>
          <a:xfrm>
            <a:off x="685800" y="342900"/>
            <a:ext cx="7772400" cy="457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i="1" lang="es-AR" sz="4000"/>
              <a:t>Uniones</a:t>
            </a:r>
            <a:endParaRPr/>
          </a:p>
        </p:txBody>
      </p:sp>
      <p:grpSp>
        <p:nvGrpSpPr>
          <p:cNvPr id="643" name="Google Shape;643;p58"/>
          <p:cNvGrpSpPr/>
          <p:nvPr/>
        </p:nvGrpSpPr>
        <p:grpSpPr>
          <a:xfrm>
            <a:off x="76200" y="1314450"/>
            <a:ext cx="8534400" cy="971550"/>
            <a:chOff x="48" y="1344"/>
            <a:chExt cx="5376" cy="816"/>
          </a:xfrm>
        </p:grpSpPr>
        <p:sp>
          <p:nvSpPr>
            <p:cNvPr id="644" name="Google Shape;644;p58"/>
            <p:cNvSpPr txBox="1"/>
            <p:nvPr/>
          </p:nvSpPr>
          <p:spPr>
            <a:xfrm>
              <a:off x="1539" y="1344"/>
              <a:ext cx="3885" cy="748"/>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chemeClr val="dk1"/>
                </a:buClr>
                <a:buSzPts val="2400"/>
                <a:buFont typeface="Arial Black"/>
                <a:buNone/>
              </a:pPr>
              <a:r>
                <a:rPr lang="es-AR" sz="2400">
                  <a:solidFill>
                    <a:schemeClr val="dk1"/>
                  </a:solidFill>
                  <a:latin typeface="Arial Black"/>
                  <a:ea typeface="Arial Black"/>
                  <a:cs typeface="Arial Black"/>
                  <a:sym typeface="Arial Black"/>
                </a:rPr>
                <a:t>Colección de datos </a:t>
              </a:r>
              <a:r>
                <a:rPr lang="es-AR" sz="2400">
                  <a:solidFill>
                    <a:srgbClr val="CC0066"/>
                  </a:solidFill>
                  <a:latin typeface="Arial Black"/>
                  <a:ea typeface="Arial Black"/>
                  <a:cs typeface="Arial Black"/>
                  <a:sym typeface="Arial Black"/>
                </a:rPr>
                <a:t>heterogéneos</a:t>
              </a:r>
              <a:r>
                <a:rPr lang="es-AR" sz="2400">
                  <a:solidFill>
                    <a:schemeClr val="dk1"/>
                  </a:solidFill>
                  <a:latin typeface="Arial Black"/>
                  <a:ea typeface="Arial Black"/>
                  <a:cs typeface="Arial Black"/>
                  <a:sym typeface="Arial Black"/>
                </a:rPr>
                <a:t> y </a:t>
              </a:r>
              <a:r>
                <a:rPr lang="es-AR" sz="2400">
                  <a:solidFill>
                    <a:srgbClr val="CC0066"/>
                  </a:solidFill>
                  <a:latin typeface="Arial Black"/>
                  <a:ea typeface="Arial Black"/>
                  <a:cs typeface="Arial Black"/>
                  <a:sym typeface="Arial Black"/>
                </a:rPr>
                <a:t>sin</a:t>
              </a:r>
              <a:r>
                <a:rPr lang="es-AR" sz="2400">
                  <a:solidFill>
                    <a:schemeClr val="dk1"/>
                  </a:solidFill>
                  <a:latin typeface="Arial Black"/>
                  <a:ea typeface="Arial Black"/>
                  <a:cs typeface="Arial Black"/>
                  <a:sym typeface="Arial Black"/>
                </a:rPr>
                <a:t> </a:t>
              </a:r>
              <a:r>
                <a:rPr lang="es-AR" sz="2400">
                  <a:solidFill>
                    <a:srgbClr val="CC0066"/>
                  </a:solidFill>
                  <a:latin typeface="Arial Black"/>
                  <a:ea typeface="Arial Black"/>
                  <a:cs typeface="Arial Black"/>
                  <a:sym typeface="Arial Black"/>
                </a:rPr>
                <a:t>orden. </a:t>
              </a:r>
              <a:r>
                <a:rPr lang="es-AR" sz="2400">
                  <a:solidFill>
                    <a:schemeClr val="dk1"/>
                  </a:solidFill>
                  <a:latin typeface="Arial Black"/>
                  <a:ea typeface="Arial Black"/>
                  <a:cs typeface="Arial Black"/>
                  <a:sym typeface="Arial Black"/>
                </a:rPr>
                <a:t>Sus elementos se identifican con</a:t>
              </a:r>
              <a:r>
                <a:rPr lang="es-AR" sz="2400">
                  <a:solidFill>
                    <a:srgbClr val="CC0066"/>
                  </a:solidFill>
                  <a:latin typeface="Arial Black"/>
                  <a:ea typeface="Arial Black"/>
                  <a:cs typeface="Arial Black"/>
                  <a:sym typeface="Arial Black"/>
                </a:rPr>
                <a:t> nombres</a:t>
              </a:r>
              <a:endParaRPr sz="2400">
                <a:solidFill>
                  <a:srgbClr val="CC0066"/>
                </a:solidFill>
                <a:latin typeface="Arial Black"/>
                <a:ea typeface="Arial Black"/>
                <a:cs typeface="Arial Black"/>
                <a:sym typeface="Arial Black"/>
              </a:endParaRPr>
            </a:p>
          </p:txBody>
        </p:sp>
        <p:sp>
          <p:nvSpPr>
            <p:cNvPr id="645" name="Google Shape;645;p58"/>
            <p:cNvSpPr/>
            <p:nvPr/>
          </p:nvSpPr>
          <p:spPr>
            <a:xfrm>
              <a:off x="1296" y="1344"/>
              <a:ext cx="240" cy="816"/>
            </a:xfrm>
            <a:prstGeom prst="leftBrace">
              <a:avLst>
                <a:gd fmla="val 28333" name="adj1"/>
                <a:gd fmla="val 50000" name="adj2"/>
              </a:avLst>
            </a:prstGeom>
            <a:noFill/>
            <a:ln cap="flat" cmpd="sng" w="381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646" name="Google Shape;646;p58"/>
            <p:cNvSpPr txBox="1"/>
            <p:nvPr/>
          </p:nvSpPr>
          <p:spPr>
            <a:xfrm>
              <a:off x="48" y="1392"/>
              <a:ext cx="1344" cy="73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800"/>
                <a:buFont typeface="Arial Black"/>
                <a:buNone/>
              </a:pPr>
              <a:r>
                <a:rPr lang="es-AR" sz="2800">
                  <a:solidFill>
                    <a:schemeClr val="dk1"/>
                  </a:solidFill>
                  <a:latin typeface="Arial Black"/>
                  <a:ea typeface="Arial Black"/>
                  <a:cs typeface="Arial Black"/>
                  <a:sym typeface="Arial Black"/>
                </a:rPr>
                <a:t>Registro</a:t>
              </a:r>
              <a:endParaRPr/>
            </a:p>
            <a:p>
              <a:pPr indent="0" lvl="0" marL="0" marR="0" rtl="0" algn="ctr">
                <a:spcBef>
                  <a:spcPts val="1400"/>
                </a:spcBef>
                <a:spcAft>
                  <a:spcPts val="0"/>
                </a:spcAft>
                <a:buClr>
                  <a:schemeClr val="dk1"/>
                </a:buClr>
                <a:buSzPts val="2800"/>
                <a:buFont typeface="Arial Black"/>
                <a:buNone/>
              </a:pPr>
              <a:r>
                <a:rPr lang="es-AR" sz="2800">
                  <a:solidFill>
                    <a:schemeClr val="dk1"/>
                  </a:solidFill>
                  <a:latin typeface="Arial Black"/>
                  <a:ea typeface="Arial Black"/>
                  <a:cs typeface="Arial Black"/>
                  <a:sym typeface="Arial Black"/>
                </a:rPr>
                <a:t>(struct)</a:t>
              </a:r>
              <a:endParaRPr sz="2800">
                <a:solidFill>
                  <a:schemeClr val="dk1"/>
                </a:solidFill>
                <a:latin typeface="Arial Black"/>
                <a:ea typeface="Arial Black"/>
                <a:cs typeface="Arial Black"/>
                <a:sym typeface="Arial Black"/>
              </a:endParaRPr>
            </a:p>
          </p:txBody>
        </p:sp>
      </p:grpSp>
      <p:grpSp>
        <p:nvGrpSpPr>
          <p:cNvPr id="647" name="Google Shape;647;p58"/>
          <p:cNvGrpSpPr/>
          <p:nvPr/>
        </p:nvGrpSpPr>
        <p:grpSpPr>
          <a:xfrm>
            <a:off x="0" y="2686050"/>
            <a:ext cx="8763000" cy="1600200"/>
            <a:chOff x="0" y="2256"/>
            <a:chExt cx="5520" cy="1344"/>
          </a:xfrm>
        </p:grpSpPr>
        <p:sp>
          <p:nvSpPr>
            <p:cNvPr id="648" name="Google Shape;648;p58"/>
            <p:cNvSpPr txBox="1"/>
            <p:nvPr/>
          </p:nvSpPr>
          <p:spPr>
            <a:xfrm>
              <a:off x="1539" y="2256"/>
              <a:ext cx="3885" cy="748"/>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chemeClr val="dk1"/>
                </a:buClr>
                <a:buSzPts val="2400"/>
                <a:buFont typeface="Arial Black"/>
                <a:buNone/>
              </a:pPr>
              <a:r>
                <a:rPr lang="es-AR" sz="2400">
                  <a:solidFill>
                    <a:schemeClr val="dk1"/>
                  </a:solidFill>
                  <a:latin typeface="Arial Black"/>
                  <a:ea typeface="Arial Black"/>
                  <a:cs typeface="Arial Black"/>
                  <a:sym typeface="Arial Black"/>
                </a:rPr>
                <a:t>Colección de datos </a:t>
              </a:r>
              <a:r>
                <a:rPr lang="es-AR" sz="2400">
                  <a:solidFill>
                    <a:srgbClr val="CC0066"/>
                  </a:solidFill>
                  <a:latin typeface="Arial Black"/>
                  <a:ea typeface="Arial Black"/>
                  <a:cs typeface="Arial Black"/>
                  <a:sym typeface="Arial Black"/>
                </a:rPr>
                <a:t>heterogéneos</a:t>
              </a:r>
              <a:r>
                <a:rPr lang="es-AR" sz="2400">
                  <a:solidFill>
                    <a:schemeClr val="dk1"/>
                  </a:solidFill>
                  <a:latin typeface="Arial Black"/>
                  <a:ea typeface="Arial Black"/>
                  <a:cs typeface="Arial Black"/>
                  <a:sym typeface="Arial Black"/>
                </a:rPr>
                <a:t> y </a:t>
              </a:r>
              <a:r>
                <a:rPr lang="es-AR" sz="2400">
                  <a:solidFill>
                    <a:srgbClr val="CC0066"/>
                  </a:solidFill>
                  <a:latin typeface="Arial Black"/>
                  <a:ea typeface="Arial Black"/>
                  <a:cs typeface="Arial Black"/>
                  <a:sym typeface="Arial Black"/>
                </a:rPr>
                <a:t>sin</a:t>
              </a:r>
              <a:r>
                <a:rPr lang="es-AR" sz="2400">
                  <a:solidFill>
                    <a:schemeClr val="dk1"/>
                  </a:solidFill>
                  <a:latin typeface="Arial Black"/>
                  <a:ea typeface="Arial Black"/>
                  <a:cs typeface="Arial Black"/>
                  <a:sym typeface="Arial Black"/>
                </a:rPr>
                <a:t> </a:t>
              </a:r>
              <a:r>
                <a:rPr lang="es-AR" sz="2400">
                  <a:solidFill>
                    <a:srgbClr val="CC0066"/>
                  </a:solidFill>
                  <a:latin typeface="Arial Black"/>
                  <a:ea typeface="Arial Black"/>
                  <a:cs typeface="Arial Black"/>
                  <a:sym typeface="Arial Black"/>
                </a:rPr>
                <a:t>orden. </a:t>
              </a:r>
              <a:r>
                <a:rPr lang="es-AR" sz="2400">
                  <a:solidFill>
                    <a:schemeClr val="dk1"/>
                  </a:solidFill>
                  <a:latin typeface="Arial Black"/>
                  <a:ea typeface="Arial Black"/>
                  <a:cs typeface="Arial Black"/>
                  <a:sym typeface="Arial Black"/>
                </a:rPr>
                <a:t>Sus elementos se identifican con</a:t>
              </a:r>
              <a:r>
                <a:rPr lang="es-AR" sz="2400">
                  <a:solidFill>
                    <a:srgbClr val="CC0066"/>
                  </a:solidFill>
                  <a:latin typeface="Arial Black"/>
                  <a:ea typeface="Arial Black"/>
                  <a:cs typeface="Arial Black"/>
                  <a:sym typeface="Arial Black"/>
                </a:rPr>
                <a:t> nombres</a:t>
              </a:r>
              <a:endParaRPr sz="2400">
                <a:solidFill>
                  <a:srgbClr val="CC0066"/>
                </a:solidFill>
                <a:latin typeface="Arial Black"/>
                <a:ea typeface="Arial Black"/>
                <a:cs typeface="Arial Black"/>
                <a:sym typeface="Arial Black"/>
              </a:endParaRPr>
            </a:p>
          </p:txBody>
        </p:sp>
        <p:sp>
          <p:nvSpPr>
            <p:cNvPr id="649" name="Google Shape;649;p58"/>
            <p:cNvSpPr/>
            <p:nvPr/>
          </p:nvSpPr>
          <p:spPr>
            <a:xfrm>
              <a:off x="1296" y="2256"/>
              <a:ext cx="240" cy="1344"/>
            </a:xfrm>
            <a:prstGeom prst="leftBrace">
              <a:avLst>
                <a:gd fmla="val 46667" name="adj1"/>
                <a:gd fmla="val 50000" name="adj2"/>
              </a:avLst>
            </a:prstGeom>
            <a:noFill/>
            <a:ln cap="flat" cmpd="sng" w="381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650" name="Google Shape;650;p58"/>
            <p:cNvSpPr txBox="1"/>
            <p:nvPr/>
          </p:nvSpPr>
          <p:spPr>
            <a:xfrm>
              <a:off x="0" y="2736"/>
              <a:ext cx="1344" cy="32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800"/>
                <a:buFont typeface="Arial Black"/>
                <a:buNone/>
              </a:pPr>
              <a:r>
                <a:rPr lang="es-AR" sz="2800">
                  <a:solidFill>
                    <a:schemeClr val="dk1"/>
                  </a:solidFill>
                  <a:latin typeface="Arial Black"/>
                  <a:ea typeface="Arial Black"/>
                  <a:cs typeface="Arial Black"/>
                  <a:sym typeface="Arial Black"/>
                </a:rPr>
                <a:t>Uniones</a:t>
              </a:r>
              <a:endParaRPr/>
            </a:p>
          </p:txBody>
        </p:sp>
        <p:sp>
          <p:nvSpPr>
            <p:cNvPr id="651" name="Google Shape;651;p58"/>
            <p:cNvSpPr txBox="1"/>
            <p:nvPr/>
          </p:nvSpPr>
          <p:spPr>
            <a:xfrm>
              <a:off x="1392" y="2928"/>
              <a:ext cx="4128" cy="51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C0066"/>
                </a:buClr>
                <a:buSzPts val="2400"/>
                <a:buFont typeface="Arial Black"/>
                <a:buNone/>
              </a:pPr>
              <a:r>
                <a:rPr lang="es-AR" sz="2400">
                  <a:solidFill>
                    <a:srgbClr val="CC0066"/>
                  </a:solidFill>
                  <a:latin typeface="Arial Black"/>
                  <a:ea typeface="Arial Black"/>
                  <a:cs typeface="Arial Black"/>
                  <a:sym typeface="Arial Black"/>
                </a:rPr>
                <a:t>+</a:t>
              </a:r>
              <a:endParaRPr/>
            </a:p>
            <a:p>
              <a:pPr indent="0" lvl="0" marL="0" marR="0" rtl="0" algn="ctr">
                <a:spcBef>
                  <a:spcPts val="0"/>
                </a:spcBef>
                <a:spcAft>
                  <a:spcPts val="0"/>
                </a:spcAft>
                <a:buClr>
                  <a:srgbClr val="CC0066"/>
                </a:buClr>
                <a:buSzPts val="2400"/>
                <a:buFont typeface="Arial Black"/>
                <a:buNone/>
              </a:pPr>
              <a:r>
                <a:rPr lang="es-AR" sz="2400" u="sng">
                  <a:solidFill>
                    <a:srgbClr val="CC0066"/>
                  </a:solidFill>
                  <a:latin typeface="Arial Black"/>
                  <a:ea typeface="Arial Black"/>
                  <a:cs typeface="Arial Black"/>
                  <a:sym typeface="Arial Black"/>
                </a:rPr>
                <a:t>Sus elementos NO pueden coexistir</a:t>
              </a:r>
              <a:endParaRPr sz="2400" u="sng">
                <a:solidFill>
                  <a:srgbClr val="CC0066"/>
                </a:solidFill>
                <a:latin typeface="Arial Black"/>
                <a:ea typeface="Arial Black"/>
                <a:cs typeface="Arial Black"/>
                <a:sym typeface="Arial Black"/>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47"/>
                                        </p:tgtEl>
                                        <p:attrNameLst>
                                          <p:attrName>style.visibility</p:attrName>
                                        </p:attrNameLst>
                                      </p:cBhvr>
                                      <p:to>
                                        <p:strVal val="visible"/>
                                      </p:to>
                                    </p:set>
                                    <p:anim calcmode="lin" valueType="num">
                                      <p:cBhvr additive="base">
                                        <p:cTn dur="500"/>
                                        <p:tgtEl>
                                          <p:spTgt spid="64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grpSp>
        <p:nvGrpSpPr>
          <p:cNvPr id="656" name="Google Shape;656;p59"/>
          <p:cNvGrpSpPr/>
          <p:nvPr/>
        </p:nvGrpSpPr>
        <p:grpSpPr>
          <a:xfrm>
            <a:off x="457200" y="2025249"/>
            <a:ext cx="8153400" cy="2906150"/>
            <a:chOff x="144" y="1872"/>
            <a:chExt cx="5424" cy="2091"/>
          </a:xfrm>
        </p:grpSpPr>
        <p:sp>
          <p:nvSpPr>
            <p:cNvPr id="657" name="Google Shape;657;p59"/>
            <p:cNvSpPr/>
            <p:nvPr/>
          </p:nvSpPr>
          <p:spPr>
            <a:xfrm>
              <a:off x="144" y="1872"/>
              <a:ext cx="5424" cy="2091"/>
            </a:xfrm>
            <a:prstGeom prst="roundRect">
              <a:avLst>
                <a:gd fmla="val 5917" name="adj"/>
              </a:avLst>
            </a:prstGeom>
            <a:solidFill>
              <a:srgbClr val="99FFCC"/>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658" name="Google Shape;658;p59"/>
            <p:cNvSpPr txBox="1"/>
            <p:nvPr/>
          </p:nvSpPr>
          <p:spPr>
            <a:xfrm>
              <a:off x="192" y="2427"/>
              <a:ext cx="4080" cy="1392"/>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400"/>
                <a:buFont typeface="Courier New"/>
                <a:buNone/>
              </a:pPr>
              <a:r>
                <a:rPr b="1" lang="es-AR" sz="2400">
                  <a:solidFill>
                    <a:schemeClr val="dk1"/>
                  </a:solidFill>
                  <a:latin typeface="Courier New"/>
                  <a:ea typeface="Courier New"/>
                  <a:cs typeface="Courier New"/>
                  <a:sym typeface="Courier New"/>
                </a:rPr>
                <a:t>union nombreUnion{</a:t>
              </a:r>
              <a:endParaRPr/>
            </a:p>
            <a:p>
              <a:pPr indent="0" lvl="0" marL="0" marR="0" rtl="0" algn="l">
                <a:lnSpc>
                  <a:spcPct val="80000"/>
                </a:lnSpc>
                <a:spcBef>
                  <a:spcPts val="480"/>
                </a:spcBef>
                <a:spcAft>
                  <a:spcPts val="0"/>
                </a:spcAft>
                <a:buClr>
                  <a:schemeClr val="dk1"/>
                </a:buClr>
                <a:buSzPts val="2400"/>
                <a:buFont typeface="Courier New"/>
                <a:buNone/>
              </a:pPr>
              <a:r>
                <a:rPr b="1" lang="es-AR" sz="2400">
                  <a:solidFill>
                    <a:schemeClr val="dk1"/>
                  </a:solidFill>
                  <a:latin typeface="Courier New"/>
                  <a:ea typeface="Courier New"/>
                  <a:cs typeface="Courier New"/>
                  <a:sym typeface="Courier New"/>
                </a:rPr>
                <a:t>	tipo1	  nombreCampo1;</a:t>
              </a:r>
              <a:endParaRPr/>
            </a:p>
            <a:p>
              <a:pPr indent="0" lvl="0" marL="0" marR="0" rtl="0" algn="l">
                <a:lnSpc>
                  <a:spcPct val="80000"/>
                </a:lnSpc>
                <a:spcBef>
                  <a:spcPts val="480"/>
                </a:spcBef>
                <a:spcAft>
                  <a:spcPts val="0"/>
                </a:spcAft>
                <a:buClr>
                  <a:schemeClr val="dk1"/>
                </a:buClr>
                <a:buSzPts val="2400"/>
                <a:buFont typeface="Courier New"/>
                <a:buNone/>
              </a:pPr>
              <a:r>
                <a:rPr b="1" lang="es-AR" sz="2400">
                  <a:solidFill>
                    <a:schemeClr val="dk1"/>
                  </a:solidFill>
                  <a:latin typeface="Courier New"/>
                  <a:ea typeface="Courier New"/>
                  <a:cs typeface="Courier New"/>
                  <a:sym typeface="Courier New"/>
                </a:rPr>
                <a:t>	tipo2  nombreCampo2;</a:t>
              </a:r>
              <a:endParaRPr/>
            </a:p>
            <a:p>
              <a:pPr indent="0" lvl="0" marL="0" marR="0" rtl="0" algn="l">
                <a:lnSpc>
                  <a:spcPct val="80000"/>
                </a:lnSpc>
                <a:spcBef>
                  <a:spcPts val="480"/>
                </a:spcBef>
                <a:spcAft>
                  <a:spcPts val="0"/>
                </a:spcAft>
                <a:buClr>
                  <a:schemeClr val="dk1"/>
                </a:buClr>
                <a:buSzPts val="2400"/>
                <a:buFont typeface="Courier New"/>
                <a:buNone/>
              </a:pPr>
              <a:r>
                <a:rPr b="1" lang="es-AR" sz="2400">
                  <a:solidFill>
                    <a:schemeClr val="dk1"/>
                  </a:solidFill>
                  <a:latin typeface="Courier New"/>
                  <a:ea typeface="Courier New"/>
                  <a:cs typeface="Courier New"/>
                  <a:sym typeface="Courier New"/>
                </a:rPr>
                <a:t>	...</a:t>
              </a:r>
              <a:endParaRPr/>
            </a:p>
            <a:p>
              <a:pPr indent="0" lvl="0" marL="0" marR="0" rtl="0" algn="l">
                <a:lnSpc>
                  <a:spcPct val="80000"/>
                </a:lnSpc>
                <a:spcBef>
                  <a:spcPts val="480"/>
                </a:spcBef>
                <a:spcAft>
                  <a:spcPts val="0"/>
                </a:spcAft>
                <a:buClr>
                  <a:schemeClr val="dk1"/>
                </a:buClr>
                <a:buSzPts val="2400"/>
                <a:buFont typeface="Courier New"/>
                <a:buNone/>
              </a:pPr>
              <a:r>
                <a:rPr b="1" lang="es-AR" sz="2400">
                  <a:solidFill>
                    <a:schemeClr val="dk1"/>
                  </a:solidFill>
                  <a:latin typeface="Courier New"/>
                  <a:ea typeface="Courier New"/>
                  <a:cs typeface="Courier New"/>
                  <a:sym typeface="Courier New"/>
                </a:rPr>
                <a:t>	tipoN  nombreCampoN;</a:t>
              </a:r>
              <a:endParaRPr/>
            </a:p>
            <a:p>
              <a:pPr indent="0" lvl="0" marL="0" marR="0" rtl="0" algn="l">
                <a:lnSpc>
                  <a:spcPct val="80000"/>
                </a:lnSpc>
                <a:spcBef>
                  <a:spcPts val="480"/>
                </a:spcBef>
                <a:spcAft>
                  <a:spcPts val="0"/>
                </a:spcAft>
                <a:buClr>
                  <a:schemeClr val="dk1"/>
                </a:buClr>
                <a:buSzPts val="2400"/>
                <a:buFont typeface="Courier New"/>
                <a:buNone/>
              </a:pPr>
              <a:r>
                <a:rPr b="1" lang="es-AR" sz="2400">
                  <a:solidFill>
                    <a:schemeClr val="dk1"/>
                  </a:solidFill>
                  <a:latin typeface="Courier New"/>
                  <a:ea typeface="Courier New"/>
                  <a:cs typeface="Courier New"/>
                  <a:sym typeface="Courier New"/>
                </a:rPr>
                <a:t>};</a:t>
              </a:r>
              <a:endParaRPr b="1" sz="2400">
                <a:solidFill>
                  <a:schemeClr val="dk1"/>
                </a:solidFill>
                <a:latin typeface="Courier New"/>
                <a:ea typeface="Courier New"/>
                <a:cs typeface="Courier New"/>
                <a:sym typeface="Courier New"/>
              </a:endParaRPr>
            </a:p>
          </p:txBody>
        </p:sp>
        <p:sp>
          <p:nvSpPr>
            <p:cNvPr id="659" name="Google Shape;659;p59"/>
            <p:cNvSpPr txBox="1"/>
            <p:nvPr/>
          </p:nvSpPr>
          <p:spPr>
            <a:xfrm>
              <a:off x="192" y="1947"/>
              <a:ext cx="4800" cy="2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Times New Roman"/>
                <a:buNone/>
              </a:pPr>
              <a:r>
                <a:rPr lang="es-AR" sz="2400">
                  <a:solidFill>
                    <a:schemeClr val="dk1"/>
                  </a:solidFill>
                  <a:latin typeface="Times New Roman"/>
                  <a:ea typeface="Times New Roman"/>
                  <a:cs typeface="Times New Roman"/>
                  <a:sym typeface="Times New Roman"/>
                </a:rPr>
                <a:t>Sintaxis de Declaración de una union:</a:t>
              </a:r>
              <a:endParaRPr sz="2400">
                <a:solidFill>
                  <a:schemeClr val="dk1"/>
                </a:solidFill>
                <a:latin typeface="Times New Roman"/>
                <a:ea typeface="Times New Roman"/>
                <a:cs typeface="Times New Roman"/>
                <a:sym typeface="Times New Roman"/>
              </a:endParaRPr>
            </a:p>
          </p:txBody>
        </p:sp>
      </p:grpSp>
      <p:sp>
        <p:nvSpPr>
          <p:cNvPr id="660" name="Google Shape;660;p59"/>
          <p:cNvSpPr txBox="1"/>
          <p:nvPr/>
        </p:nvSpPr>
        <p:spPr>
          <a:xfrm>
            <a:off x="228600" y="66675"/>
            <a:ext cx="8490300" cy="14382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rgbClr val="800080"/>
              </a:buClr>
              <a:buSzPts val="2400"/>
              <a:buFont typeface="Arial Black"/>
              <a:buNone/>
            </a:pPr>
            <a:r>
              <a:rPr lang="es-AR" sz="2400">
                <a:solidFill>
                  <a:srgbClr val="800080"/>
                </a:solidFill>
                <a:latin typeface="Arial Black"/>
                <a:ea typeface="Arial Black"/>
                <a:cs typeface="Arial Black"/>
                <a:sym typeface="Arial Black"/>
              </a:rPr>
              <a:t>Una </a:t>
            </a:r>
            <a:r>
              <a:rPr i="1" lang="es-AR" sz="2400">
                <a:solidFill>
                  <a:srgbClr val="800080"/>
                </a:solidFill>
                <a:latin typeface="Arial Black"/>
                <a:ea typeface="Arial Black"/>
                <a:cs typeface="Arial Black"/>
                <a:sym typeface="Arial Black"/>
              </a:rPr>
              <a:t>union</a:t>
            </a:r>
            <a:r>
              <a:rPr lang="es-AR" sz="2400">
                <a:solidFill>
                  <a:srgbClr val="800080"/>
                </a:solidFill>
                <a:latin typeface="Arial Black"/>
                <a:ea typeface="Arial Black"/>
                <a:cs typeface="Arial Black"/>
                <a:sym typeface="Arial Black"/>
              </a:rPr>
              <a:t> tiene un nombre asociado y está compuesta por un conjunto de </a:t>
            </a:r>
            <a:r>
              <a:rPr i="1" lang="es-AR" sz="2400">
                <a:solidFill>
                  <a:srgbClr val="800080"/>
                </a:solidFill>
                <a:latin typeface="Arial Black"/>
                <a:ea typeface="Arial Black"/>
                <a:cs typeface="Arial Black"/>
                <a:sym typeface="Arial Black"/>
              </a:rPr>
              <a:t>miembros</a:t>
            </a:r>
            <a:r>
              <a:rPr lang="es-AR" sz="2400">
                <a:solidFill>
                  <a:srgbClr val="800080"/>
                </a:solidFill>
                <a:latin typeface="Arial Black"/>
                <a:ea typeface="Arial Black"/>
                <a:cs typeface="Arial Black"/>
                <a:sym typeface="Arial Black"/>
              </a:rPr>
              <a:t> o </a:t>
            </a:r>
            <a:r>
              <a:rPr i="1" lang="es-AR" sz="2400">
                <a:solidFill>
                  <a:srgbClr val="800080"/>
                </a:solidFill>
                <a:latin typeface="Arial Black"/>
                <a:ea typeface="Arial Black"/>
                <a:cs typeface="Arial Black"/>
                <a:sym typeface="Arial Black"/>
              </a:rPr>
              <a:t>campos</a:t>
            </a:r>
            <a:r>
              <a:rPr lang="es-AR" sz="2400">
                <a:solidFill>
                  <a:srgbClr val="800080"/>
                </a:solidFill>
                <a:latin typeface="Arial Black"/>
                <a:ea typeface="Arial Black"/>
                <a:cs typeface="Arial Black"/>
                <a:sym typeface="Arial Black"/>
              </a:rPr>
              <a:t>. Cada uno de ellos puede ser de cualquier tipo (incluyendo arreglos y también estructuras)</a:t>
            </a:r>
            <a:endParaRPr sz="2400">
              <a:solidFill>
                <a:srgbClr val="800080"/>
              </a:solidFill>
              <a:latin typeface="Arial Black"/>
              <a:ea typeface="Arial Black"/>
              <a:cs typeface="Arial Black"/>
              <a:sym typeface="Arial Black"/>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grpSp>
        <p:nvGrpSpPr>
          <p:cNvPr id="665" name="Google Shape;665;p60"/>
          <p:cNvGrpSpPr/>
          <p:nvPr/>
        </p:nvGrpSpPr>
        <p:grpSpPr>
          <a:xfrm>
            <a:off x="304800" y="151500"/>
            <a:ext cx="8305800" cy="2143750"/>
            <a:chOff x="144" y="2688"/>
            <a:chExt cx="2640" cy="1392"/>
          </a:xfrm>
        </p:grpSpPr>
        <p:sp>
          <p:nvSpPr>
            <p:cNvPr id="666" name="Google Shape;666;p60"/>
            <p:cNvSpPr/>
            <p:nvPr/>
          </p:nvSpPr>
          <p:spPr>
            <a:xfrm>
              <a:off x="144" y="2688"/>
              <a:ext cx="2640" cy="1392"/>
            </a:xfrm>
            <a:prstGeom prst="roundRect">
              <a:avLst>
                <a:gd fmla="val 5917"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667" name="Google Shape;667;p60"/>
            <p:cNvSpPr txBox="1"/>
            <p:nvPr/>
          </p:nvSpPr>
          <p:spPr>
            <a:xfrm>
              <a:off x="192" y="2754"/>
              <a:ext cx="2496" cy="1282"/>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union tipoNro {</a:t>
              </a:r>
              <a:endParaRPr>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	int entero;</a:t>
              </a:r>
              <a:endParaRPr>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	long enteroLargo;</a:t>
              </a:r>
              <a:endParaRPr>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	float realSimple;</a:t>
              </a:r>
              <a:endParaRPr>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	double realDoble;</a:t>
              </a:r>
              <a:endParaRPr>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200">
                  <a:solidFill>
                    <a:schemeClr val="dk1"/>
                  </a:solidFill>
                  <a:latin typeface="Consolas"/>
                  <a:ea typeface="Consolas"/>
                  <a:cs typeface="Consolas"/>
                  <a:sym typeface="Consolas"/>
                </a:rPr>
                <a:t>};</a:t>
              </a:r>
              <a:endParaRPr b="1" sz="2200">
                <a:solidFill>
                  <a:schemeClr val="dk1"/>
                </a:solidFill>
                <a:latin typeface="Consolas"/>
                <a:ea typeface="Consolas"/>
                <a:cs typeface="Consolas"/>
                <a:sym typeface="Consolas"/>
              </a:endParaRPr>
            </a:p>
          </p:txBody>
        </p:sp>
      </p:grpSp>
      <p:sp>
        <p:nvSpPr>
          <p:cNvPr id="668" name="Google Shape;668;p60"/>
          <p:cNvSpPr txBox="1"/>
          <p:nvPr/>
        </p:nvSpPr>
        <p:spPr>
          <a:xfrm>
            <a:off x="1100150" y="2526500"/>
            <a:ext cx="6588600" cy="616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Courier New"/>
              <a:buNone/>
            </a:pPr>
            <a:r>
              <a:rPr b="1" lang="es-AR" sz="2400">
                <a:solidFill>
                  <a:schemeClr val="dk1"/>
                </a:solidFill>
                <a:latin typeface="Consolas"/>
                <a:ea typeface="Consolas"/>
                <a:cs typeface="Consolas"/>
                <a:sym typeface="Consolas"/>
              </a:rPr>
              <a:t>union tipoNro</a:t>
            </a:r>
            <a:r>
              <a:rPr lang="es-AR" sz="2400">
                <a:solidFill>
                  <a:schemeClr val="dk1"/>
                </a:solidFill>
                <a:latin typeface="Arial Black"/>
                <a:ea typeface="Arial Black"/>
                <a:cs typeface="Arial Black"/>
                <a:sym typeface="Arial Black"/>
              </a:rPr>
              <a:t> es un </a:t>
            </a:r>
            <a:r>
              <a:rPr lang="es-AR" sz="2400" u="sng">
                <a:solidFill>
                  <a:schemeClr val="dk1"/>
                </a:solidFill>
                <a:latin typeface="Arial Black"/>
                <a:ea typeface="Arial Black"/>
                <a:cs typeface="Arial Black"/>
                <a:sym typeface="Arial Black"/>
              </a:rPr>
              <a:t>nuevo tipo</a:t>
            </a:r>
            <a:r>
              <a:rPr lang="es-AR" sz="2400">
                <a:solidFill>
                  <a:schemeClr val="dk1"/>
                </a:solidFill>
                <a:latin typeface="Arial Black"/>
                <a:ea typeface="Arial Black"/>
                <a:cs typeface="Arial Black"/>
                <a:sym typeface="Arial Black"/>
              </a:rPr>
              <a:t>, </a:t>
            </a:r>
            <a:r>
              <a:rPr lang="es-AR" sz="2400" u="sng">
                <a:solidFill>
                  <a:schemeClr val="dk1"/>
                </a:solidFill>
                <a:latin typeface="Arial Black"/>
                <a:ea typeface="Arial Black"/>
                <a:cs typeface="Arial Black"/>
                <a:sym typeface="Arial Black"/>
              </a:rPr>
              <a:t>no</a:t>
            </a:r>
            <a:r>
              <a:rPr lang="es-AR" sz="2400">
                <a:solidFill>
                  <a:schemeClr val="dk1"/>
                </a:solidFill>
                <a:latin typeface="Arial Black"/>
                <a:ea typeface="Arial Black"/>
                <a:cs typeface="Arial Black"/>
                <a:sym typeface="Arial Black"/>
              </a:rPr>
              <a:t> una variable.</a:t>
            </a:r>
            <a:endParaRPr sz="2400">
              <a:solidFill>
                <a:schemeClr val="dk1"/>
              </a:solidFill>
              <a:latin typeface="Arial Black"/>
              <a:ea typeface="Arial Black"/>
              <a:cs typeface="Arial Black"/>
              <a:sym typeface="Arial Black"/>
            </a:endParaRPr>
          </a:p>
        </p:txBody>
      </p:sp>
      <p:grpSp>
        <p:nvGrpSpPr>
          <p:cNvPr id="669" name="Google Shape;669;p60"/>
          <p:cNvGrpSpPr/>
          <p:nvPr/>
        </p:nvGrpSpPr>
        <p:grpSpPr>
          <a:xfrm>
            <a:off x="2286000" y="3314700"/>
            <a:ext cx="4495800" cy="1144191"/>
            <a:chOff x="3264" y="3264"/>
            <a:chExt cx="2256" cy="655"/>
          </a:xfrm>
        </p:grpSpPr>
        <p:sp>
          <p:nvSpPr>
            <p:cNvPr id="670" name="Google Shape;670;p60"/>
            <p:cNvSpPr/>
            <p:nvPr/>
          </p:nvSpPr>
          <p:spPr>
            <a:xfrm>
              <a:off x="4080" y="3264"/>
              <a:ext cx="480" cy="384"/>
            </a:xfrm>
            <a:prstGeom prst="downArrow">
              <a:avLst>
                <a:gd fmla="val 50000" name="adj1"/>
                <a:gd fmla="val 25000" name="adj2"/>
              </a:avLst>
            </a:prstGeom>
            <a:solidFill>
              <a:srgbClr val="CC99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671" name="Google Shape;671;p60"/>
            <p:cNvSpPr txBox="1"/>
            <p:nvPr/>
          </p:nvSpPr>
          <p:spPr>
            <a:xfrm>
              <a:off x="3264" y="3696"/>
              <a:ext cx="2256" cy="223"/>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800"/>
                <a:buFont typeface="Arial Black"/>
                <a:buNone/>
              </a:pPr>
              <a:r>
                <a:rPr lang="es-AR" sz="2800">
                  <a:solidFill>
                    <a:schemeClr val="dk1"/>
                  </a:solidFill>
                  <a:latin typeface="Arial Black"/>
                  <a:ea typeface="Arial Black"/>
                  <a:cs typeface="Arial Black"/>
                  <a:sym typeface="Arial Black"/>
                </a:rPr>
                <a:t>No reserva memoria</a:t>
              </a:r>
              <a:endParaRPr sz="2800">
                <a:solidFill>
                  <a:schemeClr val="dk1"/>
                </a:solidFill>
                <a:latin typeface="Arial Black"/>
                <a:ea typeface="Arial Black"/>
                <a:cs typeface="Arial Black"/>
                <a:sym typeface="Arial Black"/>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68"/>
                                        </p:tgtEl>
                                        <p:attrNameLst>
                                          <p:attrName>style.visibility</p:attrName>
                                        </p:attrNameLst>
                                      </p:cBhvr>
                                      <p:to>
                                        <p:strVal val="visible"/>
                                      </p:to>
                                    </p:set>
                                    <p:anim calcmode="lin" valueType="num">
                                      <p:cBhvr additive="base">
                                        <p:cTn dur="500"/>
                                        <p:tgtEl>
                                          <p:spTgt spid="668"/>
                                        </p:tgtEl>
                                        <p:attrNameLst>
                                          <p:attrName>ppt_w</p:attrName>
                                        </p:attrNameLst>
                                      </p:cBhvr>
                                      <p:tavLst>
                                        <p:tav fmla="" tm="0">
                                          <p:val>
                                            <p:strVal val="0"/>
                                          </p:val>
                                        </p:tav>
                                        <p:tav fmla="" tm="100000">
                                          <p:val>
                                            <p:strVal val="#ppt_w"/>
                                          </p:val>
                                        </p:tav>
                                      </p:tavLst>
                                    </p:anim>
                                    <p:anim calcmode="lin" valueType="num">
                                      <p:cBhvr additive="base">
                                        <p:cTn dur="500"/>
                                        <p:tgtEl>
                                          <p:spTgt spid="66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
                                        </p:tgtEl>
                                        <p:attrNameLst>
                                          <p:attrName>style.visibility</p:attrName>
                                        </p:attrNameLst>
                                      </p:cBhvr>
                                      <p:to>
                                        <p:strVal val="visible"/>
                                      </p:to>
                                    </p:set>
                                    <p:animEffect filter="fade" transition="in">
                                      <p:cBhvr>
                                        <p:cTn dur="500"/>
                                        <p:tgtEl>
                                          <p:spTgt spid="6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61"/>
          <p:cNvSpPr txBox="1"/>
          <p:nvPr>
            <p:ph type="title"/>
          </p:nvPr>
        </p:nvSpPr>
        <p:spPr>
          <a:xfrm>
            <a:off x="228600" y="57150"/>
            <a:ext cx="8686800" cy="399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i="1" lang="es-AR" sz="3400"/>
              <a:t>Declaración de una variable de tipo union</a:t>
            </a:r>
            <a:endParaRPr/>
          </a:p>
        </p:txBody>
      </p:sp>
      <p:grpSp>
        <p:nvGrpSpPr>
          <p:cNvPr id="677" name="Google Shape;677;p61"/>
          <p:cNvGrpSpPr/>
          <p:nvPr/>
        </p:nvGrpSpPr>
        <p:grpSpPr>
          <a:xfrm>
            <a:off x="190500" y="446074"/>
            <a:ext cx="8572500" cy="1943100"/>
            <a:chOff x="96" y="654"/>
            <a:chExt cx="5400" cy="1533"/>
          </a:xfrm>
        </p:grpSpPr>
        <p:grpSp>
          <p:nvGrpSpPr>
            <p:cNvPr id="678" name="Google Shape;678;p61"/>
            <p:cNvGrpSpPr/>
            <p:nvPr/>
          </p:nvGrpSpPr>
          <p:grpSpPr>
            <a:xfrm>
              <a:off x="96" y="654"/>
              <a:ext cx="5400" cy="1533"/>
              <a:chOff x="96" y="654"/>
              <a:chExt cx="5400" cy="1533"/>
            </a:xfrm>
          </p:grpSpPr>
          <p:sp>
            <p:nvSpPr>
              <p:cNvPr id="679" name="Google Shape;679;p61"/>
              <p:cNvSpPr/>
              <p:nvPr/>
            </p:nvSpPr>
            <p:spPr>
              <a:xfrm>
                <a:off x="96" y="687"/>
                <a:ext cx="5400" cy="1500"/>
              </a:xfrm>
              <a:prstGeom prst="roundRect">
                <a:avLst>
                  <a:gd fmla="val 5917" name="adj"/>
                </a:avLst>
              </a:prstGeom>
              <a:solidFill>
                <a:srgbClr val="99FFCC"/>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680" name="Google Shape;680;p61"/>
              <p:cNvSpPr txBox="1"/>
              <p:nvPr/>
            </p:nvSpPr>
            <p:spPr>
              <a:xfrm>
                <a:off x="144" y="654"/>
                <a:ext cx="4200" cy="12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200"/>
                  <a:buFont typeface="Courier New"/>
                  <a:buNone/>
                </a:pPr>
                <a:r>
                  <a:rPr b="1" lang="es-AR" sz="2000">
                    <a:solidFill>
                      <a:schemeClr val="dk1"/>
                    </a:solidFill>
                    <a:latin typeface="Consolas"/>
                    <a:ea typeface="Consolas"/>
                    <a:cs typeface="Consolas"/>
                    <a:sym typeface="Consolas"/>
                  </a:rPr>
                  <a:t>union nombreUnion{</a:t>
                </a:r>
                <a:endParaRPr sz="12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000">
                    <a:solidFill>
                      <a:schemeClr val="dk1"/>
                    </a:solidFill>
                    <a:latin typeface="Consolas"/>
                    <a:ea typeface="Consolas"/>
                    <a:cs typeface="Consolas"/>
                    <a:sym typeface="Consolas"/>
                  </a:rPr>
                  <a:t>	tipo1	  nombreCampo1;</a:t>
                </a:r>
                <a:endParaRPr sz="12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000">
                    <a:solidFill>
                      <a:schemeClr val="dk1"/>
                    </a:solidFill>
                    <a:latin typeface="Consolas"/>
                    <a:ea typeface="Consolas"/>
                    <a:cs typeface="Consolas"/>
                    <a:sym typeface="Consolas"/>
                  </a:rPr>
                  <a:t>	tipo2  nombreCampo2;</a:t>
                </a:r>
                <a:endParaRPr sz="12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000">
                    <a:solidFill>
                      <a:schemeClr val="dk1"/>
                    </a:solidFill>
                    <a:latin typeface="Consolas"/>
                    <a:ea typeface="Consolas"/>
                    <a:cs typeface="Consolas"/>
                    <a:sym typeface="Consolas"/>
                  </a:rPr>
                  <a:t>	...</a:t>
                </a:r>
                <a:endParaRPr sz="12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000">
                    <a:solidFill>
                      <a:schemeClr val="dk1"/>
                    </a:solidFill>
                    <a:latin typeface="Consolas"/>
                    <a:ea typeface="Consolas"/>
                    <a:cs typeface="Consolas"/>
                    <a:sym typeface="Consolas"/>
                  </a:rPr>
                  <a:t>	tipoN  nombreCampoN;</a:t>
                </a:r>
                <a:endParaRPr sz="12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000">
                    <a:solidFill>
                      <a:schemeClr val="dk1"/>
                    </a:solidFill>
                    <a:latin typeface="Consolas"/>
                    <a:ea typeface="Consolas"/>
                    <a:cs typeface="Consolas"/>
                    <a:sym typeface="Consolas"/>
                  </a:rPr>
                  <a:t>} nombreVariable;</a:t>
                </a:r>
                <a:endParaRPr b="1" sz="2000">
                  <a:solidFill>
                    <a:schemeClr val="dk1"/>
                  </a:solidFill>
                  <a:latin typeface="Consolas"/>
                  <a:ea typeface="Consolas"/>
                  <a:cs typeface="Consolas"/>
                  <a:sym typeface="Consolas"/>
                </a:endParaRPr>
              </a:p>
            </p:txBody>
          </p:sp>
        </p:grpSp>
        <p:sp>
          <p:nvSpPr>
            <p:cNvPr id="681" name="Google Shape;681;p61"/>
            <p:cNvSpPr/>
            <p:nvPr/>
          </p:nvSpPr>
          <p:spPr>
            <a:xfrm>
              <a:off x="3600" y="1248"/>
              <a:ext cx="1728" cy="432"/>
            </a:xfrm>
            <a:prstGeom prst="rect">
              <a:avLst/>
            </a:prstGeom>
          </p:spPr>
          <p:txBody>
            <a:bodyPr>
              <a:prstTxWarp prst="textPlain"/>
            </a:bodyPr>
            <a:lstStyle/>
            <a:p>
              <a:pPr lvl="0" algn="ctr"/>
              <a:r>
                <a:rPr b="0" i="0">
                  <a:ln cap="flat" cmpd="sng" w="19050">
                    <a:solidFill>
                      <a:srgbClr val="99CCFF"/>
                    </a:solidFill>
                    <a:prstDash val="solid"/>
                    <a:round/>
                    <a:headEnd len="sm" w="sm" type="none"/>
                    <a:tailEnd len="sm" w="sm" type="none"/>
                  </a:ln>
                  <a:solidFill>
                    <a:srgbClr val="0066CC"/>
                  </a:solidFill>
                  <a:latin typeface="Impact"/>
                </a:rPr>
                <a:t>Alternativa 1</a:t>
              </a:r>
            </a:p>
          </p:txBody>
        </p:sp>
      </p:grpSp>
      <p:grpSp>
        <p:nvGrpSpPr>
          <p:cNvPr id="682" name="Google Shape;682;p61"/>
          <p:cNvGrpSpPr/>
          <p:nvPr/>
        </p:nvGrpSpPr>
        <p:grpSpPr>
          <a:xfrm>
            <a:off x="228600" y="2457450"/>
            <a:ext cx="8572500" cy="2143125"/>
            <a:chOff x="144" y="2256"/>
            <a:chExt cx="5400" cy="1800"/>
          </a:xfrm>
        </p:grpSpPr>
        <p:sp>
          <p:nvSpPr>
            <p:cNvPr id="683" name="Google Shape;683;p61"/>
            <p:cNvSpPr/>
            <p:nvPr/>
          </p:nvSpPr>
          <p:spPr>
            <a:xfrm>
              <a:off x="144" y="2256"/>
              <a:ext cx="5400" cy="1800"/>
            </a:xfrm>
            <a:prstGeom prst="roundRect">
              <a:avLst>
                <a:gd fmla="val 5917" name="adj"/>
              </a:avLst>
            </a:prstGeom>
            <a:solidFill>
              <a:srgbClr val="99FFCC"/>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684" name="Google Shape;684;p61"/>
            <p:cNvSpPr txBox="1"/>
            <p:nvPr/>
          </p:nvSpPr>
          <p:spPr>
            <a:xfrm>
              <a:off x="192" y="2267"/>
              <a:ext cx="4200" cy="15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200"/>
                <a:buFont typeface="Courier New"/>
                <a:buNone/>
              </a:pPr>
              <a:r>
                <a:rPr b="1" lang="es-AR" sz="2000">
                  <a:solidFill>
                    <a:schemeClr val="dk1"/>
                  </a:solidFill>
                  <a:latin typeface="Consolas"/>
                  <a:ea typeface="Consolas"/>
                  <a:cs typeface="Consolas"/>
                  <a:sym typeface="Consolas"/>
                </a:rPr>
                <a:t>union nombreUnion{</a:t>
              </a:r>
              <a:endParaRPr sz="12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000">
                  <a:solidFill>
                    <a:schemeClr val="dk1"/>
                  </a:solidFill>
                  <a:latin typeface="Consolas"/>
                  <a:ea typeface="Consolas"/>
                  <a:cs typeface="Consolas"/>
                  <a:sym typeface="Consolas"/>
                </a:rPr>
                <a:t>	tipo1	  nombreCampo1;</a:t>
              </a:r>
              <a:endParaRPr sz="12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000">
                  <a:solidFill>
                    <a:schemeClr val="dk1"/>
                  </a:solidFill>
                  <a:latin typeface="Consolas"/>
                  <a:ea typeface="Consolas"/>
                  <a:cs typeface="Consolas"/>
                  <a:sym typeface="Consolas"/>
                </a:rPr>
                <a:t>	tipo2  nombreCampo2;</a:t>
              </a:r>
              <a:endParaRPr sz="12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000">
                  <a:solidFill>
                    <a:schemeClr val="dk1"/>
                  </a:solidFill>
                  <a:latin typeface="Consolas"/>
                  <a:ea typeface="Consolas"/>
                  <a:cs typeface="Consolas"/>
                  <a:sym typeface="Consolas"/>
                </a:rPr>
                <a:t>	...</a:t>
              </a:r>
              <a:endParaRPr sz="12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000">
                  <a:solidFill>
                    <a:schemeClr val="dk1"/>
                  </a:solidFill>
                  <a:latin typeface="Consolas"/>
                  <a:ea typeface="Consolas"/>
                  <a:cs typeface="Consolas"/>
                  <a:sym typeface="Consolas"/>
                </a:rPr>
                <a:t>	tipoN  nombreCampoN;</a:t>
              </a:r>
              <a:endParaRPr sz="12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000">
                  <a:solidFill>
                    <a:schemeClr val="dk1"/>
                  </a:solidFill>
                  <a:latin typeface="Consolas"/>
                  <a:ea typeface="Consolas"/>
                  <a:cs typeface="Consolas"/>
                  <a:sym typeface="Consolas"/>
                </a:rPr>
                <a:t>};</a:t>
              </a:r>
              <a:endParaRPr sz="12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000">
                  <a:solidFill>
                    <a:schemeClr val="dk1"/>
                  </a:solidFill>
                  <a:latin typeface="Consolas"/>
                  <a:ea typeface="Consolas"/>
                  <a:cs typeface="Consolas"/>
                  <a:sym typeface="Consolas"/>
                </a:rPr>
                <a:t>union nombreUnion  nombreVariable;</a:t>
              </a:r>
              <a:endParaRPr b="1" sz="2000">
                <a:solidFill>
                  <a:schemeClr val="dk1"/>
                </a:solidFill>
                <a:latin typeface="Consolas"/>
                <a:ea typeface="Consolas"/>
                <a:cs typeface="Consolas"/>
                <a:sym typeface="Consolas"/>
              </a:endParaRPr>
            </a:p>
          </p:txBody>
        </p:sp>
      </p:grpSp>
      <p:sp>
        <p:nvSpPr>
          <p:cNvPr id="685" name="Google Shape;685;p61"/>
          <p:cNvSpPr/>
          <p:nvPr/>
        </p:nvSpPr>
        <p:spPr>
          <a:xfrm>
            <a:off x="5715000" y="3200400"/>
            <a:ext cx="2743203" cy="514351"/>
          </a:xfrm>
          <a:prstGeom prst="rect">
            <a:avLst/>
          </a:prstGeom>
        </p:spPr>
        <p:txBody>
          <a:bodyPr>
            <a:prstTxWarp prst="textPlain"/>
          </a:bodyPr>
          <a:lstStyle/>
          <a:p>
            <a:pPr lvl="0" algn="ctr"/>
            <a:r>
              <a:rPr b="0" i="0">
                <a:ln cap="flat" cmpd="sng" w="19050">
                  <a:solidFill>
                    <a:srgbClr val="99CCFF"/>
                  </a:solidFill>
                  <a:prstDash val="solid"/>
                  <a:round/>
                  <a:headEnd len="sm" w="sm" type="none"/>
                  <a:tailEnd len="sm" w="sm" type="none"/>
                </a:ln>
                <a:solidFill>
                  <a:srgbClr val="0066CC"/>
                </a:solidFill>
                <a:latin typeface="Impact"/>
              </a:rPr>
              <a:t>Alternativa 2</a:t>
            </a:r>
          </a:p>
        </p:txBody>
      </p:sp>
      <p:grpSp>
        <p:nvGrpSpPr>
          <p:cNvPr id="686" name="Google Shape;686;p61"/>
          <p:cNvGrpSpPr/>
          <p:nvPr/>
        </p:nvGrpSpPr>
        <p:grpSpPr>
          <a:xfrm>
            <a:off x="379425" y="4478539"/>
            <a:ext cx="6235688" cy="583999"/>
            <a:chOff x="287" y="3762"/>
            <a:chExt cx="3928" cy="490"/>
          </a:xfrm>
        </p:grpSpPr>
        <p:sp>
          <p:nvSpPr>
            <p:cNvPr id="687" name="Google Shape;687;p61"/>
            <p:cNvSpPr/>
            <p:nvPr/>
          </p:nvSpPr>
          <p:spPr>
            <a:xfrm rot="-5400000">
              <a:off x="887" y="3163"/>
              <a:ext cx="300" cy="1500"/>
            </a:xfrm>
            <a:prstGeom prst="leftBrace">
              <a:avLst>
                <a:gd fmla="val 78733" name="adj1"/>
                <a:gd fmla="val 50000" name="adj2"/>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688" name="Google Shape;688;p61"/>
            <p:cNvSpPr txBox="1"/>
            <p:nvPr/>
          </p:nvSpPr>
          <p:spPr>
            <a:xfrm>
              <a:off x="432" y="3952"/>
              <a:ext cx="1500" cy="3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Arial Black"/>
                <a:buNone/>
              </a:pPr>
              <a:r>
                <a:rPr lang="es-AR" sz="2400">
                  <a:solidFill>
                    <a:schemeClr val="dk1"/>
                  </a:solidFill>
                  <a:latin typeface="Arial Black"/>
                  <a:ea typeface="Arial Black"/>
                  <a:cs typeface="Arial Black"/>
                  <a:sym typeface="Arial Black"/>
                </a:rPr>
                <a:t>tipo de dato</a:t>
              </a:r>
              <a:endParaRPr sz="2400">
                <a:solidFill>
                  <a:schemeClr val="dk1"/>
                </a:solidFill>
                <a:latin typeface="Arial Black"/>
                <a:ea typeface="Arial Black"/>
                <a:cs typeface="Arial Black"/>
                <a:sym typeface="Arial Black"/>
              </a:endParaRPr>
            </a:p>
          </p:txBody>
        </p:sp>
        <p:grpSp>
          <p:nvGrpSpPr>
            <p:cNvPr id="689" name="Google Shape;689;p61"/>
            <p:cNvGrpSpPr/>
            <p:nvPr/>
          </p:nvGrpSpPr>
          <p:grpSpPr>
            <a:xfrm>
              <a:off x="1815" y="3762"/>
              <a:ext cx="2400" cy="490"/>
              <a:chOff x="2256" y="3771"/>
              <a:chExt cx="2400" cy="490"/>
            </a:xfrm>
          </p:grpSpPr>
          <p:sp>
            <p:nvSpPr>
              <p:cNvPr id="690" name="Google Shape;690;p61"/>
              <p:cNvSpPr/>
              <p:nvPr/>
            </p:nvSpPr>
            <p:spPr>
              <a:xfrm rot="-5400000">
                <a:off x="2870" y="3321"/>
                <a:ext cx="300" cy="1200"/>
              </a:xfrm>
              <a:prstGeom prst="leftBrace">
                <a:avLst>
                  <a:gd fmla="val 67405" name="adj1"/>
                  <a:gd fmla="val 50000" name="adj2"/>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691" name="Google Shape;691;p61"/>
              <p:cNvSpPr txBox="1"/>
              <p:nvPr/>
            </p:nvSpPr>
            <p:spPr>
              <a:xfrm>
                <a:off x="2256" y="3961"/>
                <a:ext cx="2400" cy="3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400"/>
                  <a:buFont typeface="Arial Black"/>
                  <a:buNone/>
                </a:pPr>
                <a:r>
                  <a:rPr lang="es-AR" sz="2400">
                    <a:solidFill>
                      <a:schemeClr val="dk1"/>
                    </a:solidFill>
                    <a:latin typeface="Arial Black"/>
                    <a:ea typeface="Arial Black"/>
                    <a:cs typeface="Arial Black"/>
                    <a:sym typeface="Arial Black"/>
                  </a:rPr>
                  <a:t>nombre de variable</a:t>
                </a:r>
                <a:endParaRPr sz="2400">
                  <a:solidFill>
                    <a:schemeClr val="dk1"/>
                  </a:solidFill>
                  <a:latin typeface="Arial Black"/>
                  <a:ea typeface="Arial Black"/>
                  <a:cs typeface="Arial Black"/>
                  <a:sym typeface="Arial Black"/>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62"/>
          <p:cNvSpPr/>
          <p:nvPr/>
        </p:nvSpPr>
        <p:spPr>
          <a:xfrm>
            <a:off x="457200" y="114300"/>
            <a:ext cx="8305800" cy="4908000"/>
          </a:xfrm>
          <a:prstGeom prst="roundRect">
            <a:avLst>
              <a:gd fmla="val 5917"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697" name="Google Shape;697;p62"/>
          <p:cNvSpPr txBox="1"/>
          <p:nvPr/>
        </p:nvSpPr>
        <p:spPr>
          <a:xfrm>
            <a:off x="531813" y="116681"/>
            <a:ext cx="7853400" cy="42636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union tipoNro {</a:t>
            </a:r>
            <a:endParaRPr>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int entero;</a:t>
            </a:r>
            <a:endParaRPr>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long enteroLargo;</a:t>
            </a:r>
            <a:endParaRPr>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float realSimple;</a:t>
            </a:r>
            <a:endParaRPr>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	double realDoble;</a:t>
            </a:r>
            <a:endParaRPr>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900">
                <a:solidFill>
                  <a:schemeClr val="dk1"/>
                </a:solidFill>
                <a:latin typeface="Consolas"/>
                <a:ea typeface="Consolas"/>
                <a:cs typeface="Consolas"/>
                <a:sym typeface="Consolas"/>
              </a:rPr>
              <a:t>};</a:t>
            </a:r>
            <a:endParaRPr>
              <a:latin typeface="Consolas"/>
              <a:ea typeface="Consolas"/>
              <a:cs typeface="Consolas"/>
              <a:sym typeface="Consolas"/>
            </a:endParaRPr>
          </a:p>
          <a:p>
            <a:pPr indent="0" lvl="0" marL="0" marR="0" rtl="0" algn="l">
              <a:lnSpc>
                <a:spcPct val="80000"/>
              </a:lnSpc>
              <a:spcBef>
                <a:spcPts val="180"/>
              </a:spcBef>
              <a:spcAft>
                <a:spcPts val="0"/>
              </a:spcAft>
              <a:buClr>
                <a:schemeClr val="dk1"/>
              </a:buClr>
              <a:buSzPts val="900"/>
              <a:buFont typeface="Times New Roman"/>
              <a:buNone/>
            </a:pPr>
            <a:r>
              <a:t/>
            </a:r>
            <a:endParaRPr b="1" sz="900">
              <a:solidFill>
                <a:schemeClr val="dk1"/>
              </a:solidFill>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int</a:t>
            </a:r>
            <a:r>
              <a:rPr lang="es-AR">
                <a:latin typeface="Consolas"/>
                <a:ea typeface="Consolas"/>
                <a:cs typeface="Consolas"/>
                <a:sym typeface="Consolas"/>
              </a:rPr>
              <a:t> </a:t>
            </a:r>
            <a:r>
              <a:rPr b="1" lang="es-AR" sz="2000">
                <a:solidFill>
                  <a:schemeClr val="dk1"/>
                </a:solidFill>
                <a:latin typeface="Consolas"/>
                <a:ea typeface="Consolas"/>
                <a:cs typeface="Consolas"/>
                <a:sym typeface="Consolas"/>
              </a:rPr>
              <a:t>main(void)</a:t>
            </a:r>
            <a:r>
              <a:rPr lang="es-AR">
                <a:latin typeface="Consolas"/>
                <a:ea typeface="Consolas"/>
                <a:cs typeface="Consolas"/>
                <a:sym typeface="Consolas"/>
              </a:rPr>
              <a:t> </a:t>
            </a:r>
            <a:r>
              <a:rPr b="1" lang="es-AR" sz="2000">
                <a:solidFill>
                  <a:schemeClr val="dk1"/>
                </a:solidFill>
                <a:latin typeface="Consolas"/>
                <a:ea typeface="Consolas"/>
                <a:cs typeface="Consolas"/>
                <a:sym typeface="Consolas"/>
              </a:rPr>
              <a:t>{</a:t>
            </a:r>
            <a:endParaRPr>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	union tipoNro num;</a:t>
            </a:r>
            <a:endParaRPr>
              <a:latin typeface="Consolas"/>
              <a:ea typeface="Consolas"/>
              <a:cs typeface="Consolas"/>
              <a:sym typeface="Consolas"/>
            </a:endParaRPr>
          </a:p>
          <a:p>
            <a:pPr indent="0" lvl="0" marL="0" marR="0" rtl="0" algn="l">
              <a:lnSpc>
                <a:spcPct val="80000"/>
              </a:lnSpc>
              <a:spcBef>
                <a:spcPts val="160"/>
              </a:spcBef>
              <a:spcAft>
                <a:spcPts val="0"/>
              </a:spcAft>
              <a:buClr>
                <a:schemeClr val="dk1"/>
              </a:buClr>
              <a:buSzPts val="800"/>
              <a:buFont typeface="Times New Roman"/>
              <a:buNone/>
            </a:pPr>
            <a:r>
              <a:t/>
            </a:r>
            <a:endParaRPr b="1" sz="800">
              <a:solidFill>
                <a:schemeClr val="dk1"/>
              </a:solidFill>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	num.entero = 34;</a:t>
            </a:r>
            <a:endParaRPr>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	printf("num vale %d", num.entero);</a:t>
            </a:r>
            <a:endParaRPr>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	num.realSimple = 12.89;</a:t>
            </a:r>
            <a:endParaRPr>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	printf("num vale %f", num.realSimple);</a:t>
            </a:r>
            <a:endParaRPr>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	printf("num vale %d", num.entero);</a:t>
            </a:r>
            <a:endParaRPr>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	printf("num vale %f", num.realDoble);</a:t>
            </a:r>
            <a:endParaRPr>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	return 0;	</a:t>
            </a:r>
            <a:endParaRPr>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a:t>
            </a:r>
            <a:endParaRPr b="1" sz="2000">
              <a:solidFill>
                <a:schemeClr val="dk1"/>
              </a:solidFill>
              <a:latin typeface="Consolas"/>
              <a:ea typeface="Consolas"/>
              <a:cs typeface="Consolas"/>
              <a:sym typeface="Consolas"/>
            </a:endParaRPr>
          </a:p>
        </p:txBody>
      </p:sp>
      <p:grpSp>
        <p:nvGrpSpPr>
          <p:cNvPr id="698" name="Google Shape;698;p62"/>
          <p:cNvGrpSpPr/>
          <p:nvPr/>
        </p:nvGrpSpPr>
        <p:grpSpPr>
          <a:xfrm>
            <a:off x="3666350" y="811400"/>
            <a:ext cx="5394689" cy="1398089"/>
            <a:chOff x="672" y="3360"/>
            <a:chExt cx="4834" cy="615"/>
          </a:xfrm>
        </p:grpSpPr>
        <p:sp>
          <p:nvSpPr>
            <p:cNvPr id="699" name="Google Shape;699;p62"/>
            <p:cNvSpPr/>
            <p:nvPr/>
          </p:nvSpPr>
          <p:spPr>
            <a:xfrm>
              <a:off x="672" y="3360"/>
              <a:ext cx="4800" cy="600"/>
            </a:xfrm>
            <a:prstGeom prst="roundRect">
              <a:avLst>
                <a:gd fmla="val 6250" name="adj"/>
              </a:avLst>
            </a:prstGeom>
            <a:solidFill>
              <a:srgbClr val="0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700" name="Google Shape;700;p62"/>
            <p:cNvSpPr txBox="1"/>
            <p:nvPr/>
          </p:nvSpPr>
          <p:spPr>
            <a:xfrm>
              <a:off x="706" y="3375"/>
              <a:ext cx="4800" cy="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1"/>
                </a:buClr>
                <a:buSzPts val="1900"/>
                <a:buFont typeface="Courier New"/>
                <a:buNone/>
              </a:pPr>
              <a:r>
                <a:rPr b="1" lang="es-AR" sz="1600">
                  <a:solidFill>
                    <a:schemeClr val="lt1"/>
                  </a:solidFill>
                  <a:latin typeface="Courier New"/>
                  <a:ea typeface="Courier New"/>
                  <a:cs typeface="Courier New"/>
                  <a:sym typeface="Courier New"/>
                </a:rPr>
                <a:t>num vale 34</a:t>
              </a:r>
              <a:endParaRPr sz="1100"/>
            </a:p>
            <a:p>
              <a:pPr indent="0" lvl="0" marL="0" marR="0" rtl="0" algn="l">
                <a:spcBef>
                  <a:spcPts val="0"/>
                </a:spcBef>
                <a:spcAft>
                  <a:spcPts val="0"/>
                </a:spcAft>
                <a:buClr>
                  <a:schemeClr val="lt1"/>
                </a:buClr>
                <a:buSzPts val="1900"/>
                <a:buFont typeface="Courier New"/>
                <a:buNone/>
              </a:pPr>
              <a:r>
                <a:rPr b="1" lang="es-AR" sz="1600">
                  <a:solidFill>
                    <a:schemeClr val="lt1"/>
                  </a:solidFill>
                  <a:latin typeface="Courier New"/>
                  <a:ea typeface="Courier New"/>
                  <a:cs typeface="Courier New"/>
                  <a:sym typeface="Courier New"/>
                </a:rPr>
                <a:t>num vale 12.890000</a:t>
              </a:r>
              <a:endParaRPr sz="1100"/>
            </a:p>
            <a:p>
              <a:pPr indent="0" lvl="0" marL="0" marR="0" rtl="0" algn="l">
                <a:spcBef>
                  <a:spcPts val="0"/>
                </a:spcBef>
                <a:spcAft>
                  <a:spcPts val="0"/>
                </a:spcAft>
                <a:buClr>
                  <a:schemeClr val="lt1"/>
                </a:buClr>
                <a:buSzPts val="1900"/>
                <a:buFont typeface="Courier New"/>
                <a:buNone/>
              </a:pPr>
              <a:r>
                <a:rPr b="1" lang="es-AR" sz="1600">
                  <a:solidFill>
                    <a:schemeClr val="lt1"/>
                  </a:solidFill>
                  <a:latin typeface="Courier New"/>
                  <a:ea typeface="Courier New"/>
                  <a:cs typeface="Courier New"/>
                  <a:sym typeface="Courier New"/>
                </a:rPr>
                <a:t>num vale 1095646577</a:t>
              </a:r>
              <a:endParaRPr sz="1100"/>
            </a:p>
            <a:p>
              <a:pPr indent="0" lvl="0" marL="0" marR="0" rtl="0" algn="l">
                <a:spcBef>
                  <a:spcPts val="0"/>
                </a:spcBef>
                <a:spcAft>
                  <a:spcPts val="0"/>
                </a:spcAft>
                <a:buClr>
                  <a:schemeClr val="lt1"/>
                </a:buClr>
                <a:buSzPts val="1900"/>
                <a:buFont typeface="Courier New"/>
                <a:buNone/>
              </a:pPr>
              <a:r>
                <a:rPr b="1" lang="es-AR" sz="1600">
                  <a:solidFill>
                    <a:schemeClr val="lt1"/>
                  </a:solidFill>
                  <a:latin typeface="Courier New"/>
                  <a:ea typeface="Courier New"/>
                  <a:cs typeface="Courier New"/>
                  <a:sym typeface="Courier New"/>
                </a:rPr>
                <a:t>num vale -925596046275043860000...000.000</a:t>
              </a:r>
              <a:endParaRPr sz="1100"/>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698"/>
                                        </p:tgtEl>
                                        <p:attrNameLst>
                                          <p:attrName>style.visibility</p:attrName>
                                        </p:attrNameLst>
                                      </p:cBhvr>
                                      <p:to>
                                        <p:strVal val="visible"/>
                                      </p:to>
                                    </p:set>
                                    <p:anim calcmode="lin" valueType="num">
                                      <p:cBhvr additive="base">
                                        <p:cTn dur="500"/>
                                        <p:tgtEl>
                                          <p:spTgt spid="69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63"/>
          <p:cNvSpPr txBox="1"/>
          <p:nvPr/>
        </p:nvSpPr>
        <p:spPr>
          <a:xfrm>
            <a:off x="152400" y="38100"/>
            <a:ext cx="8610600" cy="11643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chemeClr val="dk1"/>
              </a:buClr>
              <a:buSzPts val="2400"/>
              <a:buFont typeface="Comic Sans MS"/>
              <a:buNone/>
            </a:pPr>
            <a:r>
              <a:rPr b="1" lang="es-AR" sz="2400">
                <a:solidFill>
                  <a:schemeClr val="dk1"/>
                </a:solidFill>
                <a:latin typeface="Comic Sans MS"/>
                <a:ea typeface="Comic Sans MS"/>
                <a:cs typeface="Comic Sans MS"/>
                <a:sym typeface="Comic Sans MS"/>
              </a:rPr>
              <a:t>Para reconocer cual de los campos de la union está “activo”, se suele utilizar una marca o “tag”. Para mantener la coherencia semántica se encapsula la union y el tag en una estructura.</a:t>
            </a:r>
            <a:endParaRPr b="1" sz="2400">
              <a:solidFill>
                <a:schemeClr val="dk1"/>
              </a:solidFill>
              <a:latin typeface="Comic Sans MS"/>
              <a:ea typeface="Comic Sans MS"/>
              <a:cs typeface="Comic Sans MS"/>
              <a:sym typeface="Comic Sans MS"/>
            </a:endParaRPr>
          </a:p>
        </p:txBody>
      </p:sp>
      <p:sp>
        <p:nvSpPr>
          <p:cNvPr id="706" name="Google Shape;706;p63"/>
          <p:cNvSpPr/>
          <p:nvPr/>
        </p:nvSpPr>
        <p:spPr>
          <a:xfrm>
            <a:off x="457200" y="1543050"/>
            <a:ext cx="8305800" cy="3456600"/>
          </a:xfrm>
          <a:prstGeom prst="roundRect">
            <a:avLst>
              <a:gd fmla="val 5917"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707" name="Google Shape;707;p63"/>
          <p:cNvSpPr txBox="1"/>
          <p:nvPr/>
        </p:nvSpPr>
        <p:spPr>
          <a:xfrm>
            <a:off x="608013" y="1634729"/>
            <a:ext cx="7853400" cy="29955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typedef union {</a:t>
            </a:r>
            <a:endParaRPr>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	int entero;</a:t>
            </a:r>
            <a:endParaRPr>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	long enteroLargo;</a:t>
            </a:r>
            <a:endParaRPr>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	float realSimple;</a:t>
            </a:r>
            <a:endParaRPr>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	double realDoble;</a:t>
            </a:r>
            <a:endParaRPr>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 unionNro;</a:t>
            </a:r>
            <a:endParaRPr>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Times New Roman"/>
              <a:buNone/>
            </a:pPr>
            <a:r>
              <a:t/>
            </a:r>
            <a:endParaRPr b="1" sz="2000">
              <a:solidFill>
                <a:schemeClr val="dk1"/>
              </a:solidFill>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typedef struct</a:t>
            </a:r>
            <a:r>
              <a:rPr lang="es-AR">
                <a:latin typeface="Consolas"/>
                <a:ea typeface="Consolas"/>
                <a:cs typeface="Consolas"/>
                <a:sym typeface="Consolas"/>
              </a:rPr>
              <a:t> </a:t>
            </a:r>
            <a:r>
              <a:rPr b="1" lang="es-AR" sz="2000">
                <a:solidFill>
                  <a:schemeClr val="dk1"/>
                </a:solidFill>
                <a:latin typeface="Consolas"/>
                <a:ea typeface="Consolas"/>
                <a:cs typeface="Consolas"/>
                <a:sym typeface="Consolas"/>
              </a:rPr>
              <a:t>{</a:t>
            </a:r>
            <a:endParaRPr>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	char tag;</a:t>
            </a:r>
            <a:endParaRPr>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	unionNro valor;</a:t>
            </a:r>
            <a:endParaRPr>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Courier New"/>
              <a:buNone/>
            </a:pPr>
            <a:r>
              <a:rPr b="1" lang="es-AR" sz="2000">
                <a:solidFill>
                  <a:schemeClr val="dk1"/>
                </a:solidFill>
                <a:latin typeface="Consolas"/>
                <a:ea typeface="Consolas"/>
                <a:cs typeface="Consolas"/>
                <a:sym typeface="Consolas"/>
              </a:rPr>
              <a:t>} tipoNro;</a:t>
            </a:r>
            <a:endParaRPr>
              <a:latin typeface="Consolas"/>
              <a:ea typeface="Consolas"/>
              <a:cs typeface="Consolas"/>
              <a:sym typeface="Consolas"/>
            </a:endParaRPr>
          </a:p>
          <a:p>
            <a:pPr indent="0" lvl="0" marL="0" marR="0" rtl="0" algn="l">
              <a:lnSpc>
                <a:spcPct val="80000"/>
              </a:lnSpc>
              <a:spcBef>
                <a:spcPts val="400"/>
              </a:spcBef>
              <a:spcAft>
                <a:spcPts val="0"/>
              </a:spcAft>
              <a:buClr>
                <a:schemeClr val="dk1"/>
              </a:buClr>
              <a:buSzPts val="2000"/>
              <a:buFont typeface="Times New Roman"/>
              <a:buNone/>
            </a:pPr>
            <a:r>
              <a:t/>
            </a:r>
            <a:endParaRPr b="1" sz="2000">
              <a:solidFill>
                <a:schemeClr val="dk1"/>
              </a:solidFill>
              <a:latin typeface="Consolas"/>
              <a:ea typeface="Consolas"/>
              <a:cs typeface="Consolas"/>
              <a:sym typeface="Consola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64"/>
          <p:cNvSpPr/>
          <p:nvPr/>
        </p:nvSpPr>
        <p:spPr>
          <a:xfrm>
            <a:off x="228600" y="114300"/>
            <a:ext cx="8610600" cy="4945800"/>
          </a:xfrm>
          <a:prstGeom prst="roundRect">
            <a:avLst>
              <a:gd fmla="val 3431"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713" name="Google Shape;713;p64"/>
          <p:cNvSpPr txBox="1"/>
          <p:nvPr/>
        </p:nvSpPr>
        <p:spPr>
          <a:xfrm>
            <a:off x="303213" y="144066"/>
            <a:ext cx="8142300" cy="47601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1900"/>
              <a:buFont typeface="Courier New"/>
              <a:buNone/>
            </a:pPr>
            <a:r>
              <a:rPr b="1" lang="es-AR" sz="1600">
                <a:solidFill>
                  <a:schemeClr val="dk1"/>
                </a:solidFill>
                <a:latin typeface="Consolas"/>
                <a:ea typeface="Consolas"/>
                <a:cs typeface="Consolas"/>
                <a:sym typeface="Consolas"/>
              </a:rPr>
              <a:t>typedef union {</a:t>
            </a:r>
            <a:endParaRPr sz="11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600">
                <a:solidFill>
                  <a:schemeClr val="dk1"/>
                </a:solidFill>
                <a:latin typeface="Consolas"/>
                <a:ea typeface="Consolas"/>
                <a:cs typeface="Consolas"/>
                <a:sym typeface="Consolas"/>
              </a:rPr>
              <a:t>	int entero;</a:t>
            </a:r>
            <a:endParaRPr sz="11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600">
                <a:solidFill>
                  <a:schemeClr val="dk1"/>
                </a:solidFill>
                <a:latin typeface="Consolas"/>
                <a:ea typeface="Consolas"/>
                <a:cs typeface="Consolas"/>
                <a:sym typeface="Consolas"/>
              </a:rPr>
              <a:t>	long enteroLargo;</a:t>
            </a:r>
            <a:endParaRPr sz="11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600">
                <a:solidFill>
                  <a:schemeClr val="dk1"/>
                </a:solidFill>
                <a:latin typeface="Consolas"/>
                <a:ea typeface="Consolas"/>
                <a:cs typeface="Consolas"/>
                <a:sym typeface="Consolas"/>
              </a:rPr>
              <a:t>	float realSimple;</a:t>
            </a:r>
            <a:endParaRPr sz="11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600">
                <a:solidFill>
                  <a:schemeClr val="dk1"/>
                </a:solidFill>
                <a:latin typeface="Consolas"/>
                <a:ea typeface="Consolas"/>
                <a:cs typeface="Consolas"/>
                <a:sym typeface="Consolas"/>
              </a:rPr>
              <a:t>	double realDoble;</a:t>
            </a:r>
            <a:endParaRPr sz="11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600">
                <a:solidFill>
                  <a:schemeClr val="dk1"/>
                </a:solidFill>
                <a:latin typeface="Consolas"/>
                <a:ea typeface="Consolas"/>
                <a:cs typeface="Consolas"/>
                <a:sym typeface="Consolas"/>
              </a:rPr>
              <a:t>} unionNro;</a:t>
            </a:r>
            <a:endParaRPr sz="1100">
              <a:latin typeface="Consolas"/>
              <a:ea typeface="Consolas"/>
              <a:cs typeface="Consolas"/>
              <a:sym typeface="Consolas"/>
            </a:endParaRPr>
          </a:p>
          <a:p>
            <a:pPr indent="0" lvl="0" marL="0" marR="0" rtl="0" algn="l">
              <a:lnSpc>
                <a:spcPct val="80000"/>
              </a:lnSpc>
              <a:spcBef>
                <a:spcPts val="160"/>
              </a:spcBef>
              <a:spcAft>
                <a:spcPts val="0"/>
              </a:spcAft>
              <a:buClr>
                <a:schemeClr val="dk1"/>
              </a:buClr>
              <a:buSzPts val="800"/>
              <a:buFont typeface="Times New Roman"/>
              <a:buNone/>
            </a:pPr>
            <a:r>
              <a:t/>
            </a:r>
            <a:endParaRPr b="1" sz="5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600">
                <a:solidFill>
                  <a:schemeClr val="dk1"/>
                </a:solidFill>
                <a:latin typeface="Consolas"/>
                <a:ea typeface="Consolas"/>
                <a:cs typeface="Consolas"/>
                <a:sym typeface="Consolas"/>
              </a:rPr>
              <a:t>typedef struct</a:t>
            </a:r>
            <a:r>
              <a:rPr lang="es-AR" sz="1100">
                <a:latin typeface="Consolas"/>
                <a:ea typeface="Consolas"/>
                <a:cs typeface="Consolas"/>
                <a:sym typeface="Consolas"/>
              </a:rPr>
              <a:t> </a:t>
            </a:r>
            <a:r>
              <a:rPr b="1" lang="es-AR" sz="1600">
                <a:solidFill>
                  <a:schemeClr val="dk1"/>
                </a:solidFill>
                <a:latin typeface="Consolas"/>
                <a:ea typeface="Consolas"/>
                <a:cs typeface="Consolas"/>
                <a:sym typeface="Consolas"/>
              </a:rPr>
              <a:t>{</a:t>
            </a:r>
            <a:endParaRPr sz="11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600">
                <a:solidFill>
                  <a:schemeClr val="dk1"/>
                </a:solidFill>
                <a:latin typeface="Consolas"/>
                <a:ea typeface="Consolas"/>
                <a:cs typeface="Consolas"/>
                <a:sym typeface="Consolas"/>
              </a:rPr>
              <a:t>	char tag;</a:t>
            </a:r>
            <a:endParaRPr sz="11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600">
                <a:solidFill>
                  <a:schemeClr val="dk1"/>
                </a:solidFill>
                <a:latin typeface="Consolas"/>
                <a:ea typeface="Consolas"/>
                <a:cs typeface="Consolas"/>
                <a:sym typeface="Consolas"/>
              </a:rPr>
              <a:t>	unionNro valor;</a:t>
            </a:r>
            <a:endParaRPr sz="11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600">
                <a:solidFill>
                  <a:schemeClr val="dk1"/>
                </a:solidFill>
                <a:latin typeface="Consolas"/>
                <a:ea typeface="Consolas"/>
                <a:cs typeface="Consolas"/>
                <a:sym typeface="Consolas"/>
              </a:rPr>
              <a:t>} tipoNro;</a:t>
            </a:r>
            <a:endParaRPr sz="1100">
              <a:latin typeface="Consolas"/>
              <a:ea typeface="Consolas"/>
              <a:cs typeface="Consolas"/>
              <a:sym typeface="Consolas"/>
            </a:endParaRPr>
          </a:p>
          <a:p>
            <a:pPr indent="0" lvl="0" marL="0" marR="0" rtl="0" algn="l">
              <a:lnSpc>
                <a:spcPct val="80000"/>
              </a:lnSpc>
              <a:spcBef>
                <a:spcPts val="160"/>
              </a:spcBef>
              <a:spcAft>
                <a:spcPts val="0"/>
              </a:spcAft>
              <a:buClr>
                <a:schemeClr val="dk1"/>
              </a:buClr>
              <a:buSzPts val="800"/>
              <a:buFont typeface="Times New Roman"/>
              <a:buNone/>
            </a:pPr>
            <a:r>
              <a:t/>
            </a:r>
            <a:endParaRPr b="1" sz="500">
              <a:solidFill>
                <a:schemeClr val="dk1"/>
              </a:solidFill>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600">
                <a:solidFill>
                  <a:schemeClr val="dk1"/>
                </a:solidFill>
                <a:latin typeface="Consolas"/>
                <a:ea typeface="Consolas"/>
                <a:cs typeface="Consolas"/>
                <a:sym typeface="Consolas"/>
              </a:rPr>
              <a:t>tipoNro miNum;</a:t>
            </a:r>
            <a:endParaRPr sz="11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600">
                <a:solidFill>
                  <a:schemeClr val="dk1"/>
                </a:solidFill>
                <a:latin typeface="Consolas"/>
                <a:ea typeface="Consolas"/>
                <a:cs typeface="Consolas"/>
                <a:sym typeface="Consolas"/>
              </a:rPr>
              <a:t>...</a:t>
            </a:r>
            <a:endParaRPr sz="11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600">
                <a:solidFill>
                  <a:schemeClr val="dk1"/>
                </a:solidFill>
                <a:latin typeface="Consolas"/>
                <a:ea typeface="Consolas"/>
                <a:cs typeface="Consolas"/>
                <a:sym typeface="Consolas"/>
              </a:rPr>
              <a:t>miNum.tag = ‘F’;</a:t>
            </a:r>
            <a:endParaRPr sz="11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600">
                <a:solidFill>
                  <a:schemeClr val="dk1"/>
                </a:solidFill>
                <a:latin typeface="Consolas"/>
                <a:ea typeface="Consolas"/>
                <a:cs typeface="Consolas"/>
                <a:sym typeface="Consolas"/>
              </a:rPr>
              <a:t>miNum.valor.realSimple = 12.47F;</a:t>
            </a:r>
            <a:endParaRPr sz="11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600">
                <a:solidFill>
                  <a:schemeClr val="dk1"/>
                </a:solidFill>
                <a:latin typeface="Consolas"/>
                <a:ea typeface="Consolas"/>
                <a:cs typeface="Consolas"/>
                <a:sym typeface="Consolas"/>
              </a:rPr>
              <a:t>...</a:t>
            </a:r>
            <a:endParaRPr sz="11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600">
                <a:solidFill>
                  <a:schemeClr val="dk1"/>
                </a:solidFill>
                <a:latin typeface="Consolas"/>
                <a:ea typeface="Consolas"/>
                <a:cs typeface="Consolas"/>
                <a:sym typeface="Consolas"/>
              </a:rPr>
              <a:t>switch(miNum.tag)</a:t>
            </a:r>
            <a:r>
              <a:rPr lang="es-AR" sz="1100">
                <a:latin typeface="Consolas"/>
                <a:ea typeface="Consolas"/>
                <a:cs typeface="Consolas"/>
                <a:sym typeface="Consolas"/>
              </a:rPr>
              <a:t> </a:t>
            </a:r>
            <a:r>
              <a:rPr b="1" lang="es-AR" sz="1600">
                <a:solidFill>
                  <a:schemeClr val="dk1"/>
                </a:solidFill>
                <a:latin typeface="Consolas"/>
                <a:ea typeface="Consolas"/>
                <a:cs typeface="Consolas"/>
                <a:sym typeface="Consolas"/>
              </a:rPr>
              <a:t>{</a:t>
            </a:r>
            <a:endParaRPr sz="11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600">
                <a:solidFill>
                  <a:schemeClr val="dk1"/>
                </a:solidFill>
                <a:latin typeface="Consolas"/>
                <a:ea typeface="Consolas"/>
                <a:cs typeface="Consolas"/>
                <a:sym typeface="Consolas"/>
              </a:rPr>
              <a:t>  case ‘I’: printf(“%d”,miNum.valor.entero); break;</a:t>
            </a:r>
            <a:endParaRPr sz="11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600">
                <a:solidFill>
                  <a:schemeClr val="dk1"/>
                </a:solidFill>
                <a:latin typeface="Consolas"/>
                <a:ea typeface="Consolas"/>
                <a:cs typeface="Consolas"/>
                <a:sym typeface="Consolas"/>
              </a:rPr>
              <a:t>  case ‘F’: printf(“%f”,miNum.valor.realSimple); break;</a:t>
            </a:r>
            <a:endParaRPr sz="1100">
              <a:latin typeface="Consolas"/>
              <a:ea typeface="Consolas"/>
              <a:cs typeface="Consolas"/>
              <a:sym typeface="Consolas"/>
            </a:endParaRPr>
          </a:p>
          <a:p>
            <a:pPr indent="0" lvl="0" marL="0" marR="0" rtl="0" algn="l">
              <a:lnSpc>
                <a:spcPct val="80000"/>
              </a:lnSpc>
              <a:spcBef>
                <a:spcPts val="380"/>
              </a:spcBef>
              <a:spcAft>
                <a:spcPts val="0"/>
              </a:spcAft>
              <a:buClr>
                <a:schemeClr val="dk1"/>
              </a:buClr>
              <a:buSzPts val="1900"/>
              <a:buFont typeface="Courier New"/>
              <a:buNone/>
            </a:pPr>
            <a:r>
              <a:rPr b="1" lang="es-AR" sz="1600">
                <a:solidFill>
                  <a:schemeClr val="dk1"/>
                </a:solidFill>
                <a:latin typeface="Consolas"/>
                <a:ea typeface="Consolas"/>
                <a:cs typeface="Consolas"/>
                <a:sym typeface="Consolas"/>
              </a:rPr>
              <a:t>  ...</a:t>
            </a:r>
            <a:endParaRPr sz="1100">
              <a:latin typeface="Consolas"/>
              <a:ea typeface="Consolas"/>
              <a:cs typeface="Consolas"/>
              <a:sym typeface="Consola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65"/>
          <p:cNvSpPr txBox="1"/>
          <p:nvPr/>
        </p:nvSpPr>
        <p:spPr>
          <a:xfrm>
            <a:off x="381000" y="1028700"/>
            <a:ext cx="7543800" cy="2396700"/>
          </a:xfrm>
          <a:prstGeom prst="rect">
            <a:avLst/>
          </a:prstGeom>
          <a:noFill/>
          <a:ln>
            <a:noFill/>
          </a:ln>
        </p:spPr>
        <p:txBody>
          <a:bodyPr anchorCtr="0" anchor="t" bIns="45700" lIns="91425" spcFirstLastPara="1" rIns="91425" wrap="square" tIns="45700">
            <a:noAutofit/>
          </a:bodyPr>
          <a:lstStyle/>
          <a:p>
            <a:pPr indent="-152400" lvl="0" marL="0" marR="0" rtl="0" algn="l">
              <a:spcBef>
                <a:spcPts val="0"/>
              </a:spcBef>
              <a:spcAft>
                <a:spcPts val="0"/>
              </a:spcAft>
              <a:buClr>
                <a:schemeClr val="accent2"/>
              </a:buClr>
              <a:buSzPts val="2400"/>
              <a:buFont typeface="Noto Sans Symbols"/>
              <a:buChar char="❖"/>
            </a:pPr>
            <a:r>
              <a:rPr lang="es-AR" sz="2400">
                <a:solidFill>
                  <a:schemeClr val="accent2"/>
                </a:solidFill>
                <a:latin typeface="Arial Black"/>
                <a:ea typeface="Arial Black"/>
                <a:cs typeface="Arial Black"/>
                <a:sym typeface="Arial Black"/>
              </a:rPr>
              <a:t> Uso de typedef</a:t>
            </a:r>
            <a:endParaRPr/>
          </a:p>
          <a:p>
            <a:pPr indent="-152400" lvl="0" marL="0" marR="0" rtl="0" algn="l">
              <a:spcBef>
                <a:spcPts val="1200"/>
              </a:spcBef>
              <a:spcAft>
                <a:spcPts val="0"/>
              </a:spcAft>
              <a:buClr>
                <a:schemeClr val="accent2"/>
              </a:buClr>
              <a:buSzPts val="2400"/>
              <a:buFont typeface="Noto Sans Symbols"/>
              <a:buChar char="❖"/>
            </a:pPr>
            <a:r>
              <a:rPr lang="es-AR" sz="2400">
                <a:solidFill>
                  <a:schemeClr val="accent2"/>
                </a:solidFill>
                <a:latin typeface="Arial Black"/>
                <a:ea typeface="Arial Black"/>
                <a:cs typeface="Arial Black"/>
                <a:sym typeface="Arial Black"/>
              </a:rPr>
              <a:t> Jerarquía de campos</a:t>
            </a:r>
            <a:endParaRPr/>
          </a:p>
          <a:p>
            <a:pPr indent="-152400" lvl="0" marL="0" marR="0" rtl="0" algn="l">
              <a:spcBef>
                <a:spcPts val="1200"/>
              </a:spcBef>
              <a:spcAft>
                <a:spcPts val="0"/>
              </a:spcAft>
              <a:buClr>
                <a:schemeClr val="accent2"/>
              </a:buClr>
              <a:buSzPts val="2400"/>
              <a:buFont typeface="Noto Sans Symbols"/>
              <a:buChar char="❖"/>
            </a:pPr>
            <a:r>
              <a:rPr lang="es-AR" sz="2400">
                <a:solidFill>
                  <a:schemeClr val="accent2"/>
                </a:solidFill>
                <a:latin typeface="Arial Black"/>
                <a:ea typeface="Arial Black"/>
                <a:cs typeface="Arial Black"/>
                <a:sym typeface="Arial Black"/>
              </a:rPr>
              <a:t> Acceso a los campos</a:t>
            </a:r>
            <a:endParaRPr/>
          </a:p>
          <a:p>
            <a:pPr indent="-152400" lvl="0" marL="0" marR="0" rtl="0" algn="l">
              <a:spcBef>
                <a:spcPts val="1200"/>
              </a:spcBef>
              <a:spcAft>
                <a:spcPts val="0"/>
              </a:spcAft>
              <a:buClr>
                <a:schemeClr val="accent2"/>
              </a:buClr>
              <a:buSzPts val="2400"/>
              <a:buFont typeface="Noto Sans Symbols"/>
              <a:buChar char="❖"/>
            </a:pPr>
            <a:r>
              <a:rPr lang="es-AR" sz="2400">
                <a:solidFill>
                  <a:schemeClr val="accent2"/>
                </a:solidFill>
                <a:latin typeface="Arial Black"/>
                <a:ea typeface="Arial Black"/>
                <a:cs typeface="Arial Black"/>
                <a:sym typeface="Arial Black"/>
              </a:rPr>
              <a:t> Uniones anidadas</a:t>
            </a:r>
            <a:endParaRPr/>
          </a:p>
          <a:p>
            <a:pPr indent="-152400" lvl="0" marL="0" marR="0" rtl="0" algn="l">
              <a:spcBef>
                <a:spcPts val="1200"/>
              </a:spcBef>
              <a:spcAft>
                <a:spcPts val="0"/>
              </a:spcAft>
              <a:buClr>
                <a:schemeClr val="accent2"/>
              </a:buClr>
              <a:buSzPts val="2400"/>
              <a:buFont typeface="Noto Sans Symbols"/>
              <a:buChar char="❖"/>
            </a:pPr>
            <a:r>
              <a:rPr lang="es-AR" sz="2400">
                <a:solidFill>
                  <a:schemeClr val="accent2"/>
                </a:solidFill>
                <a:latin typeface="Arial Black"/>
                <a:ea typeface="Arial Black"/>
                <a:cs typeface="Arial Black"/>
                <a:sym typeface="Arial Black"/>
              </a:rPr>
              <a:t> Pasaje como parámetro</a:t>
            </a:r>
            <a:endParaRPr/>
          </a:p>
          <a:p>
            <a:pPr indent="-152400" lvl="0" marL="0" marR="0" rtl="0" algn="l">
              <a:spcBef>
                <a:spcPts val="1200"/>
              </a:spcBef>
              <a:spcAft>
                <a:spcPts val="0"/>
              </a:spcAft>
              <a:buClr>
                <a:schemeClr val="accent2"/>
              </a:buClr>
              <a:buSzPts val="2400"/>
              <a:buFont typeface="Noto Sans Symbols"/>
              <a:buChar char="❖"/>
            </a:pPr>
            <a:r>
              <a:rPr lang="es-AR" sz="2400">
                <a:solidFill>
                  <a:schemeClr val="accent2"/>
                </a:solidFill>
                <a:latin typeface="Arial Black"/>
                <a:ea typeface="Arial Black"/>
                <a:cs typeface="Arial Black"/>
                <a:sym typeface="Arial Black"/>
              </a:rPr>
              <a:t> Uso de punteros</a:t>
            </a:r>
            <a:endParaRPr sz="2400">
              <a:solidFill>
                <a:schemeClr val="accent2"/>
              </a:solidFill>
              <a:latin typeface="Arial Black"/>
              <a:ea typeface="Arial Black"/>
              <a:cs typeface="Arial Black"/>
              <a:sym typeface="Arial Black"/>
            </a:endParaRPr>
          </a:p>
        </p:txBody>
      </p:sp>
      <p:sp>
        <p:nvSpPr>
          <p:cNvPr id="719" name="Google Shape;719;p65"/>
          <p:cNvSpPr/>
          <p:nvPr/>
        </p:nvSpPr>
        <p:spPr>
          <a:xfrm>
            <a:off x="2590800" y="3721894"/>
            <a:ext cx="5791202" cy="1193005"/>
          </a:xfrm>
          <a:prstGeom prst="rect">
            <a:avLst/>
          </a:prstGeom>
        </p:spPr>
        <p:txBody>
          <a:bodyPr>
            <a:prstTxWarp prst="textPlain"/>
          </a:bodyPr>
          <a:lstStyle/>
          <a:p>
            <a:pPr lvl="0" algn="ctr"/>
            <a:r>
              <a:rPr b="0" i="0">
                <a:ln cap="flat" cmpd="sng" w="9525">
                  <a:solidFill>
                    <a:srgbClr val="CC99FF"/>
                  </a:solidFill>
                  <a:prstDash val="solid"/>
                  <a:round/>
                  <a:headEnd len="sm" w="sm" type="none"/>
                  <a:tailEnd len="sm" w="sm" type="none"/>
                </a:ln>
                <a:gradFill>
                  <a:gsLst>
                    <a:gs pos="0">
                      <a:srgbClr val="6600CC"/>
                    </a:gs>
                    <a:gs pos="100000">
                      <a:srgbClr val="CC00CC"/>
                    </a:gs>
                  </a:gsLst>
                  <a:lin ang="5400000" scaled="0"/>
                </a:gradFill>
                <a:latin typeface="Impact"/>
              </a:rPr>
              <a:t>Igual que con struct</a:t>
            </a:r>
          </a:p>
        </p:txBody>
      </p:sp>
      <p:sp>
        <p:nvSpPr>
          <p:cNvPr id="720" name="Google Shape;720;p65"/>
          <p:cNvSpPr txBox="1"/>
          <p:nvPr/>
        </p:nvSpPr>
        <p:spPr>
          <a:xfrm>
            <a:off x="2743200" y="400050"/>
            <a:ext cx="3733800" cy="526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4000"/>
              <a:buFont typeface="Times New Roman"/>
              <a:buNone/>
            </a:pPr>
            <a:r>
              <a:rPr b="1" i="1" lang="es-AR" sz="4000">
                <a:solidFill>
                  <a:schemeClr val="dk1"/>
                </a:solidFill>
                <a:latin typeface="Times New Roman"/>
                <a:ea typeface="Times New Roman"/>
                <a:cs typeface="Times New Roman"/>
                <a:sym typeface="Times New Roman"/>
              </a:rPr>
              <a:t>Union</a:t>
            </a:r>
            <a:endParaRPr b="1" i="1" sz="4000">
              <a:solidFill>
                <a:schemeClr val="dk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66"/>
          <p:cNvSpPr txBox="1"/>
          <p:nvPr>
            <p:ph type="title"/>
          </p:nvPr>
        </p:nvSpPr>
        <p:spPr>
          <a:xfrm>
            <a:off x="685800" y="152400"/>
            <a:ext cx="7772400" cy="399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i="1" lang="es-AR"/>
              <a:t>Inicialización</a:t>
            </a:r>
            <a:endParaRPr b="1" i="1"/>
          </a:p>
        </p:txBody>
      </p:sp>
      <p:sp>
        <p:nvSpPr>
          <p:cNvPr id="726" name="Google Shape;726;p66"/>
          <p:cNvSpPr txBox="1"/>
          <p:nvPr/>
        </p:nvSpPr>
        <p:spPr>
          <a:xfrm>
            <a:off x="272700" y="628650"/>
            <a:ext cx="8414100" cy="1029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accent2"/>
              </a:buClr>
              <a:buSzPts val="2800"/>
              <a:buFont typeface="Comic Sans MS"/>
              <a:buNone/>
            </a:pPr>
            <a:r>
              <a:rPr b="1" lang="es-AR" sz="2800">
                <a:solidFill>
                  <a:schemeClr val="accent2"/>
                </a:solidFill>
                <a:latin typeface="Comic Sans MS"/>
                <a:ea typeface="Comic Sans MS"/>
                <a:cs typeface="Comic Sans MS"/>
                <a:sym typeface="Comic Sans MS"/>
              </a:rPr>
              <a:t>Como los campos no coexisten, las uniones se inicializan con un único valor, </a:t>
            </a:r>
            <a:endParaRPr/>
          </a:p>
          <a:p>
            <a:pPr indent="0" lvl="0" marL="0" marR="0" rtl="0" algn="ctr">
              <a:spcBef>
                <a:spcPts val="0"/>
              </a:spcBef>
              <a:spcAft>
                <a:spcPts val="0"/>
              </a:spcAft>
              <a:buClr>
                <a:schemeClr val="accent2"/>
              </a:buClr>
              <a:buSzPts val="2800"/>
              <a:buFont typeface="Comic Sans MS"/>
              <a:buNone/>
            </a:pPr>
            <a:r>
              <a:rPr b="1" lang="es-AR" sz="2800">
                <a:solidFill>
                  <a:schemeClr val="accent2"/>
                </a:solidFill>
                <a:latin typeface="Comic Sans MS"/>
                <a:ea typeface="Comic Sans MS"/>
                <a:cs typeface="Comic Sans MS"/>
                <a:sym typeface="Comic Sans MS"/>
              </a:rPr>
              <a:t>del tipo del primer campo.</a:t>
            </a:r>
            <a:endParaRPr b="1" sz="2800">
              <a:solidFill>
                <a:schemeClr val="accent2"/>
              </a:solidFill>
              <a:latin typeface="Comic Sans MS"/>
              <a:ea typeface="Comic Sans MS"/>
              <a:cs typeface="Comic Sans MS"/>
              <a:sym typeface="Comic Sans MS"/>
            </a:endParaRPr>
          </a:p>
        </p:txBody>
      </p:sp>
      <p:grpSp>
        <p:nvGrpSpPr>
          <p:cNvPr id="727" name="Google Shape;727;p66"/>
          <p:cNvGrpSpPr/>
          <p:nvPr/>
        </p:nvGrpSpPr>
        <p:grpSpPr>
          <a:xfrm>
            <a:off x="159075" y="1943000"/>
            <a:ext cx="8817425" cy="2814175"/>
            <a:chOff x="144" y="2688"/>
            <a:chExt cx="2725" cy="1500"/>
          </a:xfrm>
        </p:grpSpPr>
        <p:sp>
          <p:nvSpPr>
            <p:cNvPr id="728" name="Google Shape;728;p66"/>
            <p:cNvSpPr/>
            <p:nvPr/>
          </p:nvSpPr>
          <p:spPr>
            <a:xfrm>
              <a:off x="144" y="2688"/>
              <a:ext cx="2700" cy="1500"/>
            </a:xfrm>
            <a:prstGeom prst="roundRect">
              <a:avLst>
                <a:gd fmla="val 5917"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p:txBody>
        </p:sp>
        <p:sp>
          <p:nvSpPr>
            <p:cNvPr id="729" name="Google Shape;729;p66"/>
            <p:cNvSpPr txBox="1"/>
            <p:nvPr/>
          </p:nvSpPr>
          <p:spPr>
            <a:xfrm>
              <a:off x="169" y="2717"/>
              <a:ext cx="2700" cy="12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200"/>
                <a:buFont typeface="Courier New"/>
                <a:buNone/>
              </a:pPr>
              <a:r>
                <a:rPr b="1" lang="es-AR" sz="2100">
                  <a:solidFill>
                    <a:schemeClr val="dk1"/>
                  </a:solidFill>
                  <a:latin typeface="Consolas"/>
                  <a:ea typeface="Consolas"/>
                  <a:cs typeface="Consolas"/>
                  <a:sym typeface="Consolas"/>
                </a:rPr>
                <a:t>union tipoNro {</a:t>
              </a:r>
              <a:endParaRPr sz="1300">
                <a:latin typeface="Consolas"/>
                <a:ea typeface="Consolas"/>
                <a:cs typeface="Consolas"/>
                <a:sym typeface="Consolas"/>
              </a:endParaRPr>
            </a:p>
            <a:p>
              <a:pPr indent="0" lvl="0" marL="0" rtl="0" algn="l">
                <a:lnSpc>
                  <a:spcPct val="80000"/>
                </a:lnSpc>
                <a:spcBef>
                  <a:spcPts val="440"/>
                </a:spcBef>
                <a:spcAft>
                  <a:spcPts val="0"/>
                </a:spcAft>
                <a:buClr>
                  <a:schemeClr val="dk1"/>
                </a:buClr>
                <a:buSzPts val="2200"/>
                <a:buFont typeface="Courier New"/>
                <a:buNone/>
              </a:pPr>
              <a:r>
                <a:rPr b="1" lang="es-AR" sz="2100">
                  <a:solidFill>
                    <a:schemeClr val="dk1"/>
                  </a:solidFill>
                  <a:latin typeface="Consolas"/>
                  <a:ea typeface="Consolas"/>
                  <a:cs typeface="Consolas"/>
                  <a:sym typeface="Consolas"/>
                </a:rPr>
                <a:t>	float realDoble;</a:t>
              </a:r>
              <a:endParaRPr b="1" sz="2100">
                <a:solidFill>
                  <a:schemeClr val="dk1"/>
                </a:solidFill>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100">
                  <a:solidFill>
                    <a:schemeClr val="dk1"/>
                  </a:solidFill>
                  <a:latin typeface="Consolas"/>
                  <a:ea typeface="Consolas"/>
                  <a:cs typeface="Consolas"/>
                  <a:sym typeface="Consolas"/>
                </a:rPr>
                <a:t>	long enteroLargo;</a:t>
              </a:r>
              <a:endParaRPr b="1" sz="2100">
                <a:solidFill>
                  <a:schemeClr val="dk1"/>
                </a:solidFill>
                <a:latin typeface="Consolas"/>
                <a:ea typeface="Consolas"/>
                <a:cs typeface="Consolas"/>
                <a:sym typeface="Consolas"/>
              </a:endParaRPr>
            </a:p>
            <a:p>
              <a:pPr indent="0" lvl="0" marL="0" rtl="0" algn="l">
                <a:lnSpc>
                  <a:spcPct val="80000"/>
                </a:lnSpc>
                <a:spcBef>
                  <a:spcPts val="440"/>
                </a:spcBef>
                <a:spcAft>
                  <a:spcPts val="0"/>
                </a:spcAft>
                <a:buClr>
                  <a:schemeClr val="dk1"/>
                </a:buClr>
                <a:buSzPts val="2200"/>
                <a:buFont typeface="Courier New"/>
                <a:buNone/>
              </a:pPr>
              <a:r>
                <a:rPr b="1" lang="es-AR" sz="2100">
                  <a:solidFill>
                    <a:schemeClr val="dk1"/>
                  </a:solidFill>
                  <a:latin typeface="Consolas"/>
                  <a:ea typeface="Consolas"/>
                  <a:cs typeface="Consolas"/>
                  <a:sym typeface="Consolas"/>
                </a:rPr>
                <a:t>	int entero;</a:t>
              </a:r>
              <a:endParaRPr b="1" sz="2100">
                <a:solidFill>
                  <a:schemeClr val="dk1"/>
                </a:solidFill>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100">
                  <a:solidFill>
                    <a:schemeClr val="dk1"/>
                  </a:solidFill>
                  <a:latin typeface="Consolas"/>
                  <a:ea typeface="Consolas"/>
                  <a:cs typeface="Consolas"/>
                  <a:sym typeface="Consolas"/>
                </a:rPr>
                <a:t>	float realSimple;</a:t>
              </a:r>
              <a:endParaRPr sz="13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100">
                  <a:solidFill>
                    <a:schemeClr val="dk1"/>
                  </a:solidFill>
                  <a:latin typeface="Consolas"/>
                  <a:ea typeface="Consolas"/>
                  <a:cs typeface="Consolas"/>
                  <a:sym typeface="Consolas"/>
                </a:rPr>
                <a:t>};</a:t>
              </a:r>
              <a:endParaRPr sz="1300">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Times New Roman"/>
                <a:buNone/>
              </a:pPr>
              <a:r>
                <a:t/>
              </a:r>
              <a:endParaRPr b="1" sz="2100">
                <a:solidFill>
                  <a:schemeClr val="dk1"/>
                </a:solidFill>
                <a:latin typeface="Consolas"/>
                <a:ea typeface="Consolas"/>
                <a:cs typeface="Consolas"/>
                <a:sym typeface="Consolas"/>
              </a:endParaRPr>
            </a:p>
            <a:p>
              <a:pPr indent="0" lvl="0" marL="0" marR="0" rtl="0" algn="l">
                <a:lnSpc>
                  <a:spcPct val="80000"/>
                </a:lnSpc>
                <a:spcBef>
                  <a:spcPts val="440"/>
                </a:spcBef>
                <a:spcAft>
                  <a:spcPts val="0"/>
                </a:spcAft>
                <a:buClr>
                  <a:schemeClr val="dk1"/>
                </a:buClr>
                <a:buSzPts val="2200"/>
                <a:buFont typeface="Courier New"/>
                <a:buNone/>
              </a:pPr>
              <a:r>
                <a:rPr b="1" lang="es-AR" sz="2100">
                  <a:solidFill>
                    <a:schemeClr val="dk1"/>
                  </a:solidFill>
                  <a:latin typeface="Consolas"/>
                  <a:ea typeface="Consolas"/>
                  <a:cs typeface="Consolas"/>
                  <a:sym typeface="Consolas"/>
                </a:rPr>
                <a:t>union tipoNro miUnion = {98}; // miUnion.realDoble=98;</a:t>
              </a:r>
              <a:endParaRPr b="1" sz="2100">
                <a:solidFill>
                  <a:schemeClr val="dk1"/>
                </a:solidFill>
                <a:latin typeface="Consolas"/>
                <a:ea typeface="Consolas"/>
                <a:cs typeface="Consolas"/>
                <a:sym typeface="Consolas"/>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