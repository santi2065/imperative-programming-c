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10234600" cy="7099300"/>
  <p:embeddedFontLst>
    <p:embeddedFont>
      <p:font typeface="Arial Black"/>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C60356-8357-40EC-802D-73CC97A9008C}">
  <a:tblStyle styleId="{5EC60356-8357-40EC-802D-73CC97A9008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ArialBlack-regular.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435475" cy="355600"/>
          </a:xfrm>
          <a:prstGeom prst="rect">
            <a:avLst/>
          </a:prstGeom>
          <a:noFill/>
          <a:ln>
            <a:noFill/>
          </a:ln>
        </p:spPr>
        <p:txBody>
          <a:bodyPr anchorCtr="0" anchor="t" bIns="49500" lIns="99025" spcFirstLastPara="1" rIns="99025" wrap="square" tIns="49500">
            <a:noAutofit/>
          </a:bodyPr>
          <a:lstStyle>
            <a:lvl1pPr lvl="0" marR="0" rtl="0" algn="l">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9pPr>
          </a:lstStyle>
          <a:p/>
        </p:txBody>
      </p:sp>
      <p:sp>
        <p:nvSpPr>
          <p:cNvPr id="4" name="Google Shape;4;n"/>
          <p:cNvSpPr txBox="1"/>
          <p:nvPr>
            <p:ph idx="10" type="dt"/>
          </p:nvPr>
        </p:nvSpPr>
        <p:spPr>
          <a:xfrm>
            <a:off x="5799138" y="0"/>
            <a:ext cx="4435475" cy="355600"/>
          </a:xfrm>
          <a:prstGeom prst="rect">
            <a:avLst/>
          </a:prstGeom>
          <a:noFill/>
          <a:ln>
            <a:noFill/>
          </a:ln>
        </p:spPr>
        <p:txBody>
          <a:bodyPr anchorCtr="0" anchor="t" bIns="49500" lIns="99025" spcFirstLastPara="1" rIns="99025" wrap="square" tIns="49500">
            <a:noAutofit/>
          </a:bodyPr>
          <a:lstStyle>
            <a:lvl1pPr lvl="0" marR="0" rtl="0" algn="r">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9pPr>
          </a:lstStyle>
          <a:p/>
        </p:txBody>
      </p:sp>
      <p:sp>
        <p:nvSpPr>
          <p:cNvPr id="5" name="Google Shape;5;n"/>
          <p:cNvSpPr/>
          <p:nvPr>
            <p:ph idx="3"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1365250" y="3371850"/>
            <a:ext cx="7504113" cy="3195638"/>
          </a:xfrm>
          <a:prstGeom prst="rect">
            <a:avLst/>
          </a:prstGeom>
          <a:noFill/>
          <a:ln>
            <a:noFill/>
          </a:ln>
        </p:spPr>
        <p:txBody>
          <a:bodyPr anchorCtr="0" anchor="t" bIns="49500" lIns="99025" spcFirstLastPara="1" rIns="99025" wrap="square" tIns="495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743700"/>
            <a:ext cx="4435475" cy="355600"/>
          </a:xfrm>
          <a:prstGeom prst="rect">
            <a:avLst/>
          </a:prstGeom>
          <a:noFill/>
          <a:ln>
            <a:noFill/>
          </a:ln>
        </p:spPr>
        <p:txBody>
          <a:bodyPr anchorCtr="0" anchor="b" bIns="49500" lIns="99025" spcFirstLastPara="1" rIns="99025" wrap="square" tIns="49500">
            <a:noAutofit/>
          </a:bodyPr>
          <a:lstStyle>
            <a:lvl1pPr lvl="0" marR="0" rtl="0" algn="l">
              <a:spcBef>
                <a:spcPts val="0"/>
              </a:spcBef>
              <a:spcAft>
                <a:spcPts val="0"/>
              </a:spcAft>
              <a:buSzPts val="1400"/>
              <a:buNone/>
              <a:defRPr b="0" i="0" sz="13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9pPr>
          </a:lstStyle>
          <a:p/>
        </p:txBody>
      </p:sp>
      <p:sp>
        <p:nvSpPr>
          <p:cNvPr id="8" name="Google Shape;8;n"/>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marR="0" rtl="0" algn="r">
              <a:spcBef>
                <a:spcPts val="0"/>
              </a:spcBef>
              <a:spcAft>
                <a:spcPts val="0"/>
              </a:spcAft>
              <a:buNone/>
            </a:pPr>
            <a:fld id="{00000000-1234-1234-1234-123412341234}" type="slidenum">
              <a:rPr b="0" i="0" lang="es-MX"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86" name="Google Shape;86;p1: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3" name="Google Shape;93;p2:notes"/>
          <p:cNvSpPr txBox="1"/>
          <p:nvPr>
            <p:ph idx="1" type="body"/>
          </p:nvPr>
        </p:nvSpPr>
        <p:spPr>
          <a:xfrm>
            <a:off x="1365250" y="3371850"/>
            <a:ext cx="7504113" cy="319563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120" name="Google Shape;120;p3: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139" name="Google Shape;139;p4: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p5:notes"/>
          <p:cNvSpPr txBox="1"/>
          <p:nvPr>
            <p:ph idx="1" type="body"/>
          </p:nvPr>
        </p:nvSpPr>
        <p:spPr>
          <a:xfrm>
            <a:off x="1365250" y="3371850"/>
            <a:ext cx="7504113" cy="319563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61" name="Google Shape;161;p5:notes"/>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174" name="Google Shape;174;p6: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7:notes"/>
          <p:cNvSpPr txBox="1"/>
          <p:nvPr>
            <p:ph idx="1" type="body"/>
          </p:nvPr>
        </p:nvSpPr>
        <p:spPr>
          <a:xfrm>
            <a:off x="1365250" y="3371850"/>
            <a:ext cx="7504113" cy="319563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rPr lang="es-MX"/>
              <a:t>Al ser vectores, toda la información se almacena en el stack, por lo que puede ser modificada.</a:t>
            </a:r>
            <a:endParaRPr/>
          </a:p>
          <a:p>
            <a:pPr indent="0" lvl="0" marL="0" rtl="0" algn="l">
              <a:spcBef>
                <a:spcPts val="360"/>
              </a:spcBef>
              <a:spcAft>
                <a:spcPts val="0"/>
              </a:spcAft>
              <a:buNone/>
            </a:pPr>
            <a:r>
              <a:rPr lang="es-MX"/>
              <a:t>Cada vector tiene que tener el mismo tamaño. En este caso no se desperdicia mucha memoria, pero al tener que contemplar la máxima longitud posible, si quisiera almacenar 1000 nombres de personas se podría desperdiciar mucha memoria, ya que en vez de 7 habría que poner una constante suficientemente grande para almacenar cualquier nombre.</a:t>
            </a:r>
            <a:endParaRPr/>
          </a:p>
        </p:txBody>
      </p:sp>
      <p:sp>
        <p:nvSpPr>
          <p:cNvPr id="186" name="Google Shape;186;p7:notes"/>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marR="0" rtl="0" algn="r">
              <a:spcBef>
                <a:spcPts val="0"/>
              </a:spcBef>
              <a:spcAft>
                <a:spcPts val="0"/>
              </a:spcAft>
              <a:buNone/>
            </a:pPr>
            <a:fld id="{00000000-1234-1234-1234-123412341234}" type="slidenum">
              <a:rPr b="0" i="0" lang="es-MX"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1365250" y="3371850"/>
            <a:ext cx="7504113" cy="319563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rPr lang="es-MX"/>
              <a:t>Existen 4 strings constantes (en Data o Text) y un vector con 4 punteros, uno por cada string constante. </a:t>
            </a:r>
            <a:endParaRPr/>
          </a:p>
          <a:p>
            <a:pPr indent="0" lvl="0" marL="0" rtl="0" algn="l">
              <a:spcBef>
                <a:spcPts val="360"/>
              </a:spcBef>
              <a:spcAft>
                <a:spcPts val="0"/>
              </a:spcAft>
              <a:buNone/>
            </a:pPr>
            <a:r>
              <a:rPr lang="es-MX"/>
              <a:t>Si bien cada string ocupa lo mínimo necesario, se agregan los punteros, por lo que la cantidad total de memoria podría llegar a ser mayor que en el caso anterior</a:t>
            </a:r>
            <a:endParaRPr/>
          </a:p>
        </p:txBody>
      </p:sp>
      <p:sp>
        <p:nvSpPr>
          <p:cNvPr id="204" name="Google Shape;204;p8:notes"/>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marR="0" rtl="0" algn="r">
              <a:spcBef>
                <a:spcPts val="0"/>
              </a:spcBef>
              <a:spcAft>
                <a:spcPts val="0"/>
              </a:spcAft>
              <a:buNone/>
            </a:pPr>
            <a:fld id="{00000000-1234-1234-1234-123412341234}" type="slidenum">
              <a:rPr b="0" i="0" lang="es-MX"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221" name="Google Shape;221;p9: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240" name="Google Shape;240;p10: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2" type="sldNum"/>
          </p:nvPr>
        </p:nvSpPr>
        <p:spPr>
          <a:xfrm>
            <a:off x="5799138" y="6743700"/>
            <a:ext cx="4435475" cy="355600"/>
          </a:xfrm>
          <a:prstGeom prst="rect">
            <a:avLst/>
          </a:prstGeom>
          <a:noFill/>
          <a:ln>
            <a:noFill/>
          </a:ln>
        </p:spPr>
        <p:txBody>
          <a:bodyPr anchorCtr="0" anchor="b" bIns="49500" lIns="99025" spcFirstLastPara="1" rIns="99025" wrap="square" tIns="49500">
            <a:noAutofit/>
          </a:bodyPr>
          <a:lstStyle/>
          <a:p>
            <a:pPr indent="0" lvl="0" marL="0" marR="0" rtl="0" algn="r">
              <a:spcBef>
                <a:spcPts val="0"/>
              </a:spcBef>
              <a:spcAft>
                <a:spcPts val="0"/>
              </a:spcAft>
              <a:buNone/>
            </a:pPr>
            <a:fld id="{00000000-1234-1234-1234-123412341234}" type="slidenum">
              <a:rPr b="0" lang="es-MX" sz="1300">
                <a:solidFill>
                  <a:schemeClr val="dk1"/>
                </a:solidFill>
                <a:latin typeface="Times New Roman"/>
                <a:ea typeface="Times New Roman"/>
                <a:cs typeface="Times New Roman"/>
                <a:sym typeface="Times New Roman"/>
              </a:rPr>
              <a:t>‹#›</a:t>
            </a:fld>
            <a:endParaRPr b="0" sz="1300">
              <a:solidFill>
                <a:schemeClr val="dk1"/>
              </a:solidFill>
              <a:latin typeface="Times New Roman"/>
              <a:ea typeface="Times New Roman"/>
              <a:cs typeface="Times New Roman"/>
              <a:sym typeface="Times New Roman"/>
            </a:endParaRPr>
          </a:p>
        </p:txBody>
      </p:sp>
      <p:sp>
        <p:nvSpPr>
          <p:cNvPr id="271" name="Google Shape;271;p11: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72" name="Google Shape;272;p11:notes"/>
          <p:cNvSpPr txBox="1"/>
          <p:nvPr>
            <p:ph idx="1" type="body"/>
          </p:nvPr>
        </p:nvSpPr>
        <p:spPr>
          <a:xfrm>
            <a:off x="1365250" y="3371850"/>
            <a:ext cx="7504113" cy="3195638"/>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9500" lIns="99025" spcFirstLastPara="1" rIns="99025" wrap="square" tIns="49500">
            <a:noAutofit/>
          </a:bodyPr>
          <a:lstStyle/>
          <a:p>
            <a:pPr indent="0" lvl="0" marL="0" rtl="0" algn="l">
              <a:spcBef>
                <a:spcPts val="0"/>
              </a:spcBef>
              <a:spcAft>
                <a:spcPts val="0"/>
              </a:spcAft>
              <a:buNone/>
            </a:pPr>
            <a:r>
              <a:rPr lang="es-MX"/>
              <a:t>También existe snprintf</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301" name="Google Shape;301;p13: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4: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309" name="Google Shape;309;p14: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5:notes"/>
          <p:cNvSpPr txBox="1"/>
          <p:nvPr>
            <p:ph idx="1" type="body"/>
          </p:nvPr>
        </p:nvSpPr>
        <p:spPr>
          <a:xfrm>
            <a:off x="1365250" y="3371850"/>
            <a:ext cx="7504113" cy="3195638"/>
          </a:xfrm>
          <a:prstGeom prst="rect">
            <a:avLst/>
          </a:prstGeom>
        </p:spPr>
        <p:txBody>
          <a:bodyPr anchorCtr="0" anchor="t" bIns="49500" lIns="99025" spcFirstLastPara="1" rIns="99025" wrap="square" tIns="49500">
            <a:noAutofit/>
          </a:bodyPr>
          <a:lstStyle/>
          <a:p>
            <a:pPr indent="0" lvl="0" marL="0" rtl="0" algn="l">
              <a:spcBef>
                <a:spcPts val="360"/>
              </a:spcBef>
              <a:spcAft>
                <a:spcPts val="0"/>
              </a:spcAft>
              <a:buNone/>
            </a:pPr>
            <a:r>
              <a:t/>
            </a:r>
            <a:endParaRPr/>
          </a:p>
        </p:txBody>
      </p:sp>
      <p:sp>
        <p:nvSpPr>
          <p:cNvPr id="335" name="Google Shape;335;p15:notes"/>
          <p:cNvSpPr/>
          <p:nvPr>
            <p:ph idx="2" type="sldImg"/>
          </p:nvPr>
        </p:nvSpPr>
        <p:spPr>
          <a:xfrm>
            <a:off x="2750080" y="531813"/>
            <a:ext cx="4732800" cy="2662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18" name="Google Shape;18;p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0" name="Google Shape;30;p4"/>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6858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6" name="Google Shape;36;p5"/>
          <p:cNvSpPr txBox="1"/>
          <p:nvPr>
            <p:ph idx="2" type="body"/>
          </p:nvPr>
        </p:nvSpPr>
        <p:spPr>
          <a:xfrm>
            <a:off x="4648200" y="1485900"/>
            <a:ext cx="3810000" cy="30861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7" name="Google Shape;37;p5"/>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3" name="Google Shape;43;p6"/>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4" name="Google Shape;44;p6"/>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5" name="Google Shape;45;p6"/>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6" name="Google Shape;46;p6"/>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61" name="Google Shape;61;p9"/>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2" name="Google Shape;62;p9"/>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459581"/>
            <a:ext cx="54864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Times New Roman"/>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68" name="Google Shape;68;p10"/>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9" name="Google Shape;69;p10"/>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3028950" y="-857250"/>
            <a:ext cx="30861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5429250" y="1543050"/>
            <a:ext cx="41148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1466850" y="-323850"/>
            <a:ext cx="41148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CC66"/>
            </a:gs>
            <a:gs pos="100000">
              <a:srgbClr val="FFEECB"/>
            </a:gs>
          </a:gsLst>
          <a:lin ang="27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457200"/>
            <a:ext cx="7772400" cy="857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485900"/>
            <a:ext cx="7772400" cy="30861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4686300"/>
            <a:ext cx="19050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9pPr>
          </a:lstStyle>
          <a:p/>
        </p:txBody>
      </p:sp>
      <p:sp>
        <p:nvSpPr>
          <p:cNvPr id="13" name="Google Shape;13;p1"/>
          <p:cNvSpPr txBox="1"/>
          <p:nvPr>
            <p:ph idx="11" type="ftr"/>
          </p:nvPr>
        </p:nvSpPr>
        <p:spPr>
          <a:xfrm>
            <a:off x="3124200" y="4686300"/>
            <a:ext cx="2895600" cy="342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1" i="0" sz="2400" u="none" cap="none" strike="noStrike">
                <a:solidFill>
                  <a:schemeClr val="dk1"/>
                </a:solidFill>
                <a:latin typeface="Courier New"/>
                <a:ea typeface="Courier New"/>
                <a:cs typeface="Courier New"/>
                <a:sym typeface="Courier New"/>
              </a:defRPr>
            </a:lvl9pPr>
          </a:lstStyle>
          <a:p/>
        </p:txBody>
      </p:sp>
      <p:sp>
        <p:nvSpPr>
          <p:cNvPr id="14" name="Google Shape;14;p1"/>
          <p:cNvSpPr txBox="1"/>
          <p:nvPr>
            <p:ph idx="12" type="sldNum"/>
          </p:nvPr>
        </p:nvSpPr>
        <p:spPr>
          <a:xfrm>
            <a:off x="6553200" y="4686300"/>
            <a:ext cx="1905000" cy="342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86916"/>
            <a:ext cx="77724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MX"/>
              <a:t>Programación Imperativa</a:t>
            </a:r>
            <a:endParaRPr/>
          </a:p>
        </p:txBody>
      </p:sp>
      <p:pic>
        <p:nvPicPr>
          <p:cNvPr descr="6: Too Many Words. Tonight, I started writing a short… | by Drew Potter |  100 Naked Words | Medium" id="89" name="Google Shape;89;p13"/>
          <p:cNvPicPr preferRelativeResize="0"/>
          <p:nvPr/>
        </p:nvPicPr>
        <p:blipFill rotWithShape="1">
          <a:blip r:embed="rId3">
            <a:alphaModFix amt="16000"/>
          </a:blip>
          <a:srcRect b="0" l="0" r="0" t="0"/>
          <a:stretch/>
        </p:blipFill>
        <p:spPr>
          <a:xfrm>
            <a:off x="0" y="0"/>
            <a:ext cx="9128203" cy="5133986"/>
          </a:xfrm>
          <a:prstGeom prst="rect">
            <a:avLst/>
          </a:prstGeom>
          <a:noFill/>
          <a:ln>
            <a:noFill/>
          </a:ln>
        </p:spPr>
      </p:pic>
      <p:sp>
        <p:nvSpPr>
          <p:cNvPr id="90" name="Google Shape;90;p13"/>
          <p:cNvSpPr txBox="1"/>
          <p:nvPr/>
        </p:nvSpPr>
        <p:spPr>
          <a:xfrm>
            <a:off x="495300" y="1209741"/>
            <a:ext cx="8153400" cy="1362000"/>
          </a:xfrm>
          <a:prstGeom prst="rect">
            <a:avLst/>
          </a:prstGeom>
          <a:noFill/>
          <a:ln>
            <a:noFill/>
          </a:ln>
        </p:spPr>
        <p:txBody>
          <a:bodyPr anchorCtr="0" anchor="t" bIns="45700" lIns="91425" spcFirstLastPara="1" rIns="91425" wrap="square" tIns="45700">
            <a:noAutofit/>
          </a:bodyPr>
          <a:lstStyle/>
          <a:p>
            <a:pPr indent="-241300" lvl="0" marL="0" marR="0" rtl="0" algn="l">
              <a:spcBef>
                <a:spcPts val="1400"/>
              </a:spcBef>
              <a:spcAft>
                <a:spcPts val="0"/>
              </a:spcAft>
              <a:buClr>
                <a:schemeClr val="dk1"/>
              </a:buClr>
              <a:buSzPts val="3800"/>
              <a:buFont typeface="Noto Sans Symbols"/>
              <a:buChar char="❖"/>
            </a:pPr>
            <a:r>
              <a:rPr b="1" i="0" lang="es-MX" sz="3800" u="none" cap="none" strike="noStrike">
                <a:solidFill>
                  <a:schemeClr val="dk1"/>
                </a:solidFill>
                <a:latin typeface="Times New Roman"/>
                <a:ea typeface="Times New Roman"/>
                <a:cs typeface="Times New Roman"/>
                <a:sym typeface="Times New Roman"/>
              </a:rPr>
              <a:t>  scanf</a:t>
            </a:r>
            <a:endParaRPr b="1" i="0" sz="3800" u="none" cap="none" strike="noStrike">
              <a:solidFill>
                <a:schemeClr val="dk1"/>
              </a:solidFill>
              <a:latin typeface="Times New Roman"/>
              <a:ea typeface="Times New Roman"/>
              <a:cs typeface="Times New Roman"/>
              <a:sym typeface="Times New Roman"/>
            </a:endParaRPr>
          </a:p>
          <a:p>
            <a:pPr indent="-241300" lvl="0" marL="0" marR="0" rtl="0" algn="l">
              <a:spcBef>
                <a:spcPts val="1400"/>
              </a:spcBef>
              <a:spcAft>
                <a:spcPts val="0"/>
              </a:spcAft>
              <a:buClr>
                <a:schemeClr val="dk1"/>
              </a:buClr>
              <a:buSzPts val="3800"/>
              <a:buFont typeface="Noto Sans Symbols"/>
              <a:buChar char="❖"/>
            </a:pPr>
            <a:r>
              <a:rPr b="1" i="0" lang="es-MX" sz="3800" u="none" cap="none" strike="noStrike">
                <a:solidFill>
                  <a:schemeClr val="dk1"/>
                </a:solidFill>
                <a:latin typeface="Times New Roman"/>
                <a:ea typeface="Times New Roman"/>
                <a:cs typeface="Times New Roman"/>
                <a:sym typeface="Times New Roman"/>
              </a:rPr>
              <a:t> vectores de strings</a:t>
            </a:r>
            <a:endParaRPr b="1" i="0" sz="3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flipH="1" rot="10800000">
            <a:off x="114300" y="1200000"/>
            <a:ext cx="8091600" cy="971700"/>
          </a:xfrm>
          <a:prstGeom prst="verticalScroll">
            <a:avLst>
              <a:gd fmla="val 22181" name="adj"/>
            </a:avLst>
          </a:prstGeom>
          <a:solidFill>
            <a:srgbClr val="CC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txBox="1"/>
          <p:nvPr/>
        </p:nvSpPr>
        <p:spPr>
          <a:xfrm flipH="1">
            <a:off x="401655" y="1307900"/>
            <a:ext cx="7516800" cy="648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98" name="Google Shape;98;p14"/>
          <p:cNvSpPr txBox="1"/>
          <p:nvPr>
            <p:ph type="title"/>
          </p:nvPr>
        </p:nvSpPr>
        <p:spPr>
          <a:xfrm>
            <a:off x="304800" y="285750"/>
            <a:ext cx="65532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MX" sz="4000">
                <a:solidFill>
                  <a:schemeClr val="accent2"/>
                </a:solidFill>
              </a:rPr>
              <a:t>St</a:t>
            </a:r>
            <a:r>
              <a:rPr lang="es-MX" sz="4000"/>
              <a:t>andar</a:t>
            </a:r>
            <a:r>
              <a:rPr lang="es-MX" sz="4000">
                <a:solidFill>
                  <a:schemeClr val="accent2"/>
                </a:solidFill>
              </a:rPr>
              <a:t>d</a:t>
            </a:r>
            <a:r>
              <a:rPr lang="es-MX" sz="4000"/>
              <a:t> </a:t>
            </a:r>
            <a:r>
              <a:rPr lang="es-MX" sz="4000">
                <a:solidFill>
                  <a:schemeClr val="accent2"/>
                </a:solidFill>
              </a:rPr>
              <a:t>I</a:t>
            </a:r>
            <a:r>
              <a:rPr lang="es-MX" sz="4000"/>
              <a:t>nput/</a:t>
            </a:r>
            <a:r>
              <a:rPr lang="es-MX" sz="4000">
                <a:solidFill>
                  <a:schemeClr val="accent2"/>
                </a:solidFill>
              </a:rPr>
              <a:t>O</a:t>
            </a:r>
            <a:r>
              <a:rPr lang="es-MX" sz="4000"/>
              <a:t>utput Library</a:t>
            </a:r>
            <a:endParaRPr/>
          </a:p>
        </p:txBody>
      </p:sp>
      <p:grpSp>
        <p:nvGrpSpPr>
          <p:cNvPr id="99" name="Google Shape;99;p14"/>
          <p:cNvGrpSpPr/>
          <p:nvPr/>
        </p:nvGrpSpPr>
        <p:grpSpPr>
          <a:xfrm>
            <a:off x="7391400" y="114300"/>
            <a:ext cx="1676400" cy="1371600"/>
            <a:chOff x="4328" y="96"/>
            <a:chExt cx="1144" cy="1200"/>
          </a:xfrm>
        </p:grpSpPr>
        <p:pic>
          <p:nvPicPr>
            <p:cNvPr descr="CLIPPED" id="100" name="Google Shape;100;p14"/>
            <p:cNvPicPr preferRelativeResize="0"/>
            <p:nvPr/>
          </p:nvPicPr>
          <p:blipFill rotWithShape="1">
            <a:blip r:embed="rId3">
              <a:alphaModFix/>
            </a:blip>
            <a:srcRect b="0" l="0" r="0" t="0"/>
            <a:stretch/>
          </p:blipFill>
          <p:spPr>
            <a:xfrm>
              <a:off x="4328" y="96"/>
              <a:ext cx="1144" cy="1200"/>
            </a:xfrm>
            <a:prstGeom prst="rect">
              <a:avLst/>
            </a:prstGeom>
            <a:noFill/>
            <a:ln>
              <a:noFill/>
            </a:ln>
          </p:spPr>
        </p:pic>
        <p:sp>
          <p:nvSpPr>
            <p:cNvPr id="101" name="Google Shape;101;p14"/>
            <p:cNvSpPr txBox="1"/>
            <p:nvPr/>
          </p:nvSpPr>
          <p:spPr>
            <a:xfrm>
              <a:off x="4407" y="593"/>
              <a:ext cx="1017" cy="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stdio.h</a:t>
              </a:r>
              <a:endParaRPr b="1" i="0" sz="2400" u="none" cap="none" strike="noStrike">
                <a:solidFill>
                  <a:schemeClr val="dk1"/>
                </a:solidFill>
                <a:latin typeface="Courier New"/>
                <a:ea typeface="Courier New"/>
                <a:cs typeface="Courier New"/>
                <a:sym typeface="Courier New"/>
              </a:endParaRPr>
            </a:p>
          </p:txBody>
        </p:sp>
        <p:cxnSp>
          <p:nvCxnSpPr>
            <p:cNvPr id="102" name="Google Shape;102;p14"/>
            <p:cNvCxnSpPr/>
            <p:nvPr/>
          </p:nvCxnSpPr>
          <p:spPr>
            <a:xfrm>
              <a:off x="4606" y="924"/>
              <a:ext cx="555" cy="0"/>
            </a:xfrm>
            <a:prstGeom prst="straightConnector1">
              <a:avLst/>
            </a:prstGeom>
            <a:noFill/>
            <a:ln cap="flat" cmpd="sng" w="9525">
              <a:solidFill>
                <a:schemeClr val="dk1"/>
              </a:solidFill>
              <a:prstDash val="solid"/>
              <a:round/>
              <a:headEnd len="med" w="med" type="none"/>
              <a:tailEnd len="med" w="med" type="none"/>
            </a:ln>
          </p:spPr>
        </p:cxnSp>
        <p:cxnSp>
          <p:nvCxnSpPr>
            <p:cNvPr id="103" name="Google Shape;103;p14"/>
            <p:cNvCxnSpPr/>
            <p:nvPr/>
          </p:nvCxnSpPr>
          <p:spPr>
            <a:xfrm>
              <a:off x="4606" y="965"/>
              <a:ext cx="555"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14"/>
            <p:cNvCxnSpPr/>
            <p:nvPr/>
          </p:nvCxnSpPr>
          <p:spPr>
            <a:xfrm>
              <a:off x="4606" y="1006"/>
              <a:ext cx="555" cy="0"/>
            </a:xfrm>
            <a:prstGeom prst="straightConnector1">
              <a:avLst/>
            </a:prstGeom>
            <a:noFill/>
            <a:ln cap="flat" cmpd="sng" w="9525">
              <a:solidFill>
                <a:schemeClr val="dk1"/>
              </a:solidFill>
              <a:prstDash val="solid"/>
              <a:round/>
              <a:headEnd len="med" w="med" type="none"/>
              <a:tailEnd len="med" w="med" type="none"/>
            </a:ln>
          </p:spPr>
        </p:cxnSp>
        <p:cxnSp>
          <p:nvCxnSpPr>
            <p:cNvPr id="105" name="Google Shape;105;p14"/>
            <p:cNvCxnSpPr/>
            <p:nvPr/>
          </p:nvCxnSpPr>
          <p:spPr>
            <a:xfrm>
              <a:off x="4606" y="1048"/>
              <a:ext cx="555" cy="0"/>
            </a:xfrm>
            <a:prstGeom prst="straightConnector1">
              <a:avLst/>
            </a:prstGeom>
            <a:noFill/>
            <a:ln cap="flat" cmpd="sng" w="9525">
              <a:solidFill>
                <a:schemeClr val="dk1"/>
              </a:solidFill>
              <a:prstDash val="solid"/>
              <a:round/>
              <a:headEnd len="med" w="med" type="none"/>
              <a:tailEnd len="med" w="med" type="none"/>
            </a:ln>
          </p:spPr>
        </p:cxnSp>
        <p:cxnSp>
          <p:nvCxnSpPr>
            <p:cNvPr id="106" name="Google Shape;106;p14"/>
            <p:cNvCxnSpPr/>
            <p:nvPr/>
          </p:nvCxnSpPr>
          <p:spPr>
            <a:xfrm>
              <a:off x="4606" y="1089"/>
              <a:ext cx="555" cy="0"/>
            </a:xfrm>
            <a:prstGeom prst="straightConnector1">
              <a:avLst/>
            </a:prstGeom>
            <a:noFill/>
            <a:ln cap="flat" cmpd="sng" w="9525">
              <a:solidFill>
                <a:schemeClr val="dk1"/>
              </a:solidFill>
              <a:prstDash val="solid"/>
              <a:round/>
              <a:headEnd len="med" w="med" type="none"/>
              <a:tailEnd len="med" w="med" type="none"/>
            </a:ln>
          </p:spPr>
        </p:cxnSp>
        <p:cxnSp>
          <p:nvCxnSpPr>
            <p:cNvPr id="107" name="Google Shape;107;p14"/>
            <p:cNvCxnSpPr/>
            <p:nvPr/>
          </p:nvCxnSpPr>
          <p:spPr>
            <a:xfrm>
              <a:off x="4606" y="593"/>
              <a:ext cx="555" cy="0"/>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14"/>
            <p:cNvCxnSpPr/>
            <p:nvPr/>
          </p:nvCxnSpPr>
          <p:spPr>
            <a:xfrm>
              <a:off x="4606" y="551"/>
              <a:ext cx="555" cy="0"/>
            </a:xfrm>
            <a:prstGeom prst="straightConnector1">
              <a:avLst/>
            </a:prstGeom>
            <a:noFill/>
            <a:ln cap="flat" cmpd="sng" w="9525">
              <a:solidFill>
                <a:schemeClr val="dk1"/>
              </a:solidFill>
              <a:prstDash val="solid"/>
              <a:round/>
              <a:headEnd len="med" w="med" type="none"/>
              <a:tailEnd len="med" w="med" type="none"/>
            </a:ln>
          </p:spPr>
        </p:cxnSp>
        <p:cxnSp>
          <p:nvCxnSpPr>
            <p:cNvPr id="109" name="Google Shape;109;p14"/>
            <p:cNvCxnSpPr/>
            <p:nvPr/>
          </p:nvCxnSpPr>
          <p:spPr>
            <a:xfrm>
              <a:off x="4606" y="510"/>
              <a:ext cx="555" cy="0"/>
            </a:xfrm>
            <a:prstGeom prst="straightConnector1">
              <a:avLst/>
            </a:prstGeom>
            <a:noFill/>
            <a:ln cap="flat" cmpd="sng" w="9525">
              <a:solidFill>
                <a:schemeClr val="dk1"/>
              </a:solidFill>
              <a:prstDash val="solid"/>
              <a:round/>
              <a:headEnd len="med" w="med" type="none"/>
              <a:tailEnd len="med" w="med" type="none"/>
            </a:ln>
          </p:spPr>
        </p:cxnSp>
        <p:cxnSp>
          <p:nvCxnSpPr>
            <p:cNvPr id="110" name="Google Shape;110;p14"/>
            <p:cNvCxnSpPr/>
            <p:nvPr/>
          </p:nvCxnSpPr>
          <p:spPr>
            <a:xfrm>
              <a:off x="4606" y="468"/>
              <a:ext cx="555" cy="0"/>
            </a:xfrm>
            <a:prstGeom prst="straightConnector1">
              <a:avLst/>
            </a:prstGeom>
            <a:noFill/>
            <a:ln cap="flat" cmpd="sng" w="9525">
              <a:solidFill>
                <a:schemeClr val="dk1"/>
              </a:solidFill>
              <a:prstDash val="solid"/>
              <a:round/>
              <a:headEnd len="med" w="med" type="none"/>
              <a:tailEnd len="med" w="med" type="none"/>
            </a:ln>
          </p:spPr>
        </p:cxnSp>
        <p:cxnSp>
          <p:nvCxnSpPr>
            <p:cNvPr id="111" name="Google Shape;111;p14"/>
            <p:cNvCxnSpPr/>
            <p:nvPr/>
          </p:nvCxnSpPr>
          <p:spPr>
            <a:xfrm>
              <a:off x="4606" y="427"/>
              <a:ext cx="555" cy="0"/>
            </a:xfrm>
            <a:prstGeom prst="straightConnector1">
              <a:avLst/>
            </a:prstGeom>
            <a:noFill/>
            <a:ln cap="flat" cmpd="sng" w="9525">
              <a:solidFill>
                <a:schemeClr val="dk1"/>
              </a:solidFill>
              <a:prstDash val="solid"/>
              <a:round/>
              <a:headEnd len="med" w="med" type="none"/>
              <a:tailEnd len="med" w="med" type="none"/>
            </a:ln>
          </p:spPr>
        </p:cxnSp>
      </p:grpSp>
      <p:sp>
        <p:nvSpPr>
          <p:cNvPr id="112" name="Google Shape;112;p14"/>
          <p:cNvSpPr txBox="1"/>
          <p:nvPr/>
        </p:nvSpPr>
        <p:spPr>
          <a:xfrm>
            <a:off x="533400" y="1508522"/>
            <a:ext cx="7494600" cy="322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200"/>
              <a:buFont typeface="Courier New"/>
              <a:buNone/>
            </a:pPr>
            <a:r>
              <a:rPr b="1" i="0" lang="es-MX" sz="2200" u="none" cap="none" strike="noStrike">
                <a:solidFill>
                  <a:schemeClr val="dk1"/>
                </a:solidFill>
                <a:latin typeface="Courier New"/>
                <a:ea typeface="Courier New"/>
                <a:cs typeface="Courier New"/>
                <a:sym typeface="Courier New"/>
              </a:rPr>
              <a:t>int scanf(const char * restrict fmt, ...);</a:t>
            </a:r>
            <a:endParaRPr b="1" i="0" sz="2200" u="none" cap="none" strike="noStrike">
              <a:solidFill>
                <a:schemeClr val="dk1"/>
              </a:solidFill>
              <a:latin typeface="Courier New"/>
              <a:ea typeface="Courier New"/>
              <a:cs typeface="Courier New"/>
              <a:sym typeface="Courier New"/>
            </a:endParaRPr>
          </a:p>
        </p:txBody>
      </p:sp>
      <p:sp>
        <p:nvSpPr>
          <p:cNvPr id="113" name="Google Shape;113;p14"/>
          <p:cNvSpPr txBox="1"/>
          <p:nvPr/>
        </p:nvSpPr>
        <p:spPr>
          <a:xfrm>
            <a:off x="381000" y="3348038"/>
            <a:ext cx="1905000" cy="709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Times New Roman"/>
              <a:buNone/>
            </a:pPr>
            <a:r>
              <a:rPr b="1" i="0" lang="es-MX" sz="2800" u="none" cap="none" strike="noStrike">
                <a:solidFill>
                  <a:schemeClr val="dk1"/>
                </a:solidFill>
                <a:latin typeface="Times New Roman"/>
                <a:ea typeface="Times New Roman"/>
                <a:cs typeface="Times New Roman"/>
                <a:sym typeface="Times New Roman"/>
              </a:rPr>
              <a:t>Cadena de formato</a:t>
            </a:r>
            <a:endParaRPr b="1" i="0" sz="2800" u="none" cap="none" strike="noStrike">
              <a:solidFill>
                <a:schemeClr val="dk1"/>
              </a:solidFill>
              <a:latin typeface="Times New Roman"/>
              <a:ea typeface="Times New Roman"/>
              <a:cs typeface="Times New Roman"/>
              <a:sym typeface="Times New Roman"/>
            </a:endParaRPr>
          </a:p>
        </p:txBody>
      </p:sp>
      <p:sp>
        <p:nvSpPr>
          <p:cNvPr id="114" name="Google Shape;114;p14"/>
          <p:cNvSpPr txBox="1"/>
          <p:nvPr/>
        </p:nvSpPr>
        <p:spPr>
          <a:xfrm>
            <a:off x="2667000" y="3143250"/>
            <a:ext cx="5867400" cy="3429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Caracteres de espaciado</a:t>
            </a:r>
            <a:endParaRPr b="1" i="0" sz="2400" u="none" cap="none" strike="noStrike">
              <a:solidFill>
                <a:schemeClr val="dk1"/>
              </a:solidFill>
              <a:latin typeface="Courier New"/>
              <a:ea typeface="Courier New"/>
              <a:cs typeface="Courier New"/>
              <a:sym typeface="Courier New"/>
            </a:endParaRPr>
          </a:p>
        </p:txBody>
      </p:sp>
      <p:sp>
        <p:nvSpPr>
          <p:cNvPr id="115" name="Google Shape;115;p14"/>
          <p:cNvSpPr txBox="1"/>
          <p:nvPr/>
        </p:nvSpPr>
        <p:spPr>
          <a:xfrm>
            <a:off x="2667000" y="3543300"/>
            <a:ext cx="4572000" cy="3429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Caracteres ordinarios</a:t>
            </a:r>
            <a:endParaRPr b="1" i="0" sz="2400" u="none" cap="none" strike="noStrike">
              <a:solidFill>
                <a:schemeClr val="dk1"/>
              </a:solidFill>
              <a:latin typeface="Courier New"/>
              <a:ea typeface="Courier New"/>
              <a:cs typeface="Courier New"/>
              <a:sym typeface="Courier New"/>
            </a:endParaRPr>
          </a:p>
        </p:txBody>
      </p:sp>
      <p:sp>
        <p:nvSpPr>
          <p:cNvPr id="116" name="Google Shape;116;p14"/>
          <p:cNvSpPr txBox="1"/>
          <p:nvPr/>
        </p:nvSpPr>
        <p:spPr>
          <a:xfrm>
            <a:off x="2667000" y="3943350"/>
            <a:ext cx="6248400" cy="3429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Especificaciones de conversión</a:t>
            </a:r>
            <a:endParaRPr b="1" i="0" sz="2400" u="none" cap="none" strike="noStrike">
              <a:solidFill>
                <a:schemeClr val="dk1"/>
              </a:solidFill>
              <a:latin typeface="Courier New"/>
              <a:ea typeface="Courier New"/>
              <a:cs typeface="Courier New"/>
              <a:sym typeface="Courier New"/>
            </a:endParaRPr>
          </a:p>
        </p:txBody>
      </p:sp>
      <p:sp>
        <p:nvSpPr>
          <p:cNvPr id="117" name="Google Shape;117;p14"/>
          <p:cNvSpPr/>
          <p:nvPr/>
        </p:nvSpPr>
        <p:spPr>
          <a:xfrm>
            <a:off x="2162175" y="2940625"/>
            <a:ext cx="381000" cy="1579500"/>
          </a:xfrm>
          <a:prstGeom prst="leftBrace">
            <a:avLst>
              <a:gd fmla="val 36667" name="adj1"/>
              <a:gd fmla="val 50000"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p:nvPr/>
        </p:nvSpPr>
        <p:spPr>
          <a:xfrm>
            <a:off x="1676400" y="857250"/>
            <a:ext cx="5791200" cy="457200"/>
          </a:xfrm>
          <a:prstGeom prst="roundRect">
            <a:avLst>
              <a:gd fmla="val 16667" name="adj"/>
            </a:avLst>
          </a:prstGeom>
          <a:solidFill>
            <a:srgbClr val="FFCC99"/>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23" name="Google Shape;123;p15"/>
          <p:cNvSpPr txBox="1"/>
          <p:nvPr>
            <p:ph type="title"/>
          </p:nvPr>
        </p:nvSpPr>
        <p:spPr>
          <a:xfrm>
            <a:off x="685800" y="342900"/>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MX" sz="4000"/>
              <a:t>Especificaciones de conversión</a:t>
            </a:r>
            <a:endParaRPr/>
          </a:p>
        </p:txBody>
      </p:sp>
      <p:sp>
        <p:nvSpPr>
          <p:cNvPr id="124" name="Google Shape;124;p15"/>
          <p:cNvSpPr txBox="1"/>
          <p:nvPr/>
        </p:nvSpPr>
        <p:spPr>
          <a:xfrm>
            <a:off x="1752600" y="914400"/>
            <a:ext cx="56388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Black"/>
              <a:buNone/>
            </a:pPr>
            <a:r>
              <a:rPr b="0" i="0" lang="es-MX" sz="2400" u="none" cap="none" strike="noStrike">
                <a:solidFill>
                  <a:schemeClr val="dk1"/>
                </a:solidFill>
                <a:latin typeface="Arial Black"/>
                <a:ea typeface="Arial Black"/>
                <a:cs typeface="Arial Black"/>
                <a:sym typeface="Arial Black"/>
              </a:rPr>
              <a:t>%d   %u   %o   %x   %f   %c   %s</a:t>
            </a:r>
            <a:endParaRPr b="0" i="0" sz="2400" u="none" cap="none" strike="noStrike">
              <a:solidFill>
                <a:schemeClr val="dk1"/>
              </a:solidFill>
              <a:latin typeface="Arial Black"/>
              <a:ea typeface="Arial Black"/>
              <a:cs typeface="Arial Black"/>
              <a:sym typeface="Arial Black"/>
            </a:endParaRPr>
          </a:p>
        </p:txBody>
      </p:sp>
      <p:grpSp>
        <p:nvGrpSpPr>
          <p:cNvPr id="125" name="Google Shape;125;p15"/>
          <p:cNvGrpSpPr/>
          <p:nvPr/>
        </p:nvGrpSpPr>
        <p:grpSpPr>
          <a:xfrm>
            <a:off x="228600" y="1485900"/>
            <a:ext cx="8953500" cy="1543050"/>
            <a:chOff x="144" y="1248"/>
            <a:chExt cx="5640" cy="1296"/>
          </a:xfrm>
        </p:grpSpPr>
        <p:sp>
          <p:nvSpPr>
            <p:cNvPr id="126" name="Google Shape;126;p15"/>
            <p:cNvSpPr/>
            <p:nvPr/>
          </p:nvSpPr>
          <p:spPr>
            <a:xfrm>
              <a:off x="144" y="1248"/>
              <a:ext cx="5424" cy="1296"/>
            </a:xfrm>
            <a:prstGeom prst="roundRect">
              <a:avLst>
                <a:gd fmla="val 16667" name="adj"/>
              </a:avLst>
            </a:prstGeom>
            <a:solidFill>
              <a:srgbClr val="CC99FF"/>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27" name="Google Shape;127;p15"/>
            <p:cNvSpPr txBox="1"/>
            <p:nvPr/>
          </p:nvSpPr>
          <p:spPr>
            <a:xfrm>
              <a:off x="144" y="1708"/>
              <a:ext cx="1200" cy="32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800"/>
                <a:buFont typeface="Times New Roman"/>
                <a:buNone/>
              </a:pPr>
              <a:r>
                <a:rPr b="1" i="0" lang="es-MX" sz="2800" u="none" cap="none" strike="noStrike">
                  <a:solidFill>
                    <a:schemeClr val="dk1"/>
                  </a:solidFill>
                  <a:latin typeface="Times New Roman"/>
                  <a:ea typeface="Times New Roman"/>
                  <a:cs typeface="Times New Roman"/>
                  <a:sym typeface="Times New Roman"/>
                </a:rPr>
                <a:t>Opcionales</a:t>
              </a:r>
              <a:endParaRPr b="1" i="0" sz="2800" u="none" cap="none" strike="noStrike">
                <a:solidFill>
                  <a:schemeClr val="dk1"/>
                </a:solidFill>
                <a:latin typeface="Times New Roman"/>
                <a:ea typeface="Times New Roman"/>
                <a:cs typeface="Times New Roman"/>
                <a:sym typeface="Times New Roman"/>
              </a:endParaRPr>
            </a:p>
          </p:txBody>
        </p:sp>
        <p:sp>
          <p:nvSpPr>
            <p:cNvPr id="128" name="Google Shape;128;p15"/>
            <p:cNvSpPr txBox="1"/>
            <p:nvPr/>
          </p:nvSpPr>
          <p:spPr>
            <a:xfrm>
              <a:off x="1584" y="1410"/>
              <a:ext cx="3900" cy="3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Caracter de supresión</a:t>
              </a:r>
              <a:endParaRPr b="1" i="0" sz="2400" u="none" cap="none" strike="noStrike">
                <a:solidFill>
                  <a:schemeClr val="dk1"/>
                </a:solidFill>
                <a:latin typeface="Courier New"/>
                <a:ea typeface="Courier New"/>
                <a:cs typeface="Courier New"/>
                <a:sym typeface="Courier New"/>
              </a:endParaRPr>
            </a:p>
          </p:txBody>
        </p:sp>
        <p:sp>
          <p:nvSpPr>
            <p:cNvPr id="129" name="Google Shape;129;p15"/>
            <p:cNvSpPr txBox="1"/>
            <p:nvPr/>
          </p:nvSpPr>
          <p:spPr>
            <a:xfrm>
              <a:off x="1584" y="1746"/>
              <a:ext cx="3900" cy="3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Número para amplitud de campo</a:t>
              </a:r>
              <a:endParaRPr b="1" i="0" sz="2400" u="none" cap="none" strike="noStrike">
                <a:solidFill>
                  <a:schemeClr val="dk1"/>
                </a:solidFill>
                <a:latin typeface="Courier New"/>
                <a:ea typeface="Courier New"/>
                <a:cs typeface="Courier New"/>
                <a:sym typeface="Courier New"/>
              </a:endParaRPr>
            </a:p>
          </p:txBody>
        </p:sp>
        <p:sp>
          <p:nvSpPr>
            <p:cNvPr id="130" name="Google Shape;130;p15"/>
            <p:cNvSpPr txBox="1"/>
            <p:nvPr/>
          </p:nvSpPr>
          <p:spPr>
            <a:xfrm>
              <a:off x="1584" y="2082"/>
              <a:ext cx="4200" cy="300"/>
            </a:xfrm>
            <a:prstGeom prst="rect">
              <a:avLst/>
            </a:prstGeom>
            <a:noFill/>
            <a:ln>
              <a:noFill/>
            </a:ln>
          </p:spPr>
          <p:txBody>
            <a:bodyPr anchorCtr="0" anchor="t" bIns="45700" lIns="91425" spcFirstLastPara="1" rIns="91425" wrap="square" tIns="45700">
              <a:noAutofit/>
            </a:bodyPr>
            <a:lstStyle/>
            <a:p>
              <a:pPr indent="-152400" lvl="0" marL="0" marR="0" rtl="0" algn="l">
                <a:spcBef>
                  <a:spcPts val="0"/>
                </a:spcBef>
                <a:spcAft>
                  <a:spcPts val="0"/>
                </a:spcAft>
                <a:buClr>
                  <a:schemeClr val="dk1"/>
                </a:buClr>
                <a:buSzPts val="2400"/>
                <a:buFont typeface="Noto Sans Symbols"/>
                <a:buChar char="❖"/>
              </a:pPr>
              <a:r>
                <a:rPr b="1" i="0" lang="es-MX" sz="2400" u="none" cap="none" strike="noStrike">
                  <a:solidFill>
                    <a:schemeClr val="dk1"/>
                  </a:solidFill>
                  <a:latin typeface="Courier New"/>
                  <a:ea typeface="Courier New"/>
                  <a:cs typeface="Courier New"/>
                  <a:sym typeface="Courier New"/>
                </a:rPr>
                <a:t> h,l</a:t>
              </a:r>
              <a:r>
                <a:rPr b="1" i="0" lang="es-MX" sz="1200" u="none" cap="none" strike="noStrike">
                  <a:solidFill>
                    <a:schemeClr val="dk1"/>
                  </a:solidFill>
                  <a:latin typeface="Courier New"/>
                  <a:ea typeface="Courier New"/>
                  <a:cs typeface="Courier New"/>
                  <a:sym typeface="Courier New"/>
                </a:rPr>
                <a:t> </a:t>
              </a:r>
              <a:r>
                <a:rPr b="1" i="0" lang="es-MX" sz="2400" u="none" cap="none" strike="noStrike">
                  <a:solidFill>
                    <a:schemeClr val="dk1"/>
                  </a:solidFill>
                  <a:latin typeface="Courier New"/>
                  <a:ea typeface="Courier New"/>
                  <a:cs typeface="Courier New"/>
                  <a:sym typeface="Courier New"/>
                </a:rPr>
                <a:t>o</a:t>
              </a:r>
              <a:r>
                <a:rPr b="1" i="0" lang="es-MX" sz="1200" u="none" cap="none" strike="noStrike">
                  <a:solidFill>
                    <a:schemeClr val="dk1"/>
                  </a:solidFill>
                  <a:latin typeface="Courier New"/>
                  <a:ea typeface="Courier New"/>
                  <a:cs typeface="Courier New"/>
                  <a:sym typeface="Courier New"/>
                </a:rPr>
                <a:t> </a:t>
              </a:r>
              <a:r>
                <a:rPr b="1" i="0" lang="es-MX" sz="2400" u="none" cap="none" strike="noStrike">
                  <a:solidFill>
                    <a:schemeClr val="dk1"/>
                  </a:solidFill>
                  <a:latin typeface="Courier New"/>
                  <a:ea typeface="Courier New"/>
                  <a:cs typeface="Courier New"/>
                  <a:sym typeface="Courier New"/>
                </a:rPr>
                <a:t>L para amplitud del destino</a:t>
              </a:r>
              <a:endParaRPr b="1" i="0" sz="2400" u="none" cap="none" strike="noStrike">
                <a:solidFill>
                  <a:schemeClr val="dk1"/>
                </a:solidFill>
                <a:latin typeface="Courier New"/>
                <a:ea typeface="Courier New"/>
                <a:cs typeface="Courier New"/>
                <a:sym typeface="Courier New"/>
              </a:endParaRPr>
            </a:p>
          </p:txBody>
        </p:sp>
        <p:sp>
          <p:nvSpPr>
            <p:cNvPr id="131" name="Google Shape;131;p15"/>
            <p:cNvSpPr/>
            <p:nvPr/>
          </p:nvSpPr>
          <p:spPr>
            <a:xfrm>
              <a:off x="1296" y="1344"/>
              <a:ext cx="300" cy="1200"/>
            </a:xfrm>
            <a:prstGeom prst="leftBrace">
              <a:avLst>
                <a:gd fmla="val 36515" name="adj1"/>
                <a:gd fmla="val 50000"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grpSp>
      <p:grpSp>
        <p:nvGrpSpPr>
          <p:cNvPr id="132" name="Google Shape;132;p15"/>
          <p:cNvGrpSpPr/>
          <p:nvPr/>
        </p:nvGrpSpPr>
        <p:grpSpPr>
          <a:xfrm>
            <a:off x="914400" y="3086100"/>
            <a:ext cx="7239000" cy="1257300"/>
            <a:chOff x="576" y="2592"/>
            <a:chExt cx="4560" cy="1056"/>
          </a:xfrm>
        </p:grpSpPr>
        <p:grpSp>
          <p:nvGrpSpPr>
            <p:cNvPr id="133" name="Google Shape;133;p15"/>
            <p:cNvGrpSpPr/>
            <p:nvPr/>
          </p:nvGrpSpPr>
          <p:grpSpPr>
            <a:xfrm>
              <a:off x="576" y="3264"/>
              <a:ext cx="4560" cy="384"/>
              <a:chOff x="432" y="3168"/>
              <a:chExt cx="4560" cy="384"/>
            </a:xfrm>
          </p:grpSpPr>
          <p:sp>
            <p:nvSpPr>
              <p:cNvPr id="134" name="Google Shape;134;p15"/>
              <p:cNvSpPr/>
              <p:nvPr/>
            </p:nvSpPr>
            <p:spPr>
              <a:xfrm>
                <a:off x="432" y="3168"/>
                <a:ext cx="4512" cy="384"/>
              </a:xfrm>
              <a:prstGeom prst="roundRect">
                <a:avLst>
                  <a:gd fmla="val 16667" name="adj"/>
                </a:avLst>
              </a:prstGeom>
              <a:solidFill>
                <a:srgbClr val="FFFF99"/>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35" name="Google Shape;135;p15"/>
              <p:cNvSpPr txBox="1"/>
              <p:nvPr/>
            </p:nvSpPr>
            <p:spPr>
              <a:xfrm>
                <a:off x="480" y="3216"/>
                <a:ext cx="4512" cy="2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00080"/>
                  </a:buClr>
                  <a:buSzPts val="2400"/>
                  <a:buFont typeface="Arial Black"/>
                  <a:buNone/>
                </a:pPr>
                <a:r>
                  <a:rPr b="0" i="0" lang="es-MX" sz="2400" u="none" cap="none" strike="noStrike">
                    <a:solidFill>
                      <a:srgbClr val="800080"/>
                    </a:solidFill>
                    <a:latin typeface="Arial Black"/>
                    <a:ea typeface="Arial Black"/>
                    <a:cs typeface="Arial Black"/>
                    <a:sym typeface="Arial Black"/>
                  </a:rPr>
                  <a:t>%*d   %3u   %ho   %*x   %4f   %*c   %5s</a:t>
                </a:r>
                <a:endParaRPr b="0" i="0" sz="2400" u="none" cap="none" strike="noStrike">
                  <a:solidFill>
                    <a:srgbClr val="800080"/>
                  </a:solidFill>
                  <a:latin typeface="Arial Black"/>
                  <a:ea typeface="Arial Black"/>
                  <a:cs typeface="Arial Black"/>
                  <a:sym typeface="Arial Black"/>
                </a:endParaRPr>
              </a:p>
            </p:txBody>
          </p:sp>
        </p:grpSp>
        <p:sp>
          <p:nvSpPr>
            <p:cNvPr id="136" name="Google Shape;136;p15"/>
            <p:cNvSpPr/>
            <p:nvPr/>
          </p:nvSpPr>
          <p:spPr>
            <a:xfrm>
              <a:off x="2400" y="2592"/>
              <a:ext cx="768" cy="576"/>
            </a:xfrm>
            <a:prstGeom prst="downArrow">
              <a:avLst>
                <a:gd fmla="val 50000" name="adj1"/>
                <a:gd fmla="val 25000" name="adj2"/>
              </a:avLst>
            </a:prstGeom>
            <a:gradFill>
              <a:gsLst>
                <a:gs pos="0">
                  <a:srgbClr val="47005E"/>
                </a:gs>
                <a:gs pos="50000">
                  <a:srgbClr val="9900CC"/>
                </a:gs>
                <a:gs pos="100000">
                  <a:srgbClr val="47005E"/>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ppt_w</p:attrName>
                                        </p:attrNameLst>
                                      </p:cBhvr>
                                      <p:tavLst>
                                        <p:tav fmla="" tm="0">
                                          <p:val>
                                            <p:strVal val="0"/>
                                          </p:val>
                                        </p:tav>
                                        <p:tav fmla="" tm="100000">
                                          <p:val>
                                            <p:strVal val="#ppt_w"/>
                                          </p:val>
                                        </p:tav>
                                      </p:tavLst>
                                    </p:anim>
                                    <p:anim calcmode="lin" valueType="num">
                                      <p:cBhvr additive="base">
                                        <p:cTn dur="500"/>
                                        <p:tgtEl>
                                          <p:spTgt spid="1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p:nvPr/>
        </p:nvSpPr>
        <p:spPr>
          <a:xfrm>
            <a:off x="304800" y="971550"/>
            <a:ext cx="8458200" cy="1028700"/>
          </a:xfrm>
          <a:prstGeom prst="roundRect">
            <a:avLst>
              <a:gd fmla="val 16667" name="adj"/>
            </a:avLst>
          </a:prstGeom>
          <a:solidFill>
            <a:srgbClr val="99CCFF"/>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42" name="Google Shape;142;p16"/>
          <p:cNvSpPr txBox="1"/>
          <p:nvPr>
            <p:ph type="title"/>
          </p:nvPr>
        </p:nvSpPr>
        <p:spPr>
          <a:xfrm>
            <a:off x="685800" y="285750"/>
            <a:ext cx="7772400" cy="571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MX"/>
              <a:t>Especificaciones de conversión</a:t>
            </a:r>
            <a:endParaRPr/>
          </a:p>
        </p:txBody>
      </p:sp>
      <p:sp>
        <p:nvSpPr>
          <p:cNvPr id="143" name="Google Shape;143;p16"/>
          <p:cNvSpPr txBox="1"/>
          <p:nvPr/>
        </p:nvSpPr>
        <p:spPr>
          <a:xfrm>
            <a:off x="2971800" y="1028700"/>
            <a:ext cx="2819400" cy="800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200"/>
              <a:buFont typeface="Times New Roman"/>
              <a:buNone/>
            </a:pPr>
            <a:r>
              <a:rPr b="1" i="0" lang="es-MX" sz="3200" u="none" cap="none" strike="noStrike">
                <a:solidFill>
                  <a:schemeClr val="dk1"/>
                </a:solidFill>
                <a:latin typeface="Times New Roman"/>
                <a:ea typeface="Times New Roman"/>
                <a:cs typeface="Times New Roman"/>
                <a:sym typeface="Times New Roman"/>
              </a:rPr>
              <a:t>Especiales para cadenas</a:t>
            </a:r>
            <a:endParaRPr b="1" i="0" sz="3200" u="none" cap="none" strike="noStrike">
              <a:solidFill>
                <a:schemeClr val="dk1"/>
              </a:solidFill>
              <a:latin typeface="Times New Roman"/>
              <a:ea typeface="Times New Roman"/>
              <a:cs typeface="Times New Roman"/>
              <a:sym typeface="Times New Roman"/>
            </a:endParaRPr>
          </a:p>
        </p:txBody>
      </p:sp>
      <p:sp>
        <p:nvSpPr>
          <p:cNvPr id="144" name="Google Shape;144;p16"/>
          <p:cNvSpPr txBox="1"/>
          <p:nvPr/>
        </p:nvSpPr>
        <p:spPr>
          <a:xfrm>
            <a:off x="533400" y="1222772"/>
            <a:ext cx="1752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t>
            </a:r>
            <a:endParaRPr b="1" i="0" sz="3200" u="none" cap="none" strike="noStrike">
              <a:solidFill>
                <a:schemeClr val="dk1"/>
              </a:solidFill>
              <a:latin typeface="Courier New"/>
              <a:ea typeface="Courier New"/>
              <a:cs typeface="Courier New"/>
              <a:sym typeface="Courier New"/>
            </a:endParaRPr>
          </a:p>
        </p:txBody>
      </p:sp>
      <p:sp>
        <p:nvSpPr>
          <p:cNvPr id="145" name="Google Shape;145;p16"/>
          <p:cNvSpPr txBox="1"/>
          <p:nvPr/>
        </p:nvSpPr>
        <p:spPr>
          <a:xfrm>
            <a:off x="6705600" y="1200150"/>
            <a:ext cx="1752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t>
            </a:r>
            <a:endParaRPr b="1" i="0" sz="3200" u="none" cap="none" strike="noStrike">
              <a:solidFill>
                <a:schemeClr val="dk1"/>
              </a:solidFill>
              <a:latin typeface="Courier New"/>
              <a:ea typeface="Courier New"/>
              <a:cs typeface="Courier New"/>
              <a:sym typeface="Courier New"/>
            </a:endParaRPr>
          </a:p>
        </p:txBody>
      </p:sp>
      <p:sp>
        <p:nvSpPr>
          <p:cNvPr id="146" name="Google Shape;146;p16"/>
          <p:cNvSpPr/>
          <p:nvPr/>
        </p:nvSpPr>
        <p:spPr>
          <a:xfrm>
            <a:off x="1981200" y="1257300"/>
            <a:ext cx="1066800" cy="399900"/>
          </a:xfrm>
          <a:prstGeom prst="leftArrow">
            <a:avLst>
              <a:gd fmla="val 50000" name="adj1"/>
              <a:gd fmla="val 50000" name="adj2"/>
            </a:avLst>
          </a:prstGeom>
          <a:gradFill>
            <a:gsLst>
              <a:gs pos="0">
                <a:srgbClr val="000076"/>
              </a:gs>
              <a:gs pos="50000">
                <a:srgbClr val="0000FF"/>
              </a:gs>
              <a:gs pos="100000">
                <a:srgbClr val="000076"/>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47" name="Google Shape;147;p16"/>
          <p:cNvSpPr/>
          <p:nvPr/>
        </p:nvSpPr>
        <p:spPr>
          <a:xfrm rot="10800000">
            <a:off x="5562600" y="1257450"/>
            <a:ext cx="1066800" cy="399900"/>
          </a:xfrm>
          <a:prstGeom prst="leftArrow">
            <a:avLst>
              <a:gd fmla="val 50000" name="adj1"/>
              <a:gd fmla="val 50000" name="adj2"/>
            </a:avLst>
          </a:prstGeom>
          <a:gradFill>
            <a:gsLst>
              <a:gs pos="0">
                <a:srgbClr val="000076"/>
              </a:gs>
              <a:gs pos="50000">
                <a:srgbClr val="0000FF"/>
              </a:gs>
              <a:gs pos="100000">
                <a:srgbClr val="000076"/>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48" name="Google Shape;148;p16"/>
          <p:cNvSpPr txBox="1"/>
          <p:nvPr/>
        </p:nvSpPr>
        <p:spPr>
          <a:xfrm>
            <a:off x="1447800" y="2137172"/>
            <a:ext cx="1752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[ABC]</a:t>
            </a:r>
            <a:endParaRPr b="1" i="0" sz="3200" u="none" cap="none" strike="noStrike">
              <a:solidFill>
                <a:schemeClr val="dk1"/>
              </a:solidFill>
              <a:latin typeface="Courier New"/>
              <a:ea typeface="Courier New"/>
              <a:cs typeface="Courier New"/>
              <a:sym typeface="Courier New"/>
            </a:endParaRPr>
          </a:p>
        </p:txBody>
      </p:sp>
      <p:sp>
        <p:nvSpPr>
          <p:cNvPr id="149" name="Google Shape;149;p16"/>
          <p:cNvSpPr txBox="1"/>
          <p:nvPr/>
        </p:nvSpPr>
        <p:spPr>
          <a:xfrm>
            <a:off x="1447800" y="2480072"/>
            <a:ext cx="22860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[ABC123]</a:t>
            </a:r>
            <a:endParaRPr b="1" i="0" sz="3200" u="none" cap="none" strike="noStrike">
              <a:solidFill>
                <a:schemeClr val="dk1"/>
              </a:solidFill>
              <a:latin typeface="Courier New"/>
              <a:ea typeface="Courier New"/>
              <a:cs typeface="Courier New"/>
              <a:sym typeface="Courier New"/>
            </a:endParaRPr>
          </a:p>
        </p:txBody>
      </p:sp>
      <p:sp>
        <p:nvSpPr>
          <p:cNvPr id="150" name="Google Shape;150;p16"/>
          <p:cNvSpPr txBox="1"/>
          <p:nvPr/>
        </p:nvSpPr>
        <p:spPr>
          <a:xfrm>
            <a:off x="1447800" y="2800350"/>
            <a:ext cx="22860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[A-G0-5]</a:t>
            </a:r>
            <a:endParaRPr b="1" i="0" sz="3200" u="none" cap="none" strike="noStrike">
              <a:solidFill>
                <a:schemeClr val="dk1"/>
              </a:solidFill>
              <a:latin typeface="Courier New"/>
              <a:ea typeface="Courier New"/>
              <a:cs typeface="Courier New"/>
              <a:sym typeface="Courier New"/>
            </a:endParaRPr>
          </a:p>
        </p:txBody>
      </p:sp>
      <p:sp>
        <p:nvSpPr>
          <p:cNvPr id="151" name="Google Shape;151;p16"/>
          <p:cNvSpPr txBox="1"/>
          <p:nvPr/>
        </p:nvSpPr>
        <p:spPr>
          <a:xfrm>
            <a:off x="1447800" y="3108722"/>
            <a:ext cx="22860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[a-z.?X]</a:t>
            </a:r>
            <a:endParaRPr b="1" i="0" sz="3200" u="none" cap="none" strike="noStrike">
              <a:solidFill>
                <a:schemeClr val="dk1"/>
              </a:solidFill>
              <a:latin typeface="Courier New"/>
              <a:ea typeface="Courier New"/>
              <a:cs typeface="Courier New"/>
              <a:sym typeface="Courier New"/>
            </a:endParaRPr>
          </a:p>
        </p:txBody>
      </p:sp>
      <p:sp>
        <p:nvSpPr>
          <p:cNvPr id="152" name="Google Shape;152;p16"/>
          <p:cNvSpPr txBox="1"/>
          <p:nvPr/>
        </p:nvSpPr>
        <p:spPr>
          <a:xfrm>
            <a:off x="1447800" y="3429000"/>
            <a:ext cx="22860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[0-9 </a:t>
            </a:r>
            <a:r>
              <a:rPr b="1" i="0" lang="es-MX" sz="3200" u="none" cap="none" strike="noStrike">
                <a:solidFill>
                  <a:srgbClr val="FF3300"/>
                </a:solidFill>
                <a:latin typeface="Courier New"/>
                <a:ea typeface="Courier New"/>
                <a:cs typeface="Courier New"/>
                <a:sym typeface="Courier New"/>
              </a:rPr>
              <a:t>-</a:t>
            </a:r>
            <a:r>
              <a:rPr b="1" i="0" lang="es-MX" sz="3200" u="none" cap="none" strike="noStrike">
                <a:solidFill>
                  <a:schemeClr val="dk1"/>
                </a:solidFill>
                <a:latin typeface="Courier New"/>
                <a:ea typeface="Courier New"/>
                <a:cs typeface="Courier New"/>
                <a:sym typeface="Courier New"/>
              </a:rPr>
              <a:t>]</a:t>
            </a:r>
            <a:endParaRPr b="1" i="0" sz="3200" u="none" cap="none" strike="noStrike">
              <a:solidFill>
                <a:schemeClr val="dk1"/>
              </a:solidFill>
              <a:latin typeface="Courier New"/>
              <a:ea typeface="Courier New"/>
              <a:cs typeface="Courier New"/>
              <a:sym typeface="Courier New"/>
            </a:endParaRPr>
          </a:p>
        </p:txBody>
      </p:sp>
      <p:sp>
        <p:nvSpPr>
          <p:cNvPr id="153" name="Google Shape;153;p16"/>
          <p:cNvSpPr txBox="1"/>
          <p:nvPr/>
        </p:nvSpPr>
        <p:spPr>
          <a:xfrm>
            <a:off x="5486400" y="2114550"/>
            <a:ext cx="1752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[^ABC]</a:t>
            </a:r>
            <a:endParaRPr b="1" i="0" sz="3200" u="none" cap="none" strike="noStrike">
              <a:solidFill>
                <a:schemeClr val="dk1"/>
              </a:solidFill>
              <a:latin typeface="Courier New"/>
              <a:ea typeface="Courier New"/>
              <a:cs typeface="Courier New"/>
              <a:sym typeface="Courier New"/>
            </a:endParaRPr>
          </a:p>
        </p:txBody>
      </p:sp>
      <p:sp>
        <p:nvSpPr>
          <p:cNvPr id="154" name="Google Shape;154;p16"/>
          <p:cNvSpPr txBox="1"/>
          <p:nvPr/>
        </p:nvSpPr>
        <p:spPr>
          <a:xfrm>
            <a:off x="5486400" y="2457450"/>
            <a:ext cx="2514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[^ABC123]</a:t>
            </a:r>
            <a:endParaRPr b="1" i="0" sz="3200" u="none" cap="none" strike="noStrike">
              <a:solidFill>
                <a:schemeClr val="dk1"/>
              </a:solidFill>
              <a:latin typeface="Courier New"/>
              <a:ea typeface="Courier New"/>
              <a:cs typeface="Courier New"/>
              <a:sym typeface="Courier New"/>
            </a:endParaRPr>
          </a:p>
        </p:txBody>
      </p:sp>
      <p:sp>
        <p:nvSpPr>
          <p:cNvPr id="155" name="Google Shape;155;p16"/>
          <p:cNvSpPr txBox="1"/>
          <p:nvPr/>
        </p:nvSpPr>
        <p:spPr>
          <a:xfrm>
            <a:off x="5486400" y="2777728"/>
            <a:ext cx="28956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[^A-G0-5]</a:t>
            </a:r>
            <a:endParaRPr b="1" i="0" sz="3200" u="none" cap="none" strike="noStrike">
              <a:solidFill>
                <a:schemeClr val="dk1"/>
              </a:solidFill>
              <a:latin typeface="Courier New"/>
              <a:ea typeface="Courier New"/>
              <a:cs typeface="Courier New"/>
              <a:sym typeface="Courier New"/>
            </a:endParaRPr>
          </a:p>
        </p:txBody>
      </p:sp>
      <p:sp>
        <p:nvSpPr>
          <p:cNvPr id="156" name="Google Shape;156;p16"/>
          <p:cNvSpPr txBox="1"/>
          <p:nvPr/>
        </p:nvSpPr>
        <p:spPr>
          <a:xfrm>
            <a:off x="5486400" y="3086100"/>
            <a:ext cx="31242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[^a-z.?X]</a:t>
            </a:r>
            <a:endParaRPr b="1" i="0" sz="3200" u="none" cap="none" strike="noStrike">
              <a:solidFill>
                <a:schemeClr val="dk1"/>
              </a:solidFill>
              <a:latin typeface="Courier New"/>
              <a:ea typeface="Courier New"/>
              <a:cs typeface="Courier New"/>
              <a:sym typeface="Courier New"/>
            </a:endParaRPr>
          </a:p>
        </p:txBody>
      </p:sp>
      <p:sp>
        <p:nvSpPr>
          <p:cNvPr id="157" name="Google Shape;157;p16"/>
          <p:cNvSpPr txBox="1"/>
          <p:nvPr/>
        </p:nvSpPr>
        <p:spPr>
          <a:xfrm>
            <a:off x="5486400" y="3406378"/>
            <a:ext cx="2286000" cy="43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3200"/>
              <a:buFont typeface="Courier New"/>
              <a:buNone/>
            </a:pPr>
            <a:r>
              <a:rPr b="1" i="0" lang="es-MX" sz="3200" u="none" cap="none" strike="noStrike">
                <a:solidFill>
                  <a:schemeClr val="dk1"/>
                </a:solidFill>
                <a:latin typeface="Courier New"/>
                <a:ea typeface="Courier New"/>
                <a:cs typeface="Courier New"/>
                <a:sym typeface="Courier New"/>
              </a:rPr>
              <a:t>[^0-9 </a:t>
            </a:r>
            <a:r>
              <a:rPr b="1" i="0" lang="es-MX" sz="3200" u="none" cap="none" strike="noStrike">
                <a:solidFill>
                  <a:srgbClr val="FF3300"/>
                </a:solidFill>
                <a:latin typeface="Courier New"/>
                <a:ea typeface="Courier New"/>
                <a:cs typeface="Courier New"/>
                <a:sym typeface="Courier New"/>
              </a:rPr>
              <a:t>-</a:t>
            </a:r>
            <a:r>
              <a:rPr b="1" i="0" lang="es-MX" sz="3200" u="none" cap="none" strike="noStrike">
                <a:solidFill>
                  <a:schemeClr val="dk1"/>
                </a:solidFill>
                <a:latin typeface="Courier New"/>
                <a:ea typeface="Courier New"/>
                <a:cs typeface="Courier New"/>
                <a:sym typeface="Courier New"/>
              </a:rPr>
              <a:t>]</a:t>
            </a:r>
            <a:endParaRPr b="1" i="0" sz="32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304800" y="133350"/>
            <a:ext cx="2971800" cy="285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s-MX" sz="3600"/>
              <a:t>Ejemplos:</a:t>
            </a:r>
            <a:endParaRPr b="1" sz="3600"/>
          </a:p>
        </p:txBody>
      </p:sp>
      <p:sp>
        <p:nvSpPr>
          <p:cNvPr id="164" name="Google Shape;164;p17"/>
          <p:cNvSpPr/>
          <p:nvPr/>
        </p:nvSpPr>
        <p:spPr>
          <a:xfrm>
            <a:off x="228600" y="614800"/>
            <a:ext cx="8458200" cy="12141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0" i="0" sz="2400" u="none" cap="none" strike="noStrike">
              <a:solidFill>
                <a:schemeClr val="dk1"/>
              </a:solidFill>
              <a:latin typeface="Courier New"/>
              <a:ea typeface="Courier New"/>
              <a:cs typeface="Courier New"/>
              <a:sym typeface="Courier New"/>
            </a:endParaRPr>
          </a:p>
        </p:txBody>
      </p:sp>
      <p:sp>
        <p:nvSpPr>
          <p:cNvPr id="165" name="Google Shape;165;p17"/>
          <p:cNvSpPr txBox="1"/>
          <p:nvPr/>
        </p:nvSpPr>
        <p:spPr>
          <a:xfrm>
            <a:off x="328625" y="675401"/>
            <a:ext cx="8434500" cy="10347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int d, m, y, cant;</a:t>
            </a:r>
            <a:endParaRPr>
              <a:latin typeface="Consolas"/>
              <a:ea typeface="Consolas"/>
              <a:cs typeface="Consolas"/>
              <a:sym typeface="Consolas"/>
            </a:endParaRPr>
          </a:p>
          <a:p>
            <a:pPr indent="0" lvl="0" marL="0" marR="0" rtl="0" algn="l">
              <a:lnSpc>
                <a:spcPct val="80000"/>
              </a:lnSpc>
              <a:spcBef>
                <a:spcPts val="60"/>
              </a:spcBef>
              <a:spcAft>
                <a:spcPts val="0"/>
              </a:spcAft>
              <a:buClr>
                <a:schemeClr val="dk1"/>
              </a:buClr>
              <a:buSzPts val="1200"/>
              <a:buFont typeface="Times New Roman"/>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printf("Ingrese fecha[dd/mm/aa]:");</a:t>
            </a:r>
            <a:endParaRPr b="1" i="0" sz="24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cant = scanf("%d/%d/%d",&amp;d,&amp;m,&amp;y);</a:t>
            </a:r>
            <a:endParaRPr b="1" i="0" sz="2400" u="none" cap="none" strike="noStrike">
              <a:solidFill>
                <a:schemeClr val="dk1"/>
              </a:solidFill>
              <a:latin typeface="Consolas"/>
              <a:ea typeface="Consolas"/>
              <a:cs typeface="Consolas"/>
              <a:sym typeface="Consolas"/>
            </a:endParaRPr>
          </a:p>
        </p:txBody>
      </p:sp>
      <p:grpSp>
        <p:nvGrpSpPr>
          <p:cNvPr id="166" name="Google Shape;166;p17"/>
          <p:cNvGrpSpPr/>
          <p:nvPr/>
        </p:nvGrpSpPr>
        <p:grpSpPr>
          <a:xfrm>
            <a:off x="228600" y="2057400"/>
            <a:ext cx="8572500" cy="1428750"/>
            <a:chOff x="144" y="1728"/>
            <a:chExt cx="5400" cy="1200"/>
          </a:xfrm>
        </p:grpSpPr>
        <p:sp>
          <p:nvSpPr>
            <p:cNvPr id="167" name="Google Shape;167;p17"/>
            <p:cNvSpPr/>
            <p:nvPr/>
          </p:nvSpPr>
          <p:spPr>
            <a:xfrm>
              <a:off x="144" y="1728"/>
              <a:ext cx="5400" cy="12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68" name="Google Shape;168;p17"/>
            <p:cNvSpPr txBox="1"/>
            <p:nvPr/>
          </p:nvSpPr>
          <p:spPr>
            <a:xfrm>
              <a:off x="207" y="1790"/>
              <a:ext cx="5313" cy="936"/>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char s1[10], s2[10];</a:t>
              </a:r>
              <a:endParaRPr>
                <a:latin typeface="Consolas"/>
                <a:ea typeface="Consolas"/>
                <a:cs typeface="Consolas"/>
                <a:sym typeface="Consolas"/>
              </a:endParaRPr>
            </a:p>
            <a:p>
              <a:pPr indent="0" lvl="0" marL="0" marR="0" rtl="0" algn="l">
                <a:lnSpc>
                  <a:spcPct val="80000"/>
                </a:lnSpc>
                <a:spcBef>
                  <a:spcPts val="60"/>
                </a:spcBef>
                <a:spcAft>
                  <a:spcPts val="0"/>
                </a:spcAft>
                <a:buClr>
                  <a:schemeClr val="dk1"/>
                </a:buClr>
                <a:buSzPts val="1200"/>
                <a:buFont typeface="Times New Roman"/>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printf("Ingrese dos números:");   scanf("%[0123456789] %[0-9]", s1, s2);</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 </a:t>
              </a:r>
              <a:endParaRPr>
                <a:latin typeface="Consolas"/>
                <a:ea typeface="Consolas"/>
                <a:cs typeface="Consolas"/>
                <a:sym typeface="Consolas"/>
              </a:endParaRPr>
            </a:p>
          </p:txBody>
        </p:sp>
      </p:grpSp>
      <p:grpSp>
        <p:nvGrpSpPr>
          <p:cNvPr id="169" name="Google Shape;169;p17"/>
          <p:cNvGrpSpPr/>
          <p:nvPr/>
        </p:nvGrpSpPr>
        <p:grpSpPr>
          <a:xfrm>
            <a:off x="228600" y="3655225"/>
            <a:ext cx="8572500" cy="1428750"/>
            <a:chOff x="144" y="2814"/>
            <a:chExt cx="5400" cy="1200"/>
          </a:xfrm>
        </p:grpSpPr>
        <p:sp>
          <p:nvSpPr>
            <p:cNvPr id="170" name="Google Shape;170;p17"/>
            <p:cNvSpPr/>
            <p:nvPr/>
          </p:nvSpPr>
          <p:spPr>
            <a:xfrm>
              <a:off x="144" y="2814"/>
              <a:ext cx="5400" cy="12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71" name="Google Shape;171;p17"/>
            <p:cNvSpPr txBox="1"/>
            <p:nvPr/>
          </p:nvSpPr>
          <p:spPr>
            <a:xfrm>
              <a:off x="207" y="2876"/>
              <a:ext cx="5313" cy="936"/>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char license[7];</a:t>
              </a:r>
              <a:endParaRPr>
                <a:latin typeface="Consolas"/>
                <a:ea typeface="Consolas"/>
                <a:cs typeface="Consolas"/>
                <a:sym typeface="Consolas"/>
              </a:endParaRPr>
            </a:p>
            <a:p>
              <a:pPr indent="0" lvl="0" marL="0" marR="0" rtl="0" algn="l">
                <a:lnSpc>
                  <a:spcPct val="80000"/>
                </a:lnSpc>
                <a:spcBef>
                  <a:spcPts val="60"/>
                </a:spcBef>
                <a:spcAft>
                  <a:spcPts val="0"/>
                </a:spcAft>
                <a:buClr>
                  <a:schemeClr val="dk1"/>
                </a:buClr>
                <a:buSzPts val="1200"/>
                <a:buFont typeface="Times New Roman"/>
                <a:buNone/>
              </a:pPr>
              <a:r>
                <a:t/>
              </a:r>
              <a:endParaRPr b="1" i="0" sz="12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printf("Ingrese la patente de su auto:");   scanf("%6[0-9A-Z]", license);</a:t>
              </a:r>
              <a:endParaRPr b="1" i="0" sz="24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 </a:t>
              </a:r>
              <a:endParaRPr>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381000" y="285750"/>
            <a:ext cx="8367600" cy="77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s-MX" sz="3600"/>
              <a:t>¿Son equivalentes los siguientes fragmentos de código?</a:t>
            </a:r>
            <a:endParaRPr b="1" sz="3600"/>
          </a:p>
        </p:txBody>
      </p:sp>
      <p:grpSp>
        <p:nvGrpSpPr>
          <p:cNvPr id="177" name="Google Shape;177;p18"/>
          <p:cNvGrpSpPr/>
          <p:nvPr/>
        </p:nvGrpSpPr>
        <p:grpSpPr>
          <a:xfrm>
            <a:off x="250825" y="3232551"/>
            <a:ext cx="8534400" cy="1557650"/>
            <a:chOff x="144" y="1728"/>
            <a:chExt cx="5376" cy="912"/>
          </a:xfrm>
        </p:grpSpPr>
        <p:sp>
          <p:nvSpPr>
            <p:cNvPr id="178" name="Google Shape;178;p18"/>
            <p:cNvSpPr/>
            <p:nvPr/>
          </p:nvSpPr>
          <p:spPr>
            <a:xfrm>
              <a:off x="144" y="1728"/>
              <a:ext cx="5328" cy="912"/>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79" name="Google Shape;179;p18"/>
            <p:cNvSpPr txBox="1"/>
            <p:nvPr/>
          </p:nvSpPr>
          <p:spPr>
            <a:xfrm>
              <a:off x="207" y="1790"/>
              <a:ext cx="5313" cy="726"/>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char s[MAX];</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Times New Roman"/>
                <a:buNone/>
              </a:pPr>
              <a:r>
                <a:t/>
              </a:r>
              <a:endParaRPr b="1" i="0" sz="24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scanf(</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%s</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 s);</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printf(s);</a:t>
              </a:r>
              <a:endParaRPr b="1" i="0" sz="2400" u="none" cap="none" strike="noStrike">
                <a:solidFill>
                  <a:schemeClr val="dk1"/>
                </a:solidFill>
                <a:latin typeface="Consolas"/>
                <a:ea typeface="Consolas"/>
                <a:cs typeface="Consolas"/>
                <a:sym typeface="Consolas"/>
              </a:endParaRPr>
            </a:p>
          </p:txBody>
        </p:sp>
      </p:grpSp>
      <p:grpSp>
        <p:nvGrpSpPr>
          <p:cNvPr id="180" name="Google Shape;180;p18"/>
          <p:cNvGrpSpPr/>
          <p:nvPr/>
        </p:nvGrpSpPr>
        <p:grpSpPr>
          <a:xfrm>
            <a:off x="250825" y="1329924"/>
            <a:ext cx="8534400" cy="1557650"/>
            <a:chOff x="144" y="1728"/>
            <a:chExt cx="5376" cy="912"/>
          </a:xfrm>
        </p:grpSpPr>
        <p:sp>
          <p:nvSpPr>
            <p:cNvPr id="181" name="Google Shape;181;p18"/>
            <p:cNvSpPr/>
            <p:nvPr/>
          </p:nvSpPr>
          <p:spPr>
            <a:xfrm>
              <a:off x="144" y="1728"/>
              <a:ext cx="5328" cy="912"/>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82" name="Google Shape;182;p18"/>
            <p:cNvSpPr txBox="1"/>
            <p:nvPr/>
          </p:nvSpPr>
          <p:spPr>
            <a:xfrm>
              <a:off x="207" y="1790"/>
              <a:ext cx="5313" cy="726"/>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char s[MAX];</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Times New Roman"/>
                <a:buNone/>
              </a:pPr>
              <a:r>
                <a:t/>
              </a:r>
              <a:endParaRPr b="1" i="0" sz="2400" u="none" cap="none" strike="noStrike">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scanf(</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%s</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 s);</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i="0" lang="es-MX" sz="2400" u="none" cap="none" strike="noStrike">
                  <a:solidFill>
                    <a:schemeClr val="dk1"/>
                  </a:solidFill>
                  <a:latin typeface="Consolas"/>
                  <a:ea typeface="Consolas"/>
                  <a:cs typeface="Consolas"/>
                  <a:sym typeface="Consolas"/>
                </a:rPr>
                <a:t>printf(</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%s</a:t>
              </a:r>
              <a:r>
                <a:rPr b="1" lang="es-MX" sz="2400">
                  <a:solidFill>
                    <a:schemeClr val="dk1"/>
                  </a:solidFill>
                  <a:latin typeface="Consolas"/>
                  <a:ea typeface="Consolas"/>
                  <a:cs typeface="Consolas"/>
                  <a:sym typeface="Consolas"/>
                </a:rPr>
                <a:t>"</a:t>
              </a:r>
              <a:r>
                <a:rPr b="1" i="0" lang="es-MX" sz="2400" u="none" cap="none" strike="noStrike">
                  <a:solidFill>
                    <a:schemeClr val="dk1"/>
                  </a:solidFill>
                  <a:latin typeface="Consolas"/>
                  <a:ea typeface="Consolas"/>
                  <a:cs typeface="Consolas"/>
                  <a:sym typeface="Consolas"/>
                </a:rPr>
                <a:t>, s);</a:t>
              </a:r>
              <a:endParaRPr b="1" i="0" sz="2400" u="none" cap="none" strike="noStrike">
                <a:solidFill>
                  <a:schemeClr val="dk1"/>
                </a:solidFill>
                <a:latin typeface="Consolas"/>
                <a:ea typeface="Consolas"/>
                <a:cs typeface="Consolas"/>
                <a:sym typeface="Consola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685800" y="342900"/>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MX" sz="4000"/>
              <a:t>Conjunto de strings</a:t>
            </a:r>
            <a:endParaRPr b="1" i="1" sz="4000"/>
          </a:p>
        </p:txBody>
      </p:sp>
      <p:sp>
        <p:nvSpPr>
          <p:cNvPr id="189" name="Google Shape;189;p19"/>
          <p:cNvSpPr txBox="1"/>
          <p:nvPr/>
        </p:nvSpPr>
        <p:spPr>
          <a:xfrm>
            <a:off x="381000" y="971550"/>
            <a:ext cx="5867400" cy="389400"/>
          </a:xfrm>
          <a:prstGeom prst="rect">
            <a:avLst/>
          </a:prstGeom>
          <a:noFill/>
          <a:ln>
            <a:noFill/>
          </a:ln>
        </p:spPr>
        <p:txBody>
          <a:bodyPr anchorCtr="0" anchor="t" bIns="45700" lIns="91425" spcFirstLastPara="1" rIns="91425" wrap="square" tIns="45700">
            <a:noAutofit/>
          </a:bodyPr>
          <a:lstStyle/>
          <a:p>
            <a:pPr indent="-177800" lvl="0" marL="0" marR="0" rtl="0" algn="ctr">
              <a:spcBef>
                <a:spcPts val="0"/>
              </a:spcBef>
              <a:spcAft>
                <a:spcPts val="0"/>
              </a:spcAft>
              <a:buClr>
                <a:schemeClr val="dk1"/>
              </a:buClr>
              <a:buSzPts val="2800"/>
              <a:buFont typeface="Noto Sans Symbols"/>
              <a:buChar char="❖"/>
            </a:pPr>
            <a:r>
              <a:rPr b="0" i="0" lang="es-MX" sz="2800" u="none" cap="none" strike="noStrike">
                <a:solidFill>
                  <a:schemeClr val="dk1"/>
                </a:solidFill>
                <a:latin typeface="Arial Black"/>
                <a:ea typeface="Arial Black"/>
                <a:cs typeface="Arial Black"/>
                <a:sym typeface="Arial Black"/>
              </a:rPr>
              <a:t> “Matriz” de caracteres</a:t>
            </a:r>
            <a:endParaRPr b="0" i="0" sz="2800" u="none" cap="none" strike="noStrike">
              <a:solidFill>
                <a:schemeClr val="dk1"/>
              </a:solidFill>
              <a:latin typeface="Arial Black"/>
              <a:ea typeface="Arial Black"/>
              <a:cs typeface="Arial Black"/>
              <a:sym typeface="Arial Black"/>
            </a:endParaRPr>
          </a:p>
        </p:txBody>
      </p:sp>
      <p:grpSp>
        <p:nvGrpSpPr>
          <p:cNvPr id="190" name="Google Shape;190;p19"/>
          <p:cNvGrpSpPr/>
          <p:nvPr/>
        </p:nvGrpSpPr>
        <p:grpSpPr>
          <a:xfrm>
            <a:off x="228600" y="1543050"/>
            <a:ext cx="8686800" cy="400050"/>
            <a:chOff x="144" y="1296"/>
            <a:chExt cx="5472" cy="336"/>
          </a:xfrm>
        </p:grpSpPr>
        <p:sp>
          <p:nvSpPr>
            <p:cNvPr id="191" name="Google Shape;191;p19"/>
            <p:cNvSpPr/>
            <p:nvPr/>
          </p:nvSpPr>
          <p:spPr>
            <a:xfrm>
              <a:off x="144" y="1296"/>
              <a:ext cx="5424" cy="336"/>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192" name="Google Shape;192;p19"/>
            <p:cNvSpPr txBox="1"/>
            <p:nvPr/>
          </p:nvSpPr>
          <p:spPr>
            <a:xfrm>
              <a:off x="192" y="1368"/>
              <a:ext cx="5424" cy="216"/>
            </a:xfrm>
            <a:prstGeom prst="rect">
              <a:avLst/>
            </a:prstGeom>
            <a:noFill/>
            <a:ln>
              <a:noFill/>
            </a:ln>
          </p:spPr>
          <p:txBody>
            <a:bodyPr anchorCtr="0" anchor="t" bIns="45700" lIns="91425" spcFirstLastPara="1" rIns="91425" wrap="square" tIns="45700">
              <a:noAutofit/>
            </a:bodyPr>
            <a:lstStyle/>
            <a:p>
              <a:pPr indent="0" lvl="0" marL="0" marR="0" rtl="0" algn="ctr">
                <a:lnSpc>
                  <a:spcPct val="75000"/>
                </a:lnSpc>
                <a:spcBef>
                  <a:spcPts val="0"/>
                </a:spcBef>
                <a:spcAft>
                  <a:spcPts val="0"/>
                </a:spcAft>
                <a:buClr>
                  <a:schemeClr val="dk1"/>
                </a:buClr>
                <a:buSzPts val="2200"/>
                <a:buFont typeface="Courier New"/>
                <a:buNone/>
              </a:pPr>
              <a:r>
                <a:rPr b="1" i="0" lang="es-MX" sz="2200" u="none" cap="none" strike="noStrike">
                  <a:solidFill>
                    <a:schemeClr val="dk1"/>
                  </a:solidFill>
                  <a:latin typeface="Courier New"/>
                  <a:ea typeface="Courier New"/>
                  <a:cs typeface="Courier New"/>
                  <a:sym typeface="Courier New"/>
                </a:rPr>
                <a:t>char palos[][7]</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{"Copa",</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"Basto",</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"Oro","Espada"};</a:t>
              </a:r>
              <a:endParaRPr/>
            </a:p>
          </p:txBody>
        </p:sp>
      </p:grpSp>
      <p:graphicFrame>
        <p:nvGraphicFramePr>
          <p:cNvPr id="193" name="Google Shape;193;p19"/>
          <p:cNvGraphicFramePr/>
          <p:nvPr/>
        </p:nvGraphicFramePr>
        <p:xfrm>
          <a:off x="609600" y="2152650"/>
          <a:ext cx="3000000" cy="3000000"/>
        </p:xfrm>
        <a:graphic>
          <a:graphicData uri="http://schemas.openxmlformats.org/drawingml/2006/table">
            <a:tbl>
              <a:tblPr>
                <a:noFill/>
                <a:tableStyleId>{5EC60356-8357-40EC-802D-73CC97A9008C}</a:tableStyleId>
              </a:tblPr>
              <a:tblGrid>
                <a:gridCol w="533400"/>
                <a:gridCol w="498475"/>
                <a:gridCol w="514350"/>
                <a:gridCol w="512775"/>
                <a:gridCol w="517525"/>
                <a:gridCol w="515925"/>
                <a:gridCol w="514350"/>
                <a:gridCol w="517525"/>
                <a:gridCol w="514350"/>
                <a:gridCol w="466725"/>
                <a:gridCol w="566750"/>
                <a:gridCol w="512750"/>
                <a:gridCol w="514350"/>
                <a:gridCol w="515950"/>
                <a:gridCol w="515925"/>
                <a:gridCol w="515950"/>
              </a:tblGrid>
              <a:tr h="297275">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0</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1</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2</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3</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4</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5</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6</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7</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8</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9</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A</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B</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C</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D</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E</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F</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r>
              <a:tr h="347800">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C</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B</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t</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r>
              <a:tr h="346600">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r</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E</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d</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r>
              <a:tr h="346600">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grpSp>
        <p:nvGrpSpPr>
          <p:cNvPr id="194" name="Google Shape;194;p19"/>
          <p:cNvGrpSpPr/>
          <p:nvPr/>
        </p:nvGrpSpPr>
        <p:grpSpPr>
          <a:xfrm>
            <a:off x="-152400" y="2114550"/>
            <a:ext cx="952500" cy="669131"/>
            <a:chOff x="-48" y="3456"/>
            <a:chExt cx="600" cy="562"/>
          </a:xfrm>
        </p:grpSpPr>
        <p:sp>
          <p:nvSpPr>
            <p:cNvPr id="195" name="Google Shape;195;p19"/>
            <p:cNvSpPr txBox="1"/>
            <p:nvPr/>
          </p:nvSpPr>
          <p:spPr>
            <a:xfrm>
              <a:off x="48" y="3456"/>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p:txBody>
        </p:sp>
        <p:sp>
          <p:nvSpPr>
            <p:cNvPr id="196" name="Google Shape;196;p19"/>
            <p:cNvSpPr txBox="1"/>
            <p:nvPr/>
          </p:nvSpPr>
          <p:spPr>
            <a:xfrm>
              <a:off x="-48" y="3718"/>
              <a:ext cx="6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FFC</a:t>
              </a:r>
              <a:endParaRPr b="1" i="0" sz="2000" u="none" cap="none" strike="noStrike">
                <a:solidFill>
                  <a:schemeClr val="dk1"/>
                </a:solidFill>
                <a:latin typeface="Courier New"/>
                <a:ea typeface="Courier New"/>
                <a:cs typeface="Courier New"/>
                <a:sym typeface="Courier New"/>
              </a:endParaRPr>
            </a:p>
          </p:txBody>
        </p:sp>
      </p:grpSp>
      <p:grpSp>
        <p:nvGrpSpPr>
          <p:cNvPr id="197" name="Google Shape;197;p19"/>
          <p:cNvGrpSpPr/>
          <p:nvPr/>
        </p:nvGrpSpPr>
        <p:grpSpPr>
          <a:xfrm>
            <a:off x="-152400" y="2762250"/>
            <a:ext cx="952500" cy="745331"/>
            <a:chOff x="-48" y="3392"/>
            <a:chExt cx="600" cy="626"/>
          </a:xfrm>
        </p:grpSpPr>
        <p:sp>
          <p:nvSpPr>
            <p:cNvPr id="198" name="Google Shape;198;p19"/>
            <p:cNvSpPr txBox="1"/>
            <p:nvPr/>
          </p:nvSpPr>
          <p:spPr>
            <a:xfrm>
              <a:off x="-48" y="3392"/>
              <a:ext cx="6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FFD</a:t>
              </a:r>
              <a:endParaRPr b="1" i="0" sz="2000" u="none" cap="none" strike="noStrike">
                <a:solidFill>
                  <a:schemeClr val="dk1"/>
                </a:solidFill>
                <a:latin typeface="Courier New"/>
                <a:ea typeface="Courier New"/>
                <a:cs typeface="Courier New"/>
                <a:sym typeface="Courier New"/>
              </a:endParaRPr>
            </a:p>
          </p:txBody>
        </p:sp>
        <p:sp>
          <p:nvSpPr>
            <p:cNvPr id="199" name="Google Shape;199;p19"/>
            <p:cNvSpPr txBox="1"/>
            <p:nvPr/>
          </p:nvSpPr>
          <p:spPr>
            <a:xfrm>
              <a:off x="-48" y="3718"/>
              <a:ext cx="6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FFE</a:t>
              </a:r>
              <a:endParaRPr b="1" i="0" sz="2000" u="none" cap="none" strike="noStrike">
                <a:solidFill>
                  <a:schemeClr val="dk1"/>
                </a:solidFill>
                <a:latin typeface="Courier New"/>
                <a:ea typeface="Courier New"/>
                <a:cs typeface="Courier New"/>
                <a:sym typeface="Courier New"/>
              </a:endParaRPr>
            </a:p>
          </p:txBody>
        </p:sp>
      </p:grpSp>
      <p:sp>
        <p:nvSpPr>
          <p:cNvPr id="200" name="Google Shape;200;p19"/>
          <p:cNvSpPr/>
          <p:nvPr/>
        </p:nvSpPr>
        <p:spPr>
          <a:xfrm>
            <a:off x="533400" y="3771900"/>
            <a:ext cx="8382021" cy="1142998"/>
          </a:xfrm>
          <a:prstGeom prst="rect">
            <a:avLst/>
          </a:prstGeom>
        </p:spPr>
        <p:txBody>
          <a:bodyPr>
            <a:prstTxWarp prst="textPlain"/>
          </a:bodyPr>
          <a:lstStyle/>
          <a:p>
            <a:pPr lvl="0" algn="ctr"/>
            <a:r>
              <a:rPr b="1" i="0">
                <a:ln cap="flat" cmpd="sng" w="12700">
                  <a:solidFill>
                    <a:srgbClr val="000099"/>
                  </a:solidFill>
                  <a:prstDash val="solid"/>
                  <a:round/>
                  <a:headEnd len="sm" w="sm" type="none"/>
                  <a:tailEnd len="sm" w="sm" type="none"/>
                </a:ln>
                <a:solidFill>
                  <a:srgbClr val="33CCFF"/>
                </a:solidFill>
                <a:latin typeface="Arial"/>
              </a:rPr>
              <a:t>Se desperdician bytes por la diferencia </a:t>
            </a:r>
            <a:br>
              <a:rPr b="1" i="0">
                <a:ln cap="flat" cmpd="sng" w="12700">
                  <a:solidFill>
                    <a:srgbClr val="000099"/>
                  </a:solidFill>
                  <a:prstDash val="solid"/>
                  <a:round/>
                  <a:headEnd len="sm" w="sm" type="none"/>
                  <a:tailEnd len="sm" w="sm" type="none"/>
                </a:ln>
                <a:solidFill>
                  <a:srgbClr val="33CCFF"/>
                </a:solidFill>
                <a:latin typeface="Arial"/>
              </a:rPr>
            </a:br>
            <a:r>
              <a:rPr b="1" i="0">
                <a:ln cap="flat" cmpd="sng" w="12700">
                  <a:solidFill>
                    <a:srgbClr val="000099"/>
                  </a:solidFill>
                  <a:prstDash val="solid"/>
                  <a:round/>
                  <a:headEnd len="sm" w="sm" type="none"/>
                  <a:tailEnd len="sm" w="sm" type="none"/>
                </a:ln>
                <a:solidFill>
                  <a:srgbClr val="33CCFF"/>
                </a:solidFill>
                <a:latin typeface="Arial"/>
              </a:rPr>
              <a:t>de longitud de los strings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685800" y="342900"/>
            <a:ext cx="7772400" cy="39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i="1" lang="es-MX" sz="4000"/>
              <a:t>Conjunto de strings</a:t>
            </a:r>
            <a:endParaRPr/>
          </a:p>
        </p:txBody>
      </p:sp>
      <p:sp>
        <p:nvSpPr>
          <p:cNvPr id="207" name="Google Shape;207;p20"/>
          <p:cNvSpPr txBox="1"/>
          <p:nvPr/>
        </p:nvSpPr>
        <p:spPr>
          <a:xfrm>
            <a:off x="304800" y="876300"/>
            <a:ext cx="7162800" cy="389400"/>
          </a:xfrm>
          <a:prstGeom prst="rect">
            <a:avLst/>
          </a:prstGeom>
          <a:noFill/>
          <a:ln>
            <a:noFill/>
          </a:ln>
        </p:spPr>
        <p:txBody>
          <a:bodyPr anchorCtr="0" anchor="t" bIns="45700" lIns="91425" spcFirstLastPara="1" rIns="91425" wrap="square" tIns="45700">
            <a:noAutofit/>
          </a:bodyPr>
          <a:lstStyle/>
          <a:p>
            <a:pPr indent="-177800" lvl="0" marL="0" marR="0" rtl="0" algn="ctr">
              <a:spcBef>
                <a:spcPts val="0"/>
              </a:spcBef>
              <a:spcAft>
                <a:spcPts val="0"/>
              </a:spcAft>
              <a:buClr>
                <a:schemeClr val="accent2"/>
              </a:buClr>
              <a:buSzPts val="2800"/>
              <a:buFont typeface="Noto Sans Symbols"/>
              <a:buChar char="❖"/>
            </a:pPr>
            <a:r>
              <a:rPr b="0" i="0" lang="es-MX" sz="2800" u="none" cap="none" strike="noStrike">
                <a:solidFill>
                  <a:schemeClr val="accent2"/>
                </a:solidFill>
                <a:latin typeface="Arial Black"/>
                <a:ea typeface="Arial Black"/>
                <a:cs typeface="Arial Black"/>
                <a:sym typeface="Arial Black"/>
              </a:rPr>
              <a:t> Arreglo de punteros a caracteres</a:t>
            </a:r>
            <a:endParaRPr b="0" i="0" sz="2800" u="none" cap="none" strike="noStrike">
              <a:solidFill>
                <a:schemeClr val="accent2"/>
              </a:solidFill>
              <a:latin typeface="Arial Black"/>
              <a:ea typeface="Arial Black"/>
              <a:cs typeface="Arial Black"/>
              <a:sym typeface="Arial Black"/>
            </a:endParaRPr>
          </a:p>
        </p:txBody>
      </p:sp>
      <p:grpSp>
        <p:nvGrpSpPr>
          <p:cNvPr id="208" name="Google Shape;208;p20"/>
          <p:cNvGrpSpPr/>
          <p:nvPr/>
        </p:nvGrpSpPr>
        <p:grpSpPr>
          <a:xfrm>
            <a:off x="228600" y="2171700"/>
            <a:ext cx="8686800" cy="571500"/>
            <a:chOff x="96" y="1872"/>
            <a:chExt cx="5472" cy="480"/>
          </a:xfrm>
        </p:grpSpPr>
        <p:sp>
          <p:nvSpPr>
            <p:cNvPr id="209" name="Google Shape;209;p20"/>
            <p:cNvSpPr/>
            <p:nvPr/>
          </p:nvSpPr>
          <p:spPr>
            <a:xfrm>
              <a:off x="96" y="1872"/>
              <a:ext cx="5424" cy="48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210" name="Google Shape;210;p20"/>
            <p:cNvSpPr txBox="1"/>
            <p:nvPr/>
          </p:nvSpPr>
          <p:spPr>
            <a:xfrm>
              <a:off x="144" y="1992"/>
              <a:ext cx="5424" cy="216"/>
            </a:xfrm>
            <a:prstGeom prst="rect">
              <a:avLst/>
            </a:prstGeom>
            <a:noFill/>
            <a:ln>
              <a:noFill/>
            </a:ln>
          </p:spPr>
          <p:txBody>
            <a:bodyPr anchorCtr="0" anchor="t" bIns="45700" lIns="91425" spcFirstLastPara="1" rIns="91425" wrap="square" tIns="45700">
              <a:noAutofit/>
            </a:bodyPr>
            <a:lstStyle/>
            <a:p>
              <a:pPr indent="0" lvl="0" marL="0" marR="0" rtl="0" algn="ctr">
                <a:lnSpc>
                  <a:spcPct val="75000"/>
                </a:lnSpc>
                <a:spcBef>
                  <a:spcPts val="0"/>
                </a:spcBef>
                <a:spcAft>
                  <a:spcPts val="0"/>
                </a:spcAft>
                <a:buClr>
                  <a:schemeClr val="dk1"/>
                </a:buClr>
                <a:buSzPts val="2200"/>
                <a:buFont typeface="Courier New"/>
                <a:buNone/>
              </a:pPr>
              <a:r>
                <a:rPr b="1" i="0" lang="es-MX" sz="2200" u="none" cap="none" strike="noStrike">
                  <a:solidFill>
                    <a:schemeClr val="dk1"/>
                  </a:solidFill>
                  <a:latin typeface="Courier New"/>
                  <a:ea typeface="Courier New"/>
                  <a:cs typeface="Courier New"/>
                  <a:sym typeface="Courier New"/>
                </a:rPr>
                <a:t>char * palos[] = {"Copa",</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"Basto",</a:t>
              </a:r>
              <a:r>
                <a:rPr b="1" i="0" lang="es-MX" sz="1000" u="none" cap="none" strike="noStrike">
                  <a:solidFill>
                    <a:schemeClr val="dk1"/>
                  </a:solidFill>
                  <a:latin typeface="Courier New"/>
                  <a:ea typeface="Courier New"/>
                  <a:cs typeface="Courier New"/>
                  <a:sym typeface="Courier New"/>
                </a:rPr>
                <a:t> </a:t>
              </a:r>
              <a:r>
                <a:rPr b="1" i="0" lang="es-MX" sz="2200" u="none" cap="none" strike="noStrike">
                  <a:solidFill>
                    <a:schemeClr val="dk1"/>
                  </a:solidFill>
                  <a:latin typeface="Courier New"/>
                  <a:ea typeface="Courier New"/>
                  <a:cs typeface="Courier New"/>
                  <a:sym typeface="Courier New"/>
                </a:rPr>
                <a:t>"Oro","Espada"};</a:t>
              </a:r>
              <a:endParaRPr/>
            </a:p>
          </p:txBody>
        </p:sp>
      </p:grpSp>
      <p:graphicFrame>
        <p:nvGraphicFramePr>
          <p:cNvPr id="211" name="Google Shape;211;p20"/>
          <p:cNvGraphicFramePr/>
          <p:nvPr/>
        </p:nvGraphicFramePr>
        <p:xfrm>
          <a:off x="609600" y="3028950"/>
          <a:ext cx="3000000" cy="3000000"/>
        </p:xfrm>
        <a:graphic>
          <a:graphicData uri="http://schemas.openxmlformats.org/drawingml/2006/table">
            <a:tbl>
              <a:tblPr>
                <a:noFill/>
                <a:tableStyleId>{5EC60356-8357-40EC-802D-73CC97A9008C}</a:tableStyleId>
              </a:tblPr>
              <a:tblGrid>
                <a:gridCol w="533400"/>
                <a:gridCol w="498475"/>
                <a:gridCol w="514350"/>
                <a:gridCol w="512775"/>
                <a:gridCol w="517525"/>
                <a:gridCol w="515925"/>
                <a:gridCol w="514350"/>
                <a:gridCol w="517525"/>
                <a:gridCol w="514350"/>
                <a:gridCol w="515950"/>
                <a:gridCol w="517525"/>
                <a:gridCol w="512750"/>
                <a:gridCol w="514350"/>
                <a:gridCol w="515950"/>
                <a:gridCol w="515925"/>
                <a:gridCol w="515950"/>
              </a:tblGrid>
              <a:tr h="297275">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0</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1</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2</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3</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4</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5</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6</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7</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8</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9</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A</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B</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C</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D</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E</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F</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r>
              <a:tr h="347750">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C</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B</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t</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r</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E</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d</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A004</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A009</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A00F</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A013</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grpSp>
        <p:nvGrpSpPr>
          <p:cNvPr id="212" name="Google Shape;212;p20"/>
          <p:cNvGrpSpPr/>
          <p:nvPr/>
        </p:nvGrpSpPr>
        <p:grpSpPr>
          <a:xfrm>
            <a:off x="0" y="3333750"/>
            <a:ext cx="762000" cy="685800"/>
            <a:chOff x="48" y="3456"/>
            <a:chExt cx="480" cy="576"/>
          </a:xfrm>
        </p:grpSpPr>
        <p:sp>
          <p:nvSpPr>
            <p:cNvPr id="213" name="Google Shape;213;p20"/>
            <p:cNvSpPr txBox="1"/>
            <p:nvPr/>
          </p:nvSpPr>
          <p:spPr>
            <a:xfrm>
              <a:off x="48" y="3456"/>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A00</a:t>
              </a:r>
              <a:endParaRPr b="1" i="0" sz="2000" u="none" cap="none" strike="noStrike">
                <a:solidFill>
                  <a:schemeClr val="dk1"/>
                </a:solidFill>
                <a:latin typeface="Courier New"/>
                <a:ea typeface="Courier New"/>
                <a:cs typeface="Courier New"/>
                <a:sym typeface="Courier New"/>
              </a:endParaRPr>
            </a:p>
          </p:txBody>
        </p:sp>
        <p:sp>
          <p:nvSpPr>
            <p:cNvPr id="214" name="Google Shape;214;p20"/>
            <p:cNvSpPr txBox="1"/>
            <p:nvPr/>
          </p:nvSpPr>
          <p:spPr>
            <a:xfrm>
              <a:off x="48" y="3782"/>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A01</a:t>
              </a:r>
              <a:endParaRPr b="1" i="0" sz="2000" u="none" cap="none" strike="noStrike">
                <a:solidFill>
                  <a:schemeClr val="dk1"/>
                </a:solidFill>
                <a:latin typeface="Courier New"/>
                <a:ea typeface="Courier New"/>
                <a:cs typeface="Courier New"/>
                <a:sym typeface="Courier New"/>
              </a:endParaRPr>
            </a:p>
          </p:txBody>
        </p:sp>
      </p:grpSp>
      <p:grpSp>
        <p:nvGrpSpPr>
          <p:cNvPr id="215" name="Google Shape;215;p20"/>
          <p:cNvGrpSpPr/>
          <p:nvPr/>
        </p:nvGrpSpPr>
        <p:grpSpPr>
          <a:xfrm>
            <a:off x="0" y="4057650"/>
            <a:ext cx="762000" cy="685800"/>
            <a:chOff x="48" y="3456"/>
            <a:chExt cx="480" cy="576"/>
          </a:xfrm>
        </p:grpSpPr>
        <p:sp>
          <p:nvSpPr>
            <p:cNvPr id="216" name="Google Shape;216;p20"/>
            <p:cNvSpPr txBox="1"/>
            <p:nvPr/>
          </p:nvSpPr>
          <p:spPr>
            <a:xfrm>
              <a:off x="48" y="3456"/>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217" name="Google Shape;217;p20"/>
            <p:cNvSpPr txBox="1"/>
            <p:nvPr/>
          </p:nvSpPr>
          <p:spPr>
            <a:xfrm>
              <a:off x="48" y="3782"/>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FFE</a:t>
              </a:r>
              <a:endParaRPr b="1" i="0" sz="2000" u="none" cap="none" strike="noStrike">
                <a:solidFill>
                  <a:schemeClr val="dk1"/>
                </a:solidFill>
                <a:latin typeface="Courier New"/>
                <a:ea typeface="Courier New"/>
                <a:cs typeface="Courier New"/>
                <a:sym typeface="Courier New"/>
              </a:endParaRPr>
            </a:p>
          </p:txBody>
        </p:sp>
      </p:grpSp>
      <p:sp>
        <p:nvSpPr>
          <p:cNvPr id="218" name="Google Shape;218;p20"/>
          <p:cNvSpPr/>
          <p:nvPr/>
        </p:nvSpPr>
        <p:spPr>
          <a:xfrm>
            <a:off x="3733800" y="1428750"/>
            <a:ext cx="1600200" cy="628500"/>
          </a:xfrm>
          <a:prstGeom prst="downArrow">
            <a:avLst>
              <a:gd fmla="val 50000" name="adj1"/>
              <a:gd fmla="val 25000" name="adj2"/>
            </a:avLst>
          </a:prstGeom>
          <a:gradFill>
            <a:gsLst>
              <a:gs pos="0">
                <a:srgbClr val="56728F"/>
              </a:gs>
              <a:gs pos="50000">
                <a:srgbClr val="99CCFF"/>
              </a:gs>
              <a:gs pos="100000">
                <a:srgbClr val="56728F"/>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ph type="title"/>
          </p:nvPr>
        </p:nvSpPr>
        <p:spPr>
          <a:xfrm>
            <a:off x="228600" y="95250"/>
            <a:ext cx="6072300" cy="399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1" lang="es-MX" sz="3200"/>
              <a:t>Ejercicio: indicar qué imprime</a:t>
            </a:r>
            <a:endParaRPr/>
          </a:p>
        </p:txBody>
      </p:sp>
      <p:sp>
        <p:nvSpPr>
          <p:cNvPr id="224" name="Google Shape;224;p21"/>
          <p:cNvSpPr/>
          <p:nvPr/>
        </p:nvSpPr>
        <p:spPr>
          <a:xfrm>
            <a:off x="228600" y="581900"/>
            <a:ext cx="8610600" cy="26184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Times New Roman"/>
              <a:buNone/>
            </a:pPr>
            <a:r>
              <a:t/>
            </a:r>
            <a:endParaRPr b="1" i="0" sz="2400" u="none" cap="none" strike="noStrike">
              <a:solidFill>
                <a:schemeClr val="dk1"/>
              </a:solidFill>
              <a:latin typeface="Courier New"/>
              <a:ea typeface="Courier New"/>
              <a:cs typeface="Courier New"/>
              <a:sym typeface="Courier New"/>
            </a:endParaRPr>
          </a:p>
        </p:txBody>
      </p:sp>
      <p:sp>
        <p:nvSpPr>
          <p:cNvPr id="225" name="Google Shape;225;p21"/>
          <p:cNvSpPr txBox="1"/>
          <p:nvPr/>
        </p:nvSpPr>
        <p:spPr>
          <a:xfrm>
            <a:off x="304800" y="600075"/>
            <a:ext cx="8610600" cy="269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char * palos[] = {"Copa",</a:t>
            </a:r>
            <a:r>
              <a:rPr b="1" i="0" lang="es-MX" sz="900" u="none" cap="none" strike="noStrike">
                <a:solidFill>
                  <a:schemeClr val="dk1"/>
                </a:solidFill>
                <a:latin typeface="Courier New"/>
                <a:ea typeface="Courier New"/>
                <a:cs typeface="Courier New"/>
                <a:sym typeface="Courier New"/>
              </a:rPr>
              <a:t> </a:t>
            </a:r>
            <a:r>
              <a:rPr b="1" i="0" lang="es-MX" sz="2100" u="none" cap="none" strike="noStrike">
                <a:solidFill>
                  <a:schemeClr val="dk1"/>
                </a:solidFill>
                <a:latin typeface="Courier New"/>
                <a:ea typeface="Courier New"/>
                <a:cs typeface="Courier New"/>
                <a:sym typeface="Courier New"/>
              </a:rPr>
              <a:t>"Basto",</a:t>
            </a:r>
            <a:r>
              <a:rPr b="1" i="0" lang="es-MX" sz="900" u="none" cap="none" strike="noStrike">
                <a:solidFill>
                  <a:schemeClr val="dk1"/>
                </a:solidFill>
                <a:latin typeface="Courier New"/>
                <a:ea typeface="Courier New"/>
                <a:cs typeface="Courier New"/>
                <a:sym typeface="Courier New"/>
              </a:rPr>
              <a:t> </a:t>
            </a:r>
            <a:r>
              <a:rPr b="1" i="0" lang="es-MX" sz="2100" u="none" cap="none" strike="noStrike">
                <a:solidFill>
                  <a:schemeClr val="dk1"/>
                </a:solidFill>
                <a:latin typeface="Courier New"/>
                <a:ea typeface="Courier New"/>
                <a:cs typeface="Courier New"/>
                <a:sym typeface="Courier New"/>
              </a:rPr>
              <a:t>"Oro","Espada"};</a:t>
            </a:r>
            <a:endParaRPr sz="1300"/>
          </a:p>
          <a:p>
            <a:pPr indent="0" lvl="0" marL="0" marR="0" rtl="0" algn="just">
              <a:lnSpc>
                <a:spcPct val="115000"/>
              </a:lnSpc>
              <a:spcBef>
                <a:spcPts val="22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printf("%p\n", palos[2] );</a:t>
            </a:r>
            <a:endParaRPr sz="1300"/>
          </a:p>
          <a:p>
            <a:pPr indent="0" lvl="0" marL="0" marR="0" rtl="0" algn="just">
              <a:lnSpc>
                <a:spcPct val="115000"/>
              </a:lnSpc>
              <a:spcBef>
                <a:spcPts val="22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printf("%s\n", palos[2] );</a:t>
            </a:r>
            <a:endParaRPr sz="1300"/>
          </a:p>
          <a:p>
            <a:pPr indent="0" lvl="0" marL="0" marR="0" rtl="0" algn="just">
              <a:lnSpc>
                <a:spcPct val="115000"/>
              </a:lnSpc>
              <a:spcBef>
                <a:spcPts val="22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printf("%c\n", palos[2][0]);</a:t>
            </a:r>
            <a:endParaRPr sz="1300"/>
          </a:p>
          <a:p>
            <a:pPr indent="0" lvl="0" marL="0" marR="0" rtl="0" algn="just">
              <a:lnSpc>
                <a:spcPct val="115000"/>
              </a:lnSpc>
              <a:spcBef>
                <a:spcPts val="22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printf("%c\n", *palos[2] );</a:t>
            </a:r>
            <a:endParaRPr sz="1300"/>
          </a:p>
          <a:p>
            <a:pPr indent="0" lvl="0" marL="0" marR="0" rtl="0" algn="just">
              <a:lnSpc>
                <a:spcPct val="115000"/>
              </a:lnSpc>
              <a:spcBef>
                <a:spcPts val="220"/>
              </a:spcBef>
              <a:spcAft>
                <a:spcPts val="0"/>
              </a:spcAft>
              <a:buClr>
                <a:schemeClr val="dk1"/>
              </a:buClr>
              <a:buSzPts val="2200"/>
              <a:buFont typeface="Courier New"/>
              <a:buNone/>
            </a:pPr>
            <a:r>
              <a:rPr b="1" i="0" lang="es-MX" sz="2100" u="none" cap="none" strike="noStrike">
                <a:solidFill>
                  <a:schemeClr val="dk1"/>
                </a:solidFill>
                <a:latin typeface="Courier New"/>
                <a:ea typeface="Courier New"/>
                <a:cs typeface="Courier New"/>
                <a:sym typeface="Courier New"/>
              </a:rPr>
              <a:t>printf("%c\n", **palos );</a:t>
            </a:r>
            <a:endParaRPr sz="1300"/>
          </a:p>
        </p:txBody>
      </p:sp>
      <p:graphicFrame>
        <p:nvGraphicFramePr>
          <p:cNvPr id="226" name="Google Shape;226;p21"/>
          <p:cNvGraphicFramePr/>
          <p:nvPr/>
        </p:nvGraphicFramePr>
        <p:xfrm>
          <a:off x="609600" y="3200400"/>
          <a:ext cx="3000000" cy="3000000"/>
        </p:xfrm>
        <a:graphic>
          <a:graphicData uri="http://schemas.openxmlformats.org/drawingml/2006/table">
            <a:tbl>
              <a:tblPr>
                <a:noFill/>
                <a:tableStyleId>{5EC60356-8357-40EC-802D-73CC97A9008C}</a:tableStyleId>
              </a:tblPr>
              <a:tblGrid>
                <a:gridCol w="533400"/>
                <a:gridCol w="498475"/>
                <a:gridCol w="514350"/>
                <a:gridCol w="512775"/>
                <a:gridCol w="517525"/>
                <a:gridCol w="515925"/>
                <a:gridCol w="514350"/>
                <a:gridCol w="517525"/>
                <a:gridCol w="514350"/>
                <a:gridCol w="515950"/>
                <a:gridCol w="517525"/>
                <a:gridCol w="512750"/>
                <a:gridCol w="514350"/>
                <a:gridCol w="515950"/>
                <a:gridCol w="515925"/>
                <a:gridCol w="515950"/>
              </a:tblGrid>
              <a:tr h="297275">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0</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1</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2</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3</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4</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5</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6</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7</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8</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9</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A</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B</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C</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D</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E</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Times New Roman"/>
                        <a:buNone/>
                      </a:pPr>
                      <a:r>
                        <a:rPr b="0" i="0" lang="es-MX" sz="1500" u="none" cap="none" strike="noStrike">
                          <a:solidFill>
                            <a:schemeClr val="dk1"/>
                          </a:solidFill>
                          <a:latin typeface="Times New Roman"/>
                          <a:ea typeface="Times New Roman"/>
                          <a:cs typeface="Times New Roman"/>
                          <a:sym typeface="Times New Roman"/>
                        </a:rPr>
                        <a:t>F</a:t>
                      </a:r>
                      <a:endParaRPr b="0" i="0" sz="1500" u="none" cap="none" strike="noStrike">
                        <a:solidFill>
                          <a:schemeClr val="dk1"/>
                        </a:solidFill>
                        <a:latin typeface="Times New Roman"/>
                        <a:ea typeface="Times New Roman"/>
                        <a:cs typeface="Times New Roman"/>
                        <a:sym typeface="Times New Roman"/>
                      </a:endParaRPr>
                    </a:p>
                  </a:txBody>
                  <a:tcPr marT="34300" marB="343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r>
              <a:tr h="347750">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C</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FF00"/>
                        </a:gs>
                        <a:gs pos="100000">
                          <a:srgbClr val="D3D300"/>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B</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t</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99CCFF"/>
                        </a:gs>
                        <a:gs pos="100000">
                          <a:srgbClr val="7EA9D3"/>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r</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o</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FF66CC"/>
                        </a:gs>
                        <a:gs pos="100000">
                          <a:srgbClr val="D354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E</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s</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p</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d</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\0</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gradFill>
                      <a:gsLst>
                        <a:gs pos="0">
                          <a:srgbClr val="66FFCC"/>
                        </a:gs>
                        <a:gs pos="100000">
                          <a:srgbClr val="54D3A9"/>
                        </a:gs>
                      </a:gsLst>
                      <a:path path="circle">
                        <a:fillToRect b="50%" l="50%" r="50%" t="50%"/>
                      </a:path>
                      <a:tileRect/>
                    </a:gra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DDDDD"/>
                    </a:solidFill>
                  </a:tcPr>
                </a:tc>
              </a:tr>
              <a:tr h="346575">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A004</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A009</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A00F</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gridSpan="2">
                  <a:txBody>
                    <a:bodyPr/>
                    <a:lstStyle/>
                    <a:p>
                      <a:pPr indent="0" lvl="0" marL="0" marR="0" rtl="0" algn="ctr">
                        <a:lnSpc>
                          <a:spcPct val="100000"/>
                        </a:lnSpc>
                        <a:spcBef>
                          <a:spcPts val="0"/>
                        </a:spcBef>
                        <a:spcAft>
                          <a:spcPts val="0"/>
                        </a:spcAft>
                        <a:buClr>
                          <a:schemeClr val="dk1"/>
                        </a:buClr>
                        <a:buSzPts val="1700"/>
                        <a:buFont typeface="Times New Roman"/>
                        <a:buNone/>
                      </a:pPr>
                      <a:r>
                        <a:rPr b="0" i="0" lang="es-MX" sz="1700" u="none" cap="none" strike="noStrike">
                          <a:solidFill>
                            <a:schemeClr val="dk1"/>
                          </a:solidFill>
                          <a:latin typeface="Times New Roman"/>
                          <a:ea typeface="Times New Roman"/>
                          <a:cs typeface="Times New Roman"/>
                          <a:sym typeface="Times New Roman"/>
                        </a:rPr>
                        <a:t>A013</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gradFill>
                      <a:gsLst>
                        <a:gs pos="0">
                          <a:srgbClr val="66FF99"/>
                        </a:gs>
                        <a:gs pos="100000">
                          <a:srgbClr val="54D37E"/>
                        </a:gs>
                      </a:gsLst>
                      <a:path path="circle">
                        <a:fillToRect b="50%" l="50%" r="50%" t="50%"/>
                      </a:path>
                      <a:tileRect/>
                    </a:gradFill>
                  </a:tcPr>
                </a:tc>
                <a:tc hMerge="1"/>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700"/>
                        <a:buFont typeface="Times New Roman"/>
                        <a:buNone/>
                      </a:pPr>
                      <a:r>
                        <a:t/>
                      </a:r>
                      <a:endParaRPr b="0" i="0" sz="1700" u="none" cap="none" strike="noStrike">
                        <a:solidFill>
                          <a:schemeClr val="dk1"/>
                        </a:solidFill>
                        <a:latin typeface="Times New Roman"/>
                        <a:ea typeface="Times New Roman"/>
                        <a:cs typeface="Times New Roman"/>
                        <a:sym typeface="Times New Roman"/>
                      </a:endParaRPr>
                    </a:p>
                  </a:txBody>
                  <a:tcPr marT="34300" marB="343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DDDD"/>
                    </a:solidFill>
                  </a:tcPr>
                </a:tc>
              </a:tr>
            </a:tbl>
          </a:graphicData>
        </a:graphic>
      </p:graphicFrame>
      <p:grpSp>
        <p:nvGrpSpPr>
          <p:cNvPr id="227" name="Google Shape;227;p21"/>
          <p:cNvGrpSpPr/>
          <p:nvPr/>
        </p:nvGrpSpPr>
        <p:grpSpPr>
          <a:xfrm>
            <a:off x="-76200" y="3429000"/>
            <a:ext cx="762000" cy="685800"/>
            <a:chOff x="48" y="3456"/>
            <a:chExt cx="480" cy="576"/>
          </a:xfrm>
        </p:grpSpPr>
        <p:sp>
          <p:nvSpPr>
            <p:cNvPr id="228" name="Google Shape;228;p21"/>
            <p:cNvSpPr txBox="1"/>
            <p:nvPr/>
          </p:nvSpPr>
          <p:spPr>
            <a:xfrm>
              <a:off x="48" y="3456"/>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A00</a:t>
              </a:r>
              <a:endParaRPr b="1" i="0" sz="2000" u="none" cap="none" strike="noStrike">
                <a:solidFill>
                  <a:schemeClr val="dk1"/>
                </a:solidFill>
                <a:latin typeface="Courier New"/>
                <a:ea typeface="Courier New"/>
                <a:cs typeface="Courier New"/>
                <a:sym typeface="Courier New"/>
              </a:endParaRPr>
            </a:p>
          </p:txBody>
        </p:sp>
        <p:sp>
          <p:nvSpPr>
            <p:cNvPr id="229" name="Google Shape;229;p21"/>
            <p:cNvSpPr txBox="1"/>
            <p:nvPr/>
          </p:nvSpPr>
          <p:spPr>
            <a:xfrm>
              <a:off x="48" y="3782"/>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A01</a:t>
              </a:r>
              <a:endParaRPr b="1" i="0" sz="2000" u="none" cap="none" strike="noStrike">
                <a:solidFill>
                  <a:schemeClr val="dk1"/>
                </a:solidFill>
                <a:latin typeface="Courier New"/>
                <a:ea typeface="Courier New"/>
                <a:cs typeface="Courier New"/>
                <a:sym typeface="Courier New"/>
              </a:endParaRPr>
            </a:p>
          </p:txBody>
        </p:sp>
      </p:grpSp>
      <p:grpSp>
        <p:nvGrpSpPr>
          <p:cNvPr id="230" name="Google Shape;230;p21"/>
          <p:cNvGrpSpPr/>
          <p:nvPr/>
        </p:nvGrpSpPr>
        <p:grpSpPr>
          <a:xfrm>
            <a:off x="-152400" y="4229100"/>
            <a:ext cx="952500" cy="669131"/>
            <a:chOff x="-48" y="3456"/>
            <a:chExt cx="600" cy="562"/>
          </a:xfrm>
        </p:grpSpPr>
        <p:sp>
          <p:nvSpPr>
            <p:cNvPr id="231" name="Google Shape;231;p21"/>
            <p:cNvSpPr txBox="1"/>
            <p:nvPr/>
          </p:nvSpPr>
          <p:spPr>
            <a:xfrm>
              <a:off x="48" y="3456"/>
              <a:ext cx="480" cy="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232" name="Google Shape;232;p21"/>
            <p:cNvSpPr txBox="1"/>
            <p:nvPr/>
          </p:nvSpPr>
          <p:spPr>
            <a:xfrm>
              <a:off x="-48" y="3718"/>
              <a:ext cx="600" cy="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Courier New"/>
                <a:buNone/>
              </a:pPr>
              <a:r>
                <a:rPr b="1" i="0" lang="es-MX" sz="2000" u="none" cap="none" strike="noStrike">
                  <a:solidFill>
                    <a:schemeClr val="dk1"/>
                  </a:solidFill>
                  <a:latin typeface="Courier New"/>
                  <a:ea typeface="Courier New"/>
                  <a:cs typeface="Courier New"/>
                  <a:sym typeface="Courier New"/>
                </a:rPr>
                <a:t>FFE</a:t>
              </a:r>
              <a:endParaRPr b="1" i="0" sz="2000" u="none" cap="none" strike="noStrike">
                <a:solidFill>
                  <a:schemeClr val="dk1"/>
                </a:solidFill>
                <a:latin typeface="Courier New"/>
                <a:ea typeface="Courier New"/>
                <a:cs typeface="Courier New"/>
                <a:sym typeface="Courier New"/>
              </a:endParaRPr>
            </a:p>
          </p:txBody>
        </p:sp>
      </p:grpSp>
      <p:sp>
        <p:nvSpPr>
          <p:cNvPr id="233" name="Google Shape;233;p21"/>
          <p:cNvSpPr/>
          <p:nvPr/>
        </p:nvSpPr>
        <p:spPr>
          <a:xfrm>
            <a:off x="4800600" y="1009650"/>
            <a:ext cx="2743200" cy="342900"/>
          </a:xfrm>
          <a:prstGeom prst="leftArrow">
            <a:avLst>
              <a:gd fmla="val 73611" name="adj1"/>
              <a:gd fmla="val 155917" name="adj2"/>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A00F</a:t>
            </a:r>
            <a:endParaRPr b="1" i="0" sz="2400" u="none" cap="none" strike="noStrike">
              <a:solidFill>
                <a:schemeClr val="dk1"/>
              </a:solidFill>
              <a:latin typeface="Courier New"/>
              <a:ea typeface="Courier New"/>
              <a:cs typeface="Courier New"/>
              <a:sym typeface="Courier New"/>
            </a:endParaRPr>
          </a:p>
        </p:txBody>
      </p:sp>
      <p:sp>
        <p:nvSpPr>
          <p:cNvPr id="234" name="Google Shape;234;p21"/>
          <p:cNvSpPr/>
          <p:nvPr/>
        </p:nvSpPr>
        <p:spPr>
          <a:xfrm>
            <a:off x="5029200" y="1371600"/>
            <a:ext cx="2743200" cy="342900"/>
          </a:xfrm>
          <a:prstGeom prst="leftArrow">
            <a:avLst>
              <a:gd fmla="val 73611" name="adj1"/>
              <a:gd fmla="val 155917" name="adj2"/>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Oro</a:t>
            </a:r>
            <a:endParaRPr b="1" i="0" sz="2400" u="none" cap="none" strike="noStrike">
              <a:solidFill>
                <a:schemeClr val="dk1"/>
              </a:solidFill>
              <a:latin typeface="Courier New"/>
              <a:ea typeface="Courier New"/>
              <a:cs typeface="Courier New"/>
              <a:sym typeface="Courier New"/>
            </a:endParaRPr>
          </a:p>
        </p:txBody>
      </p:sp>
      <p:sp>
        <p:nvSpPr>
          <p:cNvPr id="235" name="Google Shape;235;p21"/>
          <p:cNvSpPr/>
          <p:nvPr/>
        </p:nvSpPr>
        <p:spPr>
          <a:xfrm>
            <a:off x="4953000" y="1819275"/>
            <a:ext cx="2743200" cy="342900"/>
          </a:xfrm>
          <a:prstGeom prst="leftArrow">
            <a:avLst>
              <a:gd fmla="val 73611" name="adj1"/>
              <a:gd fmla="val 155917" name="adj2"/>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O</a:t>
            </a:r>
            <a:endParaRPr b="1" i="0" sz="2400" u="none" cap="none" strike="noStrike">
              <a:solidFill>
                <a:schemeClr val="dk1"/>
              </a:solidFill>
              <a:latin typeface="Courier New"/>
              <a:ea typeface="Courier New"/>
              <a:cs typeface="Courier New"/>
              <a:sym typeface="Courier New"/>
            </a:endParaRPr>
          </a:p>
        </p:txBody>
      </p:sp>
      <p:sp>
        <p:nvSpPr>
          <p:cNvPr id="236" name="Google Shape;236;p21"/>
          <p:cNvSpPr/>
          <p:nvPr/>
        </p:nvSpPr>
        <p:spPr>
          <a:xfrm>
            <a:off x="4800600" y="2190750"/>
            <a:ext cx="2743200" cy="342900"/>
          </a:xfrm>
          <a:prstGeom prst="leftArrow">
            <a:avLst>
              <a:gd fmla="val 73611" name="adj1"/>
              <a:gd fmla="val 155917" name="adj2"/>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O</a:t>
            </a:r>
            <a:endParaRPr b="1" i="0" sz="2400" u="none" cap="none" strike="noStrike">
              <a:solidFill>
                <a:schemeClr val="dk1"/>
              </a:solidFill>
              <a:latin typeface="Courier New"/>
              <a:ea typeface="Courier New"/>
              <a:cs typeface="Courier New"/>
              <a:sym typeface="Courier New"/>
            </a:endParaRPr>
          </a:p>
        </p:txBody>
      </p:sp>
      <p:sp>
        <p:nvSpPr>
          <p:cNvPr id="237" name="Google Shape;237;p21"/>
          <p:cNvSpPr/>
          <p:nvPr/>
        </p:nvSpPr>
        <p:spPr>
          <a:xfrm>
            <a:off x="4419600" y="2628900"/>
            <a:ext cx="2743200" cy="342900"/>
          </a:xfrm>
          <a:prstGeom prst="leftArrow">
            <a:avLst>
              <a:gd fmla="val 73611" name="adj1"/>
              <a:gd fmla="val 155917" name="adj2"/>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urier New"/>
              <a:buNone/>
            </a:pPr>
            <a:r>
              <a:rPr b="1" i="0" lang="es-MX" sz="2400" u="none" cap="none" strike="noStrike">
                <a:solidFill>
                  <a:schemeClr val="dk1"/>
                </a:solidFill>
                <a:latin typeface="Courier New"/>
                <a:ea typeface="Courier New"/>
                <a:cs typeface="Courier New"/>
                <a:sym typeface="Courier New"/>
              </a:rPr>
              <a:t>C</a:t>
            </a:r>
            <a:endParaRPr b="1" i="0" sz="2400" u="none" cap="none" strike="noStrike">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152400" y="19050"/>
            <a:ext cx="8304300" cy="399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i="1" lang="es-MX" sz="3200"/>
              <a:t>Ejercicio</a:t>
            </a:r>
            <a:r>
              <a:rPr b="1" i="1" lang="es-MX" sz="4000"/>
              <a:t>: </a:t>
            </a:r>
            <a:r>
              <a:rPr b="1" i="1" lang="es-MX" sz="3200"/>
              <a:t>indicar las operaciones correctas</a:t>
            </a:r>
            <a:endParaRPr/>
          </a:p>
        </p:txBody>
      </p:sp>
      <p:sp>
        <p:nvSpPr>
          <p:cNvPr id="243" name="Google Shape;243;p22"/>
          <p:cNvSpPr/>
          <p:nvPr/>
        </p:nvSpPr>
        <p:spPr>
          <a:xfrm>
            <a:off x="76200" y="546449"/>
            <a:ext cx="8943000" cy="4441200"/>
          </a:xfrm>
          <a:prstGeom prst="roundRect">
            <a:avLst>
              <a:gd fmla="val 5917" name="adj"/>
            </a:avLst>
          </a:prstGeom>
          <a:solidFill>
            <a:srgbClr val="CC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Times New Roman"/>
              <a:buNone/>
            </a:pPr>
            <a:r>
              <a:t/>
            </a:r>
            <a:endParaRPr b="1" i="0" sz="2000" u="none" cap="none" strike="noStrike">
              <a:solidFill>
                <a:schemeClr val="dk1"/>
              </a:solidFill>
              <a:latin typeface="Courier New"/>
              <a:ea typeface="Courier New"/>
              <a:cs typeface="Courier New"/>
              <a:sym typeface="Courier New"/>
            </a:endParaRPr>
          </a:p>
        </p:txBody>
      </p:sp>
      <p:sp>
        <p:nvSpPr>
          <p:cNvPr id="244" name="Google Shape;244;p22"/>
          <p:cNvSpPr txBox="1"/>
          <p:nvPr/>
        </p:nvSpPr>
        <p:spPr>
          <a:xfrm>
            <a:off x="114300" y="546450"/>
            <a:ext cx="8832300" cy="4441200"/>
          </a:xfrm>
          <a:prstGeom prst="rect">
            <a:avLst/>
          </a:prstGeom>
          <a:noFill/>
          <a:ln>
            <a:noFill/>
          </a:ln>
        </p:spPr>
        <p:txBody>
          <a:bodyPr anchorCtr="0" anchor="t" bIns="45700" lIns="91425" spcFirstLastPara="1" rIns="91425" wrap="square" tIns="45700">
            <a:noAutofit/>
          </a:bodyPr>
          <a:lstStyle/>
          <a:p>
            <a:pPr indent="0" lvl="0" marL="0" marR="0" rtl="0" algn="l">
              <a:lnSpc>
                <a:spcPct val="75000"/>
              </a:lnSpc>
              <a:spcBef>
                <a:spcPts val="0"/>
              </a:spcBef>
              <a:spcAft>
                <a:spcPts val="0"/>
              </a:spcAft>
              <a:buClr>
                <a:schemeClr val="dk1"/>
              </a:buClr>
              <a:buSzPts val="2000"/>
              <a:buFont typeface="Courier New"/>
              <a:buNone/>
            </a:pPr>
            <a:r>
              <a:rPr b="1" i="0" lang="es-MX" sz="1900" u="none" cap="none" strike="noStrike">
                <a:solidFill>
                  <a:schemeClr val="dk1"/>
                </a:solidFill>
                <a:latin typeface="Consolas"/>
                <a:ea typeface="Consolas"/>
                <a:cs typeface="Consolas"/>
                <a:sym typeface="Consolas"/>
              </a:rPr>
              <a:t>char * palo[] = {"Copa", "Basto", "Oro","Espada"};</a:t>
            </a:r>
            <a:endParaRPr sz="1300">
              <a:latin typeface="Consolas"/>
              <a:ea typeface="Consolas"/>
              <a:cs typeface="Consolas"/>
              <a:sym typeface="Consolas"/>
            </a:endParaRPr>
          </a:p>
          <a:p>
            <a:pPr indent="0" lvl="0" marL="0" marR="0" rtl="0" algn="l">
              <a:lnSpc>
                <a:spcPct val="75000"/>
              </a:lnSpc>
              <a:spcBef>
                <a:spcPts val="200"/>
              </a:spcBef>
              <a:spcAft>
                <a:spcPts val="0"/>
              </a:spcAft>
              <a:buClr>
                <a:schemeClr val="dk1"/>
              </a:buClr>
              <a:buSzPts val="2000"/>
              <a:buFont typeface="Courier New"/>
              <a:buNone/>
            </a:pPr>
            <a:r>
              <a:rPr b="1" i="0" lang="es-MX" sz="1900" u="none" cap="none" strike="noStrike">
                <a:solidFill>
                  <a:schemeClr val="dk1"/>
                </a:solidFill>
                <a:latin typeface="Consolas"/>
                <a:ea typeface="Consolas"/>
                <a:cs typeface="Consolas"/>
                <a:sym typeface="Consolas"/>
              </a:rPr>
              <a:t>char paloFr[][9] = {"Pica","Tr</a:t>
            </a:r>
            <a:r>
              <a:rPr b="1" lang="es-MX" sz="1900">
                <a:solidFill>
                  <a:schemeClr val="dk1"/>
                </a:solidFill>
                <a:latin typeface="Consolas"/>
                <a:ea typeface="Consolas"/>
                <a:cs typeface="Consolas"/>
                <a:sym typeface="Consolas"/>
              </a:rPr>
              <a:t>e</a:t>
            </a:r>
            <a:r>
              <a:rPr b="1" i="0" lang="es-MX" sz="1900" u="none" cap="none" strike="noStrike">
                <a:solidFill>
                  <a:schemeClr val="dk1"/>
                </a:solidFill>
                <a:latin typeface="Consolas"/>
                <a:ea typeface="Consolas"/>
                <a:cs typeface="Consolas"/>
                <a:sym typeface="Consolas"/>
              </a:rPr>
              <a:t>bol","Coraz</a:t>
            </a:r>
            <a:r>
              <a:rPr b="1" lang="es-MX" sz="1900">
                <a:solidFill>
                  <a:schemeClr val="dk1"/>
                </a:solidFill>
                <a:latin typeface="Consolas"/>
                <a:ea typeface="Consolas"/>
                <a:cs typeface="Consolas"/>
                <a:sym typeface="Consolas"/>
              </a:rPr>
              <a:t>o</a:t>
            </a:r>
            <a:r>
              <a:rPr b="1" i="0" lang="es-MX" sz="1900" u="none" cap="none" strike="noStrike">
                <a:solidFill>
                  <a:schemeClr val="dk1"/>
                </a:solidFill>
                <a:latin typeface="Consolas"/>
                <a:ea typeface="Consolas"/>
                <a:cs typeface="Consolas"/>
                <a:sym typeface="Consolas"/>
              </a:rPr>
              <a:t>n","Diamante"};</a:t>
            </a:r>
            <a:endParaRPr sz="1300">
              <a:latin typeface="Consolas"/>
              <a:ea typeface="Consolas"/>
              <a:cs typeface="Consolas"/>
              <a:sym typeface="Consolas"/>
            </a:endParaRPr>
          </a:p>
          <a:p>
            <a:pPr indent="0" lvl="0" marL="0" marR="0" rtl="0" algn="l">
              <a:lnSpc>
                <a:spcPct val="75000"/>
              </a:lnSpc>
              <a:spcBef>
                <a:spcPts val="200"/>
              </a:spcBef>
              <a:spcAft>
                <a:spcPts val="0"/>
              </a:spcAft>
              <a:buClr>
                <a:schemeClr val="dk1"/>
              </a:buClr>
              <a:buSzPts val="2000"/>
              <a:buFont typeface="Times New Roman"/>
              <a:buNone/>
            </a:pPr>
            <a:r>
              <a:t/>
            </a:r>
            <a:endParaRPr b="1" i="0" u="none" cap="none" strike="noStrike">
              <a:solidFill>
                <a:schemeClr val="dk1"/>
              </a:solidFill>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paloFr[0] </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toupper(paloFr[0]);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paloFr[0][0]</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tolower(paloFr[0][0]);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paloFr[0] </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palo[0];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palo[0][0]</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tolower(palo[0][0]);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palo[0]	   	= paloFr[0];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palo[0][0</a:t>
            </a:r>
            <a:r>
              <a:rPr b="1" i="0" lang="es-MX" sz="2200" u="none" cap="none" strike="noStrike">
                <a:solidFill>
                  <a:schemeClr val="dk1"/>
                </a:solidFill>
                <a:latin typeface="Consolas"/>
                <a:ea typeface="Consolas"/>
                <a:cs typeface="Consolas"/>
                <a:sym typeface="Consolas"/>
              </a:rPr>
              <a:t>]</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tolower(palo[0][0]);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*palo[0]	</a:t>
            </a:r>
            <a:r>
              <a:rPr b="1" lang="es-MX" sz="2200">
                <a:solidFill>
                  <a:schemeClr val="dk1"/>
                </a:solidFill>
                <a:latin typeface="Consolas"/>
                <a:ea typeface="Consolas"/>
                <a:cs typeface="Consolas"/>
                <a:sym typeface="Consolas"/>
              </a:rPr>
              <a:t>		</a:t>
            </a:r>
            <a:r>
              <a:rPr b="1" i="0" lang="es-MX" sz="2200" u="none" cap="none" strike="noStrike">
                <a:solidFill>
                  <a:schemeClr val="dk1"/>
                </a:solidFill>
                <a:latin typeface="Consolas"/>
                <a:ea typeface="Consolas"/>
                <a:cs typeface="Consolas"/>
                <a:sym typeface="Consolas"/>
              </a:rPr>
              <a:t>= tolower(*palo[0]);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	   	= tolower(**palo);</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	 		= tolower(**paloFr);</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palo[1]	   	= NULL;</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paloFr[1]	   = NULL;</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paloFr[1][10]	= 0;</a:t>
            </a:r>
            <a:endParaRPr sz="1200">
              <a:latin typeface="Consolas"/>
              <a:ea typeface="Consolas"/>
              <a:cs typeface="Consolas"/>
              <a:sym typeface="Consolas"/>
            </a:endParaRPr>
          </a:p>
          <a:p>
            <a:pPr indent="0" lvl="0" marL="0" marR="0" rtl="0" algn="l">
              <a:lnSpc>
                <a:spcPct val="75000"/>
              </a:lnSpc>
              <a:spcBef>
                <a:spcPts val="240"/>
              </a:spcBef>
              <a:spcAft>
                <a:spcPts val="0"/>
              </a:spcAft>
              <a:buClr>
                <a:schemeClr val="dk1"/>
              </a:buClr>
              <a:buSzPts val="2400"/>
              <a:buFont typeface="Courier New"/>
              <a:buNone/>
            </a:pPr>
            <a:r>
              <a:rPr b="1" i="0" lang="es-MX" sz="2200" u="none" cap="none" strike="noStrike">
                <a:solidFill>
                  <a:schemeClr val="dk1"/>
                </a:solidFill>
                <a:latin typeface="Consolas"/>
                <a:ea typeface="Consolas"/>
                <a:cs typeface="Consolas"/>
                <a:sym typeface="Consolas"/>
              </a:rPr>
              <a:t>**(paloFr+1) 	= </a:t>
            </a:r>
            <a:r>
              <a:rPr b="1" lang="es-MX" sz="2200">
                <a:solidFill>
                  <a:schemeClr val="dk1"/>
                </a:solidFill>
                <a:latin typeface="Consolas"/>
                <a:ea typeface="Consolas"/>
                <a:cs typeface="Consolas"/>
                <a:sym typeface="Consolas"/>
              </a:rPr>
              <a:t>'</a:t>
            </a:r>
            <a:r>
              <a:rPr b="1" i="0" lang="es-MX" sz="2200" u="none" cap="none" strike="noStrike">
                <a:solidFill>
                  <a:schemeClr val="dk1"/>
                </a:solidFill>
                <a:latin typeface="Consolas"/>
                <a:ea typeface="Consolas"/>
                <a:cs typeface="Consolas"/>
                <a:sym typeface="Consolas"/>
              </a:rPr>
              <a:t>X</a:t>
            </a:r>
            <a:r>
              <a:rPr b="1" lang="es-MX" sz="2200">
                <a:solidFill>
                  <a:schemeClr val="dk1"/>
                </a:solidFill>
                <a:latin typeface="Consolas"/>
                <a:ea typeface="Consolas"/>
                <a:cs typeface="Consolas"/>
                <a:sym typeface="Consolas"/>
              </a:rPr>
              <a:t>'</a:t>
            </a:r>
            <a:r>
              <a:rPr b="1" i="0" lang="es-MX" sz="2200" u="none" cap="none" strike="noStrike">
                <a:solidFill>
                  <a:schemeClr val="dk1"/>
                </a:solidFill>
                <a:latin typeface="Consolas"/>
                <a:ea typeface="Consolas"/>
                <a:cs typeface="Consolas"/>
                <a:sym typeface="Consolas"/>
              </a:rPr>
              <a:t>;</a:t>
            </a:r>
            <a:endParaRPr sz="1200">
              <a:latin typeface="Consolas"/>
              <a:ea typeface="Consolas"/>
              <a:cs typeface="Consolas"/>
              <a:sym typeface="Consolas"/>
            </a:endParaRPr>
          </a:p>
        </p:txBody>
      </p:sp>
      <p:grpSp>
        <p:nvGrpSpPr>
          <p:cNvPr id="245" name="Google Shape;245;p22"/>
          <p:cNvGrpSpPr/>
          <p:nvPr/>
        </p:nvGrpSpPr>
        <p:grpSpPr>
          <a:xfrm>
            <a:off x="5778500" y="1255331"/>
            <a:ext cx="287338" cy="216694"/>
            <a:chOff x="2592" y="3504"/>
            <a:chExt cx="655" cy="654"/>
          </a:xfrm>
        </p:grpSpPr>
        <p:sp>
          <p:nvSpPr>
            <p:cNvPr id="246" name="Google Shape;246;p22"/>
            <p:cNvSpPr/>
            <p:nvPr/>
          </p:nvSpPr>
          <p:spPr>
            <a:xfrm>
              <a:off x="2652" y="3563"/>
              <a:ext cx="595" cy="595"/>
            </a:xfrm>
            <a:custGeom>
              <a:rect b="b" l="l" r="r" t="t"/>
              <a:pathLst>
                <a:path extrusionOk="0" h="2973" w="2973">
                  <a:moveTo>
                    <a:pt x="1514" y="991"/>
                  </a:moveTo>
                  <a:lnTo>
                    <a:pt x="526" y="0"/>
                  </a:lnTo>
                  <a:lnTo>
                    <a:pt x="0" y="531"/>
                  </a:lnTo>
                  <a:lnTo>
                    <a:pt x="985" y="1513"/>
                  </a:lnTo>
                  <a:lnTo>
                    <a:pt x="3" y="2496"/>
                  </a:lnTo>
                  <a:lnTo>
                    <a:pt x="478" y="2973"/>
                  </a:lnTo>
                  <a:lnTo>
                    <a:pt x="1461" y="1993"/>
                  </a:lnTo>
                  <a:lnTo>
                    <a:pt x="2443" y="2973"/>
                  </a:lnTo>
                  <a:lnTo>
                    <a:pt x="2973" y="2448"/>
                  </a:lnTo>
                  <a:lnTo>
                    <a:pt x="1989" y="1466"/>
                  </a:lnTo>
                  <a:lnTo>
                    <a:pt x="1989" y="1462"/>
                  </a:lnTo>
                  <a:lnTo>
                    <a:pt x="2973" y="482"/>
                  </a:lnTo>
                  <a:lnTo>
                    <a:pt x="2496" y="6"/>
                  </a:lnTo>
                  <a:lnTo>
                    <a:pt x="1514" y="991"/>
                  </a:lnTo>
                  <a:close/>
                </a:path>
              </a:pathLst>
            </a:custGeom>
            <a:solidFill>
              <a:srgbClr val="800080"/>
            </a:solidFill>
            <a:ln cap="flat" cmpd="sng" w="9525">
              <a:solidFill>
                <a:srgbClr val="8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47" name="Google Shape;247;p22"/>
            <p:cNvSpPr/>
            <p:nvPr/>
          </p:nvSpPr>
          <p:spPr>
            <a:xfrm>
              <a:off x="2592" y="3504"/>
              <a:ext cx="595" cy="594"/>
            </a:xfrm>
            <a:custGeom>
              <a:rect b="b" l="l" r="r" t="t"/>
              <a:pathLst>
                <a:path extrusionOk="0" h="2971" w="2978">
                  <a:moveTo>
                    <a:pt x="528" y="0"/>
                  </a:moveTo>
                  <a:lnTo>
                    <a:pt x="0" y="528"/>
                  </a:lnTo>
                  <a:lnTo>
                    <a:pt x="993" y="1520"/>
                  </a:lnTo>
                  <a:lnTo>
                    <a:pt x="13" y="2496"/>
                  </a:lnTo>
                  <a:lnTo>
                    <a:pt x="483" y="2967"/>
                  </a:lnTo>
                  <a:lnTo>
                    <a:pt x="1467" y="1986"/>
                  </a:lnTo>
                  <a:lnTo>
                    <a:pt x="2449" y="2971"/>
                  </a:lnTo>
                  <a:lnTo>
                    <a:pt x="2976" y="2442"/>
                  </a:lnTo>
                  <a:lnTo>
                    <a:pt x="1995" y="1466"/>
                  </a:lnTo>
                  <a:lnTo>
                    <a:pt x="2978" y="484"/>
                  </a:lnTo>
                  <a:lnTo>
                    <a:pt x="2500" y="3"/>
                  </a:lnTo>
                  <a:lnTo>
                    <a:pt x="1518" y="988"/>
                  </a:lnTo>
                  <a:lnTo>
                    <a:pt x="528" y="0"/>
                  </a:lnTo>
                  <a:close/>
                </a:path>
              </a:pathLst>
            </a:custGeom>
            <a:solidFill>
              <a:srgbClr val="FF0000"/>
            </a:solidFill>
            <a:ln cap="flat" cmpd="sng" w="9525">
              <a:solidFill>
                <a:srgbClr val="99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sp>
        <p:nvSpPr>
          <p:cNvPr id="248" name="Google Shape;248;p22"/>
          <p:cNvSpPr/>
          <p:nvPr/>
        </p:nvSpPr>
        <p:spPr>
          <a:xfrm>
            <a:off x="6247663" y="1550947"/>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nvGrpSpPr>
          <p:cNvPr id="249" name="Google Shape;249;p22"/>
          <p:cNvGrpSpPr/>
          <p:nvPr/>
        </p:nvGrpSpPr>
        <p:grpSpPr>
          <a:xfrm>
            <a:off x="4186813" y="1855310"/>
            <a:ext cx="287337" cy="216694"/>
            <a:chOff x="2592" y="3504"/>
            <a:chExt cx="655" cy="654"/>
          </a:xfrm>
        </p:grpSpPr>
        <p:sp>
          <p:nvSpPr>
            <p:cNvPr id="250" name="Google Shape;250;p22"/>
            <p:cNvSpPr/>
            <p:nvPr/>
          </p:nvSpPr>
          <p:spPr>
            <a:xfrm>
              <a:off x="2652" y="3563"/>
              <a:ext cx="595" cy="595"/>
            </a:xfrm>
            <a:custGeom>
              <a:rect b="b" l="l" r="r" t="t"/>
              <a:pathLst>
                <a:path extrusionOk="0" h="2973" w="2973">
                  <a:moveTo>
                    <a:pt x="1514" y="991"/>
                  </a:moveTo>
                  <a:lnTo>
                    <a:pt x="526" y="0"/>
                  </a:lnTo>
                  <a:lnTo>
                    <a:pt x="0" y="531"/>
                  </a:lnTo>
                  <a:lnTo>
                    <a:pt x="985" y="1513"/>
                  </a:lnTo>
                  <a:lnTo>
                    <a:pt x="3" y="2496"/>
                  </a:lnTo>
                  <a:lnTo>
                    <a:pt x="478" y="2973"/>
                  </a:lnTo>
                  <a:lnTo>
                    <a:pt x="1461" y="1993"/>
                  </a:lnTo>
                  <a:lnTo>
                    <a:pt x="2443" y="2973"/>
                  </a:lnTo>
                  <a:lnTo>
                    <a:pt x="2973" y="2448"/>
                  </a:lnTo>
                  <a:lnTo>
                    <a:pt x="1989" y="1466"/>
                  </a:lnTo>
                  <a:lnTo>
                    <a:pt x="1989" y="1462"/>
                  </a:lnTo>
                  <a:lnTo>
                    <a:pt x="2973" y="482"/>
                  </a:lnTo>
                  <a:lnTo>
                    <a:pt x="2496" y="6"/>
                  </a:lnTo>
                  <a:lnTo>
                    <a:pt x="1514" y="991"/>
                  </a:lnTo>
                  <a:close/>
                </a:path>
              </a:pathLst>
            </a:custGeom>
            <a:solidFill>
              <a:srgbClr val="800080"/>
            </a:solidFill>
            <a:ln cap="flat" cmpd="sng" w="9525">
              <a:solidFill>
                <a:srgbClr val="8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1" name="Google Shape;251;p22"/>
            <p:cNvSpPr/>
            <p:nvPr/>
          </p:nvSpPr>
          <p:spPr>
            <a:xfrm>
              <a:off x="2592" y="3504"/>
              <a:ext cx="595" cy="594"/>
            </a:xfrm>
            <a:custGeom>
              <a:rect b="b" l="l" r="r" t="t"/>
              <a:pathLst>
                <a:path extrusionOk="0" h="2971" w="2978">
                  <a:moveTo>
                    <a:pt x="528" y="0"/>
                  </a:moveTo>
                  <a:lnTo>
                    <a:pt x="0" y="528"/>
                  </a:lnTo>
                  <a:lnTo>
                    <a:pt x="993" y="1520"/>
                  </a:lnTo>
                  <a:lnTo>
                    <a:pt x="13" y="2496"/>
                  </a:lnTo>
                  <a:lnTo>
                    <a:pt x="483" y="2967"/>
                  </a:lnTo>
                  <a:lnTo>
                    <a:pt x="1467" y="1986"/>
                  </a:lnTo>
                  <a:lnTo>
                    <a:pt x="2449" y="2971"/>
                  </a:lnTo>
                  <a:lnTo>
                    <a:pt x="2976" y="2442"/>
                  </a:lnTo>
                  <a:lnTo>
                    <a:pt x="1995" y="1466"/>
                  </a:lnTo>
                  <a:lnTo>
                    <a:pt x="2978" y="484"/>
                  </a:lnTo>
                  <a:lnTo>
                    <a:pt x="2500" y="3"/>
                  </a:lnTo>
                  <a:lnTo>
                    <a:pt x="1518" y="988"/>
                  </a:lnTo>
                  <a:lnTo>
                    <a:pt x="528" y="0"/>
                  </a:lnTo>
                  <a:close/>
                </a:path>
              </a:pathLst>
            </a:custGeom>
            <a:solidFill>
              <a:srgbClr val="FF0000"/>
            </a:solidFill>
            <a:ln cap="flat" cmpd="sng" w="9525">
              <a:solidFill>
                <a:srgbClr val="99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grpSp>
        <p:nvGrpSpPr>
          <p:cNvPr id="252" name="Google Shape;252;p22"/>
          <p:cNvGrpSpPr/>
          <p:nvPr/>
        </p:nvGrpSpPr>
        <p:grpSpPr>
          <a:xfrm>
            <a:off x="6083300" y="2126456"/>
            <a:ext cx="287338" cy="216694"/>
            <a:chOff x="2592" y="3504"/>
            <a:chExt cx="655" cy="654"/>
          </a:xfrm>
        </p:grpSpPr>
        <p:sp>
          <p:nvSpPr>
            <p:cNvPr id="253" name="Google Shape;253;p22"/>
            <p:cNvSpPr/>
            <p:nvPr/>
          </p:nvSpPr>
          <p:spPr>
            <a:xfrm>
              <a:off x="2652" y="3563"/>
              <a:ext cx="595" cy="595"/>
            </a:xfrm>
            <a:custGeom>
              <a:rect b="b" l="l" r="r" t="t"/>
              <a:pathLst>
                <a:path extrusionOk="0" h="2973" w="2973">
                  <a:moveTo>
                    <a:pt x="1514" y="991"/>
                  </a:moveTo>
                  <a:lnTo>
                    <a:pt x="526" y="0"/>
                  </a:lnTo>
                  <a:lnTo>
                    <a:pt x="0" y="531"/>
                  </a:lnTo>
                  <a:lnTo>
                    <a:pt x="985" y="1513"/>
                  </a:lnTo>
                  <a:lnTo>
                    <a:pt x="3" y="2496"/>
                  </a:lnTo>
                  <a:lnTo>
                    <a:pt x="478" y="2973"/>
                  </a:lnTo>
                  <a:lnTo>
                    <a:pt x="1461" y="1993"/>
                  </a:lnTo>
                  <a:lnTo>
                    <a:pt x="2443" y="2973"/>
                  </a:lnTo>
                  <a:lnTo>
                    <a:pt x="2973" y="2448"/>
                  </a:lnTo>
                  <a:lnTo>
                    <a:pt x="1989" y="1466"/>
                  </a:lnTo>
                  <a:lnTo>
                    <a:pt x="1989" y="1462"/>
                  </a:lnTo>
                  <a:lnTo>
                    <a:pt x="2973" y="482"/>
                  </a:lnTo>
                  <a:lnTo>
                    <a:pt x="2496" y="6"/>
                  </a:lnTo>
                  <a:lnTo>
                    <a:pt x="1514" y="991"/>
                  </a:lnTo>
                  <a:close/>
                </a:path>
              </a:pathLst>
            </a:custGeom>
            <a:solidFill>
              <a:srgbClr val="800080"/>
            </a:solidFill>
            <a:ln cap="flat" cmpd="sng" w="9525">
              <a:solidFill>
                <a:srgbClr val="8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4" name="Google Shape;254;p22"/>
            <p:cNvSpPr/>
            <p:nvPr/>
          </p:nvSpPr>
          <p:spPr>
            <a:xfrm>
              <a:off x="2592" y="3504"/>
              <a:ext cx="595" cy="594"/>
            </a:xfrm>
            <a:custGeom>
              <a:rect b="b" l="l" r="r" t="t"/>
              <a:pathLst>
                <a:path extrusionOk="0" h="2971" w="2978">
                  <a:moveTo>
                    <a:pt x="528" y="0"/>
                  </a:moveTo>
                  <a:lnTo>
                    <a:pt x="0" y="528"/>
                  </a:lnTo>
                  <a:lnTo>
                    <a:pt x="993" y="1520"/>
                  </a:lnTo>
                  <a:lnTo>
                    <a:pt x="13" y="2496"/>
                  </a:lnTo>
                  <a:lnTo>
                    <a:pt x="483" y="2967"/>
                  </a:lnTo>
                  <a:lnTo>
                    <a:pt x="1467" y="1986"/>
                  </a:lnTo>
                  <a:lnTo>
                    <a:pt x="2449" y="2971"/>
                  </a:lnTo>
                  <a:lnTo>
                    <a:pt x="2976" y="2442"/>
                  </a:lnTo>
                  <a:lnTo>
                    <a:pt x="1995" y="1466"/>
                  </a:lnTo>
                  <a:lnTo>
                    <a:pt x="2978" y="484"/>
                  </a:lnTo>
                  <a:lnTo>
                    <a:pt x="2500" y="3"/>
                  </a:lnTo>
                  <a:lnTo>
                    <a:pt x="1518" y="988"/>
                  </a:lnTo>
                  <a:lnTo>
                    <a:pt x="528" y="0"/>
                  </a:lnTo>
                  <a:close/>
                </a:path>
              </a:pathLst>
            </a:custGeom>
            <a:solidFill>
              <a:srgbClr val="FF0000"/>
            </a:solidFill>
            <a:ln cap="flat" cmpd="sng" w="9525">
              <a:solidFill>
                <a:srgbClr val="99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sp>
        <p:nvSpPr>
          <p:cNvPr id="255" name="Google Shape;255;p22"/>
          <p:cNvSpPr/>
          <p:nvPr/>
        </p:nvSpPr>
        <p:spPr>
          <a:xfrm>
            <a:off x="4391813" y="2396019"/>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6" name="Google Shape;256;p22"/>
          <p:cNvSpPr/>
          <p:nvPr/>
        </p:nvSpPr>
        <p:spPr>
          <a:xfrm>
            <a:off x="5887325" y="2723713"/>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7" name="Google Shape;257;p22"/>
          <p:cNvSpPr/>
          <p:nvPr/>
        </p:nvSpPr>
        <p:spPr>
          <a:xfrm>
            <a:off x="5705488" y="3017041"/>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8" name="Google Shape;258;p22"/>
          <p:cNvSpPr/>
          <p:nvPr/>
        </p:nvSpPr>
        <p:spPr>
          <a:xfrm>
            <a:off x="5345138" y="3278969"/>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59" name="Google Shape;259;p22"/>
          <p:cNvSpPr/>
          <p:nvPr/>
        </p:nvSpPr>
        <p:spPr>
          <a:xfrm>
            <a:off x="5705488" y="3540906"/>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60" name="Google Shape;260;p22"/>
          <p:cNvSpPr/>
          <p:nvPr/>
        </p:nvSpPr>
        <p:spPr>
          <a:xfrm>
            <a:off x="3653413" y="3840738"/>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nvGrpSpPr>
          <p:cNvPr id="261" name="Google Shape;261;p22"/>
          <p:cNvGrpSpPr/>
          <p:nvPr/>
        </p:nvGrpSpPr>
        <p:grpSpPr>
          <a:xfrm>
            <a:off x="3689925" y="4139681"/>
            <a:ext cx="287337" cy="216694"/>
            <a:chOff x="2592" y="3504"/>
            <a:chExt cx="655" cy="654"/>
          </a:xfrm>
        </p:grpSpPr>
        <p:sp>
          <p:nvSpPr>
            <p:cNvPr id="262" name="Google Shape;262;p22"/>
            <p:cNvSpPr/>
            <p:nvPr/>
          </p:nvSpPr>
          <p:spPr>
            <a:xfrm>
              <a:off x="2652" y="3563"/>
              <a:ext cx="595" cy="595"/>
            </a:xfrm>
            <a:custGeom>
              <a:rect b="b" l="l" r="r" t="t"/>
              <a:pathLst>
                <a:path extrusionOk="0" h="2973" w="2973">
                  <a:moveTo>
                    <a:pt x="1514" y="991"/>
                  </a:moveTo>
                  <a:lnTo>
                    <a:pt x="526" y="0"/>
                  </a:lnTo>
                  <a:lnTo>
                    <a:pt x="0" y="531"/>
                  </a:lnTo>
                  <a:lnTo>
                    <a:pt x="985" y="1513"/>
                  </a:lnTo>
                  <a:lnTo>
                    <a:pt x="3" y="2496"/>
                  </a:lnTo>
                  <a:lnTo>
                    <a:pt x="478" y="2973"/>
                  </a:lnTo>
                  <a:lnTo>
                    <a:pt x="1461" y="1993"/>
                  </a:lnTo>
                  <a:lnTo>
                    <a:pt x="2443" y="2973"/>
                  </a:lnTo>
                  <a:lnTo>
                    <a:pt x="2973" y="2448"/>
                  </a:lnTo>
                  <a:lnTo>
                    <a:pt x="1989" y="1466"/>
                  </a:lnTo>
                  <a:lnTo>
                    <a:pt x="1989" y="1462"/>
                  </a:lnTo>
                  <a:lnTo>
                    <a:pt x="2973" y="482"/>
                  </a:lnTo>
                  <a:lnTo>
                    <a:pt x="2496" y="6"/>
                  </a:lnTo>
                  <a:lnTo>
                    <a:pt x="1514" y="991"/>
                  </a:lnTo>
                  <a:close/>
                </a:path>
              </a:pathLst>
            </a:custGeom>
            <a:solidFill>
              <a:srgbClr val="800080"/>
            </a:solidFill>
            <a:ln cap="flat" cmpd="sng" w="9525">
              <a:solidFill>
                <a:srgbClr val="8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63" name="Google Shape;263;p22"/>
            <p:cNvSpPr/>
            <p:nvPr/>
          </p:nvSpPr>
          <p:spPr>
            <a:xfrm>
              <a:off x="2592" y="3504"/>
              <a:ext cx="595" cy="594"/>
            </a:xfrm>
            <a:custGeom>
              <a:rect b="b" l="l" r="r" t="t"/>
              <a:pathLst>
                <a:path extrusionOk="0" h="2971" w="2978">
                  <a:moveTo>
                    <a:pt x="528" y="0"/>
                  </a:moveTo>
                  <a:lnTo>
                    <a:pt x="0" y="528"/>
                  </a:lnTo>
                  <a:lnTo>
                    <a:pt x="993" y="1520"/>
                  </a:lnTo>
                  <a:lnTo>
                    <a:pt x="13" y="2496"/>
                  </a:lnTo>
                  <a:lnTo>
                    <a:pt x="483" y="2967"/>
                  </a:lnTo>
                  <a:lnTo>
                    <a:pt x="1467" y="1986"/>
                  </a:lnTo>
                  <a:lnTo>
                    <a:pt x="2449" y="2971"/>
                  </a:lnTo>
                  <a:lnTo>
                    <a:pt x="2976" y="2442"/>
                  </a:lnTo>
                  <a:lnTo>
                    <a:pt x="1995" y="1466"/>
                  </a:lnTo>
                  <a:lnTo>
                    <a:pt x="2978" y="484"/>
                  </a:lnTo>
                  <a:lnTo>
                    <a:pt x="2500" y="3"/>
                  </a:lnTo>
                  <a:lnTo>
                    <a:pt x="1518" y="988"/>
                  </a:lnTo>
                  <a:lnTo>
                    <a:pt x="528" y="0"/>
                  </a:lnTo>
                  <a:close/>
                </a:path>
              </a:pathLst>
            </a:custGeom>
            <a:solidFill>
              <a:srgbClr val="FF0000"/>
            </a:solidFill>
            <a:ln cap="flat" cmpd="sng" w="9525">
              <a:solidFill>
                <a:srgbClr val="99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sp>
        <p:nvSpPr>
          <p:cNvPr id="264" name="Google Shape;264;p22"/>
          <p:cNvSpPr/>
          <p:nvPr/>
        </p:nvSpPr>
        <p:spPr>
          <a:xfrm>
            <a:off x="3293075" y="4414853"/>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65" name="Google Shape;265;p22"/>
          <p:cNvSpPr/>
          <p:nvPr/>
        </p:nvSpPr>
        <p:spPr>
          <a:xfrm>
            <a:off x="3490038" y="4674613"/>
            <a:ext cx="360362" cy="209555"/>
          </a:xfrm>
          <a:custGeom>
            <a:rect b="b" l="l" r="r" t="t"/>
            <a:pathLst>
              <a:path extrusionOk="0" h="4016" w="4925">
                <a:moveTo>
                  <a:pt x="4334" y="969"/>
                </a:moveTo>
                <a:lnTo>
                  <a:pt x="3993" y="1218"/>
                </a:lnTo>
                <a:lnTo>
                  <a:pt x="3658" y="1476"/>
                </a:lnTo>
                <a:lnTo>
                  <a:pt x="3330" y="1748"/>
                </a:lnTo>
                <a:lnTo>
                  <a:pt x="3010" y="2025"/>
                </a:lnTo>
                <a:lnTo>
                  <a:pt x="2643" y="2367"/>
                </a:lnTo>
                <a:lnTo>
                  <a:pt x="2394" y="2609"/>
                </a:lnTo>
                <a:lnTo>
                  <a:pt x="2099" y="2912"/>
                </a:lnTo>
                <a:lnTo>
                  <a:pt x="1812" y="3226"/>
                </a:lnTo>
                <a:lnTo>
                  <a:pt x="1536" y="3547"/>
                </a:lnTo>
                <a:lnTo>
                  <a:pt x="1268" y="3875"/>
                </a:lnTo>
                <a:lnTo>
                  <a:pt x="1157" y="4016"/>
                </a:lnTo>
                <a:lnTo>
                  <a:pt x="1074" y="3804"/>
                </a:lnTo>
                <a:lnTo>
                  <a:pt x="976" y="3596"/>
                </a:lnTo>
                <a:lnTo>
                  <a:pt x="870" y="3392"/>
                </a:lnTo>
                <a:lnTo>
                  <a:pt x="753" y="3200"/>
                </a:lnTo>
                <a:lnTo>
                  <a:pt x="626" y="3010"/>
                </a:lnTo>
                <a:lnTo>
                  <a:pt x="488" y="2826"/>
                </a:lnTo>
                <a:lnTo>
                  <a:pt x="341" y="2651"/>
                </a:lnTo>
                <a:lnTo>
                  <a:pt x="185" y="2484"/>
                </a:lnTo>
                <a:lnTo>
                  <a:pt x="103" y="2405"/>
                </a:lnTo>
                <a:lnTo>
                  <a:pt x="246" y="2293"/>
                </a:lnTo>
                <a:lnTo>
                  <a:pt x="213" y="2260"/>
                </a:lnTo>
                <a:lnTo>
                  <a:pt x="171" y="2214"/>
                </a:lnTo>
                <a:lnTo>
                  <a:pt x="127" y="2168"/>
                </a:lnTo>
                <a:lnTo>
                  <a:pt x="83" y="2124"/>
                </a:lnTo>
                <a:lnTo>
                  <a:pt x="37" y="2080"/>
                </a:lnTo>
                <a:lnTo>
                  <a:pt x="0" y="2044"/>
                </a:lnTo>
                <a:lnTo>
                  <a:pt x="230" y="1863"/>
                </a:lnTo>
                <a:lnTo>
                  <a:pt x="340" y="1981"/>
                </a:lnTo>
                <a:lnTo>
                  <a:pt x="515" y="2188"/>
                </a:lnTo>
                <a:lnTo>
                  <a:pt x="681" y="2404"/>
                </a:lnTo>
                <a:lnTo>
                  <a:pt x="837" y="2625"/>
                </a:lnTo>
                <a:lnTo>
                  <a:pt x="983" y="2854"/>
                </a:lnTo>
                <a:lnTo>
                  <a:pt x="1117" y="3087"/>
                </a:lnTo>
                <a:lnTo>
                  <a:pt x="1238" y="3327"/>
                </a:lnTo>
                <a:lnTo>
                  <a:pt x="1273" y="3281"/>
                </a:lnTo>
                <a:lnTo>
                  <a:pt x="1419" y="3115"/>
                </a:lnTo>
                <a:lnTo>
                  <a:pt x="1568" y="2951"/>
                </a:lnTo>
                <a:lnTo>
                  <a:pt x="1716" y="2787"/>
                </a:lnTo>
                <a:lnTo>
                  <a:pt x="1867" y="2625"/>
                </a:lnTo>
                <a:lnTo>
                  <a:pt x="2018" y="2464"/>
                </a:lnTo>
                <a:lnTo>
                  <a:pt x="2171" y="2306"/>
                </a:lnTo>
                <a:lnTo>
                  <a:pt x="2326" y="2149"/>
                </a:lnTo>
                <a:lnTo>
                  <a:pt x="2485" y="1993"/>
                </a:lnTo>
                <a:lnTo>
                  <a:pt x="2642" y="1840"/>
                </a:lnTo>
                <a:lnTo>
                  <a:pt x="2802" y="1688"/>
                </a:lnTo>
                <a:lnTo>
                  <a:pt x="2962" y="1537"/>
                </a:lnTo>
                <a:lnTo>
                  <a:pt x="3125" y="1388"/>
                </a:lnTo>
                <a:lnTo>
                  <a:pt x="3290" y="1239"/>
                </a:lnTo>
                <a:lnTo>
                  <a:pt x="3455" y="1093"/>
                </a:lnTo>
                <a:lnTo>
                  <a:pt x="3622" y="950"/>
                </a:lnTo>
                <a:lnTo>
                  <a:pt x="3792" y="808"/>
                </a:lnTo>
                <a:lnTo>
                  <a:pt x="3962" y="666"/>
                </a:lnTo>
                <a:lnTo>
                  <a:pt x="4133" y="527"/>
                </a:lnTo>
                <a:lnTo>
                  <a:pt x="4306" y="389"/>
                </a:lnTo>
                <a:lnTo>
                  <a:pt x="4479" y="254"/>
                </a:lnTo>
                <a:lnTo>
                  <a:pt x="4655" y="120"/>
                </a:lnTo>
                <a:lnTo>
                  <a:pt x="4815" y="0"/>
                </a:lnTo>
                <a:lnTo>
                  <a:pt x="4925" y="213"/>
                </a:lnTo>
                <a:lnTo>
                  <a:pt x="4565" y="495"/>
                </a:lnTo>
                <a:lnTo>
                  <a:pt x="4688" y="727"/>
                </a:lnTo>
                <a:lnTo>
                  <a:pt x="4334" y="969"/>
                </a:lnTo>
                <a:close/>
              </a:path>
            </a:pathLst>
          </a:custGeom>
          <a:solidFill>
            <a:schemeClr val="accent2"/>
          </a:solidFill>
          <a:ln cap="flat" cmpd="sng" w="9525">
            <a:solidFill>
              <a:srgbClr val="B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nvGrpSpPr>
          <p:cNvPr id="266" name="Google Shape;266;p22"/>
          <p:cNvGrpSpPr/>
          <p:nvPr/>
        </p:nvGrpSpPr>
        <p:grpSpPr>
          <a:xfrm>
            <a:off x="4104675" y="4411344"/>
            <a:ext cx="287161" cy="216561"/>
            <a:chOff x="2592" y="3504"/>
            <a:chExt cx="655" cy="654"/>
          </a:xfrm>
        </p:grpSpPr>
        <p:sp>
          <p:nvSpPr>
            <p:cNvPr id="267" name="Google Shape;267;p22"/>
            <p:cNvSpPr/>
            <p:nvPr/>
          </p:nvSpPr>
          <p:spPr>
            <a:xfrm>
              <a:off x="2652" y="3563"/>
              <a:ext cx="595" cy="595"/>
            </a:xfrm>
            <a:custGeom>
              <a:rect b="b" l="l" r="r" t="t"/>
              <a:pathLst>
                <a:path extrusionOk="0" h="2973" w="2973">
                  <a:moveTo>
                    <a:pt x="1514" y="991"/>
                  </a:moveTo>
                  <a:lnTo>
                    <a:pt x="526" y="0"/>
                  </a:lnTo>
                  <a:lnTo>
                    <a:pt x="0" y="531"/>
                  </a:lnTo>
                  <a:lnTo>
                    <a:pt x="985" y="1513"/>
                  </a:lnTo>
                  <a:lnTo>
                    <a:pt x="3" y="2496"/>
                  </a:lnTo>
                  <a:lnTo>
                    <a:pt x="478" y="2973"/>
                  </a:lnTo>
                  <a:lnTo>
                    <a:pt x="1461" y="1993"/>
                  </a:lnTo>
                  <a:lnTo>
                    <a:pt x="2443" y="2973"/>
                  </a:lnTo>
                  <a:lnTo>
                    <a:pt x="2973" y="2448"/>
                  </a:lnTo>
                  <a:lnTo>
                    <a:pt x="1989" y="1466"/>
                  </a:lnTo>
                  <a:lnTo>
                    <a:pt x="1989" y="1462"/>
                  </a:lnTo>
                  <a:lnTo>
                    <a:pt x="2973" y="482"/>
                  </a:lnTo>
                  <a:lnTo>
                    <a:pt x="2496" y="6"/>
                  </a:lnTo>
                  <a:lnTo>
                    <a:pt x="1514" y="991"/>
                  </a:lnTo>
                  <a:close/>
                </a:path>
              </a:pathLst>
            </a:custGeom>
            <a:solidFill>
              <a:srgbClr val="800080"/>
            </a:solidFill>
            <a:ln cap="flat" cmpd="sng" w="9525">
              <a:solidFill>
                <a:srgbClr val="8000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sp>
          <p:nvSpPr>
            <p:cNvPr id="268" name="Google Shape;268;p22"/>
            <p:cNvSpPr/>
            <p:nvPr/>
          </p:nvSpPr>
          <p:spPr>
            <a:xfrm>
              <a:off x="2592" y="3504"/>
              <a:ext cx="596" cy="594"/>
            </a:xfrm>
            <a:custGeom>
              <a:rect b="b" l="l" r="r" t="t"/>
              <a:pathLst>
                <a:path extrusionOk="0" h="2971" w="2978">
                  <a:moveTo>
                    <a:pt x="528" y="0"/>
                  </a:moveTo>
                  <a:lnTo>
                    <a:pt x="0" y="528"/>
                  </a:lnTo>
                  <a:lnTo>
                    <a:pt x="993" y="1520"/>
                  </a:lnTo>
                  <a:lnTo>
                    <a:pt x="13" y="2496"/>
                  </a:lnTo>
                  <a:lnTo>
                    <a:pt x="483" y="2967"/>
                  </a:lnTo>
                  <a:lnTo>
                    <a:pt x="1467" y="1986"/>
                  </a:lnTo>
                  <a:lnTo>
                    <a:pt x="2449" y="2971"/>
                  </a:lnTo>
                  <a:lnTo>
                    <a:pt x="2976" y="2442"/>
                  </a:lnTo>
                  <a:lnTo>
                    <a:pt x="1995" y="1466"/>
                  </a:lnTo>
                  <a:lnTo>
                    <a:pt x="2978" y="484"/>
                  </a:lnTo>
                  <a:lnTo>
                    <a:pt x="2500" y="3"/>
                  </a:lnTo>
                  <a:lnTo>
                    <a:pt x="1518" y="988"/>
                  </a:lnTo>
                  <a:lnTo>
                    <a:pt x="528" y="0"/>
                  </a:lnTo>
                  <a:close/>
                </a:path>
              </a:pathLst>
            </a:custGeom>
            <a:solidFill>
              <a:srgbClr val="FF0000"/>
            </a:solidFill>
            <a:ln cap="flat" cmpd="sng" w="9525">
              <a:solidFill>
                <a:srgbClr val="99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ppt_w</p:attrName>
                                        </p:attrNameLst>
                                      </p:cBhvr>
                                      <p:tavLst>
                                        <p:tav fmla="" tm="0">
                                          <p:val>
                                            <p:strVal val="0"/>
                                          </p:val>
                                        </p:tav>
                                        <p:tav fmla="" tm="100000">
                                          <p:val>
                                            <p:strVal val="#ppt_w"/>
                                          </p:val>
                                        </p:tav>
                                      </p:tavLst>
                                    </p:anim>
                                    <p:anim calcmode="lin" valueType="num">
                                      <p:cBhvr additive="base">
                                        <p:cTn dur="500"/>
                                        <p:tgtEl>
                                          <p:spTgt spid="2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ppt_w</p:attrName>
                                        </p:attrNameLst>
                                      </p:cBhvr>
                                      <p:tavLst>
                                        <p:tav fmla="" tm="0">
                                          <p:val>
                                            <p:strVal val="0"/>
                                          </p:val>
                                        </p:tav>
                                        <p:tav fmla="" tm="100000">
                                          <p:val>
                                            <p:strVal val="#ppt_w"/>
                                          </p:val>
                                        </p:tav>
                                      </p:tavLst>
                                    </p:anim>
                                    <p:anim calcmode="lin" valueType="num">
                                      <p:cBhvr additive="base">
                                        <p:cTn dur="500"/>
                                        <p:tgtEl>
                                          <p:spTgt spid="2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ppt_w</p:attrName>
                                        </p:attrNameLst>
                                      </p:cBhvr>
                                      <p:tavLst>
                                        <p:tav fmla="" tm="0">
                                          <p:val>
                                            <p:strVal val="0"/>
                                          </p:val>
                                        </p:tav>
                                        <p:tav fmla="" tm="100000">
                                          <p:val>
                                            <p:strVal val="#ppt_w"/>
                                          </p:val>
                                        </p:tav>
                                      </p:tavLst>
                                    </p:anim>
                                    <p:anim calcmode="lin" valueType="num">
                                      <p:cBhvr additive="base">
                                        <p:cTn dur="500"/>
                                        <p:tgtEl>
                                          <p:spTgt spid="2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ppt_w</p:attrName>
                                        </p:attrNameLst>
                                      </p:cBhvr>
                                      <p:tavLst>
                                        <p:tav fmla="" tm="0">
                                          <p:val>
                                            <p:strVal val="0"/>
                                          </p:val>
                                        </p:tav>
                                        <p:tav fmla="" tm="100000">
                                          <p:val>
                                            <p:strVal val="#ppt_w"/>
                                          </p:val>
                                        </p:tav>
                                      </p:tavLst>
                                    </p:anim>
                                    <p:anim calcmode="lin" valueType="num">
                                      <p:cBhvr additive="base">
                                        <p:cTn dur="500"/>
                                        <p:tgtEl>
                                          <p:spTgt spid="25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ppt_w</p:attrName>
                                        </p:attrNameLst>
                                      </p:cBhvr>
                                      <p:tavLst>
                                        <p:tav fmla="" tm="0">
                                          <p:val>
                                            <p:strVal val="0"/>
                                          </p:val>
                                        </p:tav>
                                        <p:tav fmla="" tm="100000">
                                          <p:val>
                                            <p:strVal val="#ppt_w"/>
                                          </p:val>
                                        </p:tav>
                                      </p:tavLst>
                                    </p:anim>
                                    <p:anim calcmode="lin" valueType="num">
                                      <p:cBhvr additive="base">
                                        <p:cTn dur="500"/>
                                        <p:tgtEl>
                                          <p:spTgt spid="2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ppt_w</p:attrName>
                                        </p:attrNameLst>
                                      </p:cBhvr>
                                      <p:tavLst>
                                        <p:tav fmla="" tm="0">
                                          <p:val>
                                            <p:strVal val="0"/>
                                          </p:val>
                                        </p:tav>
                                        <p:tav fmla="" tm="100000">
                                          <p:val>
                                            <p:strVal val="#ppt_w"/>
                                          </p:val>
                                        </p:tav>
                                      </p:tavLst>
                                    </p:anim>
                                    <p:anim calcmode="lin" valueType="num">
                                      <p:cBhvr additive="base">
                                        <p:cTn dur="500"/>
                                        <p:tgtEl>
                                          <p:spTgt spid="2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ppt_w</p:attrName>
                                        </p:attrNameLst>
                                      </p:cBhvr>
                                      <p:tavLst>
                                        <p:tav fmla="" tm="0">
                                          <p:val>
                                            <p:strVal val="0"/>
                                          </p:val>
                                        </p:tav>
                                        <p:tav fmla="" tm="100000">
                                          <p:val>
                                            <p:strVal val="#ppt_w"/>
                                          </p:val>
                                        </p:tav>
                                      </p:tavLst>
                                    </p:anim>
                                    <p:anim calcmode="lin" valueType="num">
                                      <p:cBhvr additive="base">
                                        <p:cTn dur="500"/>
                                        <p:tgtEl>
                                          <p:spTgt spid="2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ppt_w</p:attrName>
                                        </p:attrNameLst>
                                      </p:cBhvr>
                                      <p:tavLst>
                                        <p:tav fmla="" tm="0">
                                          <p:val>
                                            <p:strVal val="0"/>
                                          </p:val>
                                        </p:tav>
                                        <p:tav fmla="" tm="100000">
                                          <p:val>
                                            <p:strVal val="#ppt_w"/>
                                          </p:val>
                                        </p:tav>
                                      </p:tavLst>
                                    </p:anim>
                                    <p:anim calcmode="lin" valueType="num">
                                      <p:cBhvr additive="base">
                                        <p:cTn dur="500"/>
                                        <p:tgtEl>
                                          <p:spTgt spid="26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ppt_w</p:attrName>
                                        </p:attrNameLst>
                                      </p:cBhvr>
                                      <p:tavLst>
                                        <p:tav fmla="" tm="0">
                                          <p:val>
                                            <p:strVal val="0"/>
                                          </p:val>
                                        </p:tav>
                                        <p:tav fmla="" tm="100000">
                                          <p:val>
                                            <p:strVal val="#ppt_w"/>
                                          </p:val>
                                        </p:tav>
                                      </p:tavLst>
                                    </p:anim>
                                    <p:anim calcmode="lin" valueType="num">
                                      <p:cBhvr additive="base">
                                        <p:cTn dur="500"/>
                                        <p:tgtEl>
                                          <p:spTgt spid="2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5"/>
                                        </p:tgtEl>
                                        <p:attrNameLst>
                                          <p:attrName>style.visibility</p:attrName>
                                        </p:attrNameLst>
                                      </p:cBhvr>
                                      <p:to>
                                        <p:strVal val="visible"/>
                                      </p:to>
                                    </p:set>
                                    <p:anim calcmode="lin" valueType="num">
                                      <p:cBhvr additive="base">
                                        <p:cTn dur="500"/>
                                        <p:tgtEl>
                                          <p:spTgt spid="265"/>
                                        </p:tgtEl>
                                        <p:attrNameLst>
                                          <p:attrName>ppt_w</p:attrName>
                                        </p:attrNameLst>
                                      </p:cBhvr>
                                      <p:tavLst>
                                        <p:tav fmla="" tm="0">
                                          <p:val>
                                            <p:strVal val="0"/>
                                          </p:val>
                                        </p:tav>
                                        <p:tav fmla="" tm="100000">
                                          <p:val>
                                            <p:strVal val="#ppt_w"/>
                                          </p:val>
                                        </p:tav>
                                      </p:tavLst>
                                    </p:anim>
                                    <p:anim calcmode="lin" valueType="num">
                                      <p:cBhvr additive="base">
                                        <p:cTn dur="500"/>
                                        <p:tgtEl>
                                          <p:spTgt spid="26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type="title"/>
          </p:nvPr>
        </p:nvSpPr>
        <p:spPr>
          <a:xfrm>
            <a:off x="304800" y="285750"/>
            <a:ext cx="65532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MX" sz="4000">
                <a:solidFill>
                  <a:schemeClr val="accent2"/>
                </a:solidFill>
              </a:rPr>
              <a:t>St</a:t>
            </a:r>
            <a:r>
              <a:rPr lang="es-MX" sz="4000"/>
              <a:t>andar</a:t>
            </a:r>
            <a:r>
              <a:rPr lang="es-MX" sz="4000">
                <a:solidFill>
                  <a:schemeClr val="accent2"/>
                </a:solidFill>
              </a:rPr>
              <a:t>d</a:t>
            </a:r>
            <a:r>
              <a:rPr lang="es-MX" sz="4000"/>
              <a:t> </a:t>
            </a:r>
            <a:r>
              <a:rPr lang="es-MX" sz="4000">
                <a:solidFill>
                  <a:schemeClr val="accent2"/>
                </a:solidFill>
              </a:rPr>
              <a:t>I</a:t>
            </a:r>
            <a:r>
              <a:rPr lang="es-MX" sz="4000"/>
              <a:t>nput/</a:t>
            </a:r>
            <a:r>
              <a:rPr lang="es-MX" sz="4000">
                <a:solidFill>
                  <a:schemeClr val="accent2"/>
                </a:solidFill>
              </a:rPr>
              <a:t>O</a:t>
            </a:r>
            <a:r>
              <a:rPr lang="es-MX" sz="4000"/>
              <a:t>utput Library</a:t>
            </a:r>
            <a:endParaRPr sz="4000"/>
          </a:p>
        </p:txBody>
      </p:sp>
      <p:grpSp>
        <p:nvGrpSpPr>
          <p:cNvPr id="275" name="Google Shape;275;p23"/>
          <p:cNvGrpSpPr/>
          <p:nvPr/>
        </p:nvGrpSpPr>
        <p:grpSpPr>
          <a:xfrm>
            <a:off x="6870700" y="114300"/>
            <a:ext cx="2197100" cy="1657350"/>
            <a:chOff x="4272" y="192"/>
            <a:chExt cx="1384" cy="1392"/>
          </a:xfrm>
        </p:grpSpPr>
        <p:pic>
          <p:nvPicPr>
            <p:cNvPr descr="CLIPPED" id="276" name="Google Shape;276;p23"/>
            <p:cNvPicPr preferRelativeResize="0"/>
            <p:nvPr/>
          </p:nvPicPr>
          <p:blipFill rotWithShape="1">
            <a:blip r:embed="rId3">
              <a:alphaModFix/>
            </a:blip>
            <a:srcRect b="0" l="0" r="0" t="0"/>
            <a:stretch/>
          </p:blipFill>
          <p:spPr>
            <a:xfrm>
              <a:off x="4272" y="192"/>
              <a:ext cx="1384" cy="1392"/>
            </a:xfrm>
            <a:prstGeom prst="rect">
              <a:avLst/>
            </a:prstGeom>
            <a:noFill/>
            <a:ln>
              <a:noFill/>
            </a:ln>
          </p:spPr>
        </p:pic>
        <p:sp>
          <p:nvSpPr>
            <p:cNvPr id="277" name="Google Shape;277;p23"/>
            <p:cNvSpPr txBox="1"/>
            <p:nvPr/>
          </p:nvSpPr>
          <p:spPr>
            <a:xfrm>
              <a:off x="4368" y="768"/>
              <a:ext cx="1104" cy="32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Courier New"/>
                <a:buNone/>
              </a:pPr>
              <a:r>
                <a:rPr b="1" lang="es-MX" sz="2800">
                  <a:solidFill>
                    <a:schemeClr val="dk1"/>
                  </a:solidFill>
                  <a:latin typeface="Courier New"/>
                  <a:ea typeface="Courier New"/>
                  <a:cs typeface="Courier New"/>
                  <a:sym typeface="Courier New"/>
                </a:rPr>
                <a:t>stdio.h</a:t>
              </a:r>
              <a:endParaRPr b="1" sz="2800">
                <a:solidFill>
                  <a:schemeClr val="dk1"/>
                </a:solidFill>
                <a:latin typeface="Courier New"/>
                <a:ea typeface="Courier New"/>
                <a:cs typeface="Courier New"/>
                <a:sym typeface="Courier New"/>
              </a:endParaRPr>
            </a:p>
          </p:txBody>
        </p:sp>
        <p:cxnSp>
          <p:nvCxnSpPr>
            <p:cNvPr id="278" name="Google Shape;278;p23"/>
            <p:cNvCxnSpPr/>
            <p:nvPr/>
          </p:nvCxnSpPr>
          <p:spPr>
            <a:xfrm>
              <a:off x="4608" y="1152"/>
              <a:ext cx="672" cy="0"/>
            </a:xfrm>
            <a:prstGeom prst="straightConnector1">
              <a:avLst/>
            </a:prstGeom>
            <a:noFill/>
            <a:ln cap="flat" cmpd="sng" w="9525">
              <a:solidFill>
                <a:schemeClr val="dk1"/>
              </a:solidFill>
              <a:prstDash val="solid"/>
              <a:round/>
              <a:headEnd len="med" w="med" type="none"/>
              <a:tailEnd len="med" w="med" type="none"/>
            </a:ln>
          </p:spPr>
        </p:cxnSp>
        <p:cxnSp>
          <p:nvCxnSpPr>
            <p:cNvPr id="279" name="Google Shape;279;p23"/>
            <p:cNvCxnSpPr/>
            <p:nvPr/>
          </p:nvCxnSpPr>
          <p:spPr>
            <a:xfrm>
              <a:off x="4608" y="1200"/>
              <a:ext cx="672" cy="0"/>
            </a:xfrm>
            <a:prstGeom prst="straightConnector1">
              <a:avLst/>
            </a:prstGeom>
            <a:noFill/>
            <a:ln cap="flat" cmpd="sng" w="9525">
              <a:solidFill>
                <a:schemeClr val="dk1"/>
              </a:solidFill>
              <a:prstDash val="solid"/>
              <a:round/>
              <a:headEnd len="med" w="med" type="none"/>
              <a:tailEnd len="med" w="med" type="none"/>
            </a:ln>
          </p:spPr>
        </p:cxnSp>
        <p:cxnSp>
          <p:nvCxnSpPr>
            <p:cNvPr id="280" name="Google Shape;280;p23"/>
            <p:cNvCxnSpPr/>
            <p:nvPr/>
          </p:nvCxnSpPr>
          <p:spPr>
            <a:xfrm>
              <a:off x="4608" y="1248"/>
              <a:ext cx="672" cy="0"/>
            </a:xfrm>
            <a:prstGeom prst="straightConnector1">
              <a:avLst/>
            </a:prstGeom>
            <a:noFill/>
            <a:ln cap="flat" cmpd="sng" w="9525">
              <a:solidFill>
                <a:schemeClr val="dk1"/>
              </a:solidFill>
              <a:prstDash val="solid"/>
              <a:round/>
              <a:headEnd len="med" w="med" type="none"/>
              <a:tailEnd len="med" w="med" type="none"/>
            </a:ln>
          </p:spPr>
        </p:cxnSp>
        <p:cxnSp>
          <p:nvCxnSpPr>
            <p:cNvPr id="281" name="Google Shape;281;p23"/>
            <p:cNvCxnSpPr/>
            <p:nvPr/>
          </p:nvCxnSpPr>
          <p:spPr>
            <a:xfrm>
              <a:off x="4608" y="1296"/>
              <a:ext cx="672" cy="0"/>
            </a:xfrm>
            <a:prstGeom prst="straightConnector1">
              <a:avLst/>
            </a:prstGeom>
            <a:noFill/>
            <a:ln cap="flat" cmpd="sng" w="9525">
              <a:solidFill>
                <a:schemeClr val="dk1"/>
              </a:solidFill>
              <a:prstDash val="solid"/>
              <a:round/>
              <a:headEnd len="med" w="med" type="none"/>
              <a:tailEnd len="med" w="med" type="none"/>
            </a:ln>
          </p:spPr>
        </p:cxnSp>
        <p:cxnSp>
          <p:nvCxnSpPr>
            <p:cNvPr id="282" name="Google Shape;282;p23"/>
            <p:cNvCxnSpPr/>
            <p:nvPr/>
          </p:nvCxnSpPr>
          <p:spPr>
            <a:xfrm>
              <a:off x="4608" y="1344"/>
              <a:ext cx="672" cy="0"/>
            </a:xfrm>
            <a:prstGeom prst="straightConnector1">
              <a:avLst/>
            </a:prstGeom>
            <a:noFill/>
            <a:ln cap="flat" cmpd="sng" w="9525">
              <a:solidFill>
                <a:schemeClr val="dk1"/>
              </a:solidFill>
              <a:prstDash val="solid"/>
              <a:round/>
              <a:headEnd len="med" w="med" type="none"/>
              <a:tailEnd len="med" w="med" type="none"/>
            </a:ln>
          </p:spPr>
        </p:cxnSp>
        <p:cxnSp>
          <p:nvCxnSpPr>
            <p:cNvPr id="283" name="Google Shape;283;p23"/>
            <p:cNvCxnSpPr/>
            <p:nvPr/>
          </p:nvCxnSpPr>
          <p:spPr>
            <a:xfrm>
              <a:off x="4608" y="768"/>
              <a:ext cx="672" cy="0"/>
            </a:xfrm>
            <a:prstGeom prst="straightConnector1">
              <a:avLst/>
            </a:prstGeom>
            <a:noFill/>
            <a:ln cap="flat" cmpd="sng" w="9525">
              <a:solidFill>
                <a:schemeClr val="dk1"/>
              </a:solidFill>
              <a:prstDash val="solid"/>
              <a:round/>
              <a:headEnd len="med" w="med" type="none"/>
              <a:tailEnd len="med" w="med" type="none"/>
            </a:ln>
          </p:spPr>
        </p:cxnSp>
        <p:cxnSp>
          <p:nvCxnSpPr>
            <p:cNvPr id="284" name="Google Shape;284;p23"/>
            <p:cNvCxnSpPr/>
            <p:nvPr/>
          </p:nvCxnSpPr>
          <p:spPr>
            <a:xfrm>
              <a:off x="4608" y="720"/>
              <a:ext cx="672" cy="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23"/>
            <p:cNvCxnSpPr/>
            <p:nvPr/>
          </p:nvCxnSpPr>
          <p:spPr>
            <a:xfrm>
              <a:off x="4608" y="672"/>
              <a:ext cx="672" cy="0"/>
            </a:xfrm>
            <a:prstGeom prst="straightConnector1">
              <a:avLst/>
            </a:prstGeom>
            <a:noFill/>
            <a:ln cap="flat" cmpd="sng" w="9525">
              <a:solidFill>
                <a:schemeClr val="dk1"/>
              </a:solidFill>
              <a:prstDash val="solid"/>
              <a:round/>
              <a:headEnd len="med" w="med" type="none"/>
              <a:tailEnd len="med" w="med" type="none"/>
            </a:ln>
          </p:spPr>
        </p:cxnSp>
        <p:cxnSp>
          <p:nvCxnSpPr>
            <p:cNvPr id="286" name="Google Shape;286;p23"/>
            <p:cNvCxnSpPr/>
            <p:nvPr/>
          </p:nvCxnSpPr>
          <p:spPr>
            <a:xfrm>
              <a:off x="4608" y="624"/>
              <a:ext cx="672" cy="0"/>
            </a:xfrm>
            <a:prstGeom prst="straightConnector1">
              <a:avLst/>
            </a:prstGeom>
            <a:noFill/>
            <a:ln cap="flat" cmpd="sng" w="9525">
              <a:solidFill>
                <a:schemeClr val="dk1"/>
              </a:solidFill>
              <a:prstDash val="solid"/>
              <a:round/>
              <a:headEnd len="med" w="med" type="none"/>
              <a:tailEnd len="med" w="med" type="none"/>
            </a:ln>
          </p:spPr>
        </p:cxnSp>
        <p:cxnSp>
          <p:nvCxnSpPr>
            <p:cNvPr id="287" name="Google Shape;287;p23"/>
            <p:cNvCxnSpPr/>
            <p:nvPr/>
          </p:nvCxnSpPr>
          <p:spPr>
            <a:xfrm>
              <a:off x="4608" y="576"/>
              <a:ext cx="672" cy="0"/>
            </a:xfrm>
            <a:prstGeom prst="straightConnector1">
              <a:avLst/>
            </a:prstGeom>
            <a:noFill/>
            <a:ln cap="flat" cmpd="sng" w="9525">
              <a:solidFill>
                <a:schemeClr val="dk1"/>
              </a:solidFill>
              <a:prstDash val="solid"/>
              <a:round/>
              <a:headEnd len="med" w="med" type="none"/>
              <a:tailEnd len="med" w="med" type="none"/>
            </a:ln>
          </p:spPr>
        </p:cxnSp>
      </p:grpSp>
      <p:sp>
        <p:nvSpPr>
          <p:cNvPr id="288" name="Google Shape;288;p23"/>
          <p:cNvSpPr/>
          <p:nvPr/>
        </p:nvSpPr>
        <p:spPr>
          <a:xfrm flipH="1" rot="10800000">
            <a:off x="28575" y="2550300"/>
            <a:ext cx="9067800" cy="1450200"/>
          </a:xfrm>
          <a:prstGeom prst="verticalScroll">
            <a:avLst>
              <a:gd fmla="val 11000" name="adj"/>
            </a:avLst>
          </a:prstGeom>
          <a:solidFill>
            <a:srgbClr val="CC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sp>
        <p:nvSpPr>
          <p:cNvPr id="289" name="Google Shape;289;p23"/>
          <p:cNvSpPr txBox="1"/>
          <p:nvPr/>
        </p:nvSpPr>
        <p:spPr>
          <a:xfrm>
            <a:off x="304800" y="2836069"/>
            <a:ext cx="8458200" cy="75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Courier New"/>
              <a:buNone/>
            </a:pPr>
            <a:r>
              <a:rPr b="1" lang="es-MX" sz="2400">
                <a:solidFill>
                  <a:schemeClr val="dk1"/>
                </a:solidFill>
                <a:latin typeface="Courier New"/>
                <a:ea typeface="Courier New"/>
                <a:cs typeface="Courier New"/>
                <a:sym typeface="Courier New"/>
              </a:rPr>
              <a:t>int sprintf(</a:t>
            </a:r>
            <a:r>
              <a:rPr b="1" lang="es-MX" sz="1000">
                <a:solidFill>
                  <a:schemeClr val="dk1"/>
                </a:solidFill>
                <a:latin typeface="Courier New"/>
                <a:ea typeface="Courier New"/>
                <a:cs typeface="Courier New"/>
                <a:sym typeface="Courier New"/>
              </a:rPr>
              <a:t> </a:t>
            </a:r>
            <a:r>
              <a:rPr b="1" lang="es-MX" sz="2400">
                <a:solidFill>
                  <a:schemeClr val="dk1"/>
                </a:solidFill>
                <a:latin typeface="Courier New"/>
                <a:ea typeface="Courier New"/>
                <a:cs typeface="Courier New"/>
                <a:sym typeface="Courier New"/>
              </a:rPr>
              <a:t>char * s, const char *fmt,</a:t>
            </a:r>
            <a:r>
              <a:rPr b="1" lang="es-MX" sz="1000">
                <a:solidFill>
                  <a:schemeClr val="dk1"/>
                </a:solidFill>
                <a:latin typeface="Courier New"/>
                <a:ea typeface="Courier New"/>
                <a:cs typeface="Courier New"/>
                <a:sym typeface="Courier New"/>
              </a:rPr>
              <a:t> </a:t>
            </a:r>
            <a:r>
              <a:rPr b="1" lang="es-MX" sz="2400">
                <a:solidFill>
                  <a:schemeClr val="dk1"/>
                </a:solidFill>
                <a:latin typeface="Courier New"/>
                <a:ea typeface="Courier New"/>
                <a:cs typeface="Courier New"/>
                <a:sym typeface="Courier New"/>
              </a:rPr>
              <a:t>...);</a:t>
            </a:r>
            <a:endParaRPr/>
          </a:p>
          <a:p>
            <a:pPr indent="0" lvl="0" marL="0" marR="0" rtl="0" algn="l">
              <a:spcBef>
                <a:spcPts val="1200"/>
              </a:spcBef>
              <a:spcAft>
                <a:spcPts val="0"/>
              </a:spcAft>
              <a:buClr>
                <a:schemeClr val="dk1"/>
              </a:buClr>
              <a:buSzPts val="2400"/>
              <a:buFont typeface="Courier New"/>
              <a:buNone/>
            </a:pPr>
            <a:r>
              <a:rPr b="1" lang="es-MX" sz="2400">
                <a:solidFill>
                  <a:schemeClr val="dk1"/>
                </a:solidFill>
                <a:latin typeface="Courier New"/>
                <a:ea typeface="Courier New"/>
                <a:cs typeface="Courier New"/>
                <a:sym typeface="Courier New"/>
              </a:rPr>
              <a:t>int sscanf(</a:t>
            </a:r>
            <a:r>
              <a:rPr b="1" lang="es-MX" sz="1000">
                <a:solidFill>
                  <a:schemeClr val="dk1"/>
                </a:solidFill>
                <a:latin typeface="Courier New"/>
                <a:ea typeface="Courier New"/>
                <a:cs typeface="Courier New"/>
                <a:sym typeface="Courier New"/>
              </a:rPr>
              <a:t> </a:t>
            </a:r>
            <a:r>
              <a:rPr b="1" lang="es-MX" sz="2400">
                <a:solidFill>
                  <a:schemeClr val="dk1"/>
                </a:solidFill>
                <a:latin typeface="Courier New"/>
                <a:ea typeface="Courier New"/>
                <a:cs typeface="Courier New"/>
                <a:sym typeface="Courier New"/>
              </a:rPr>
              <a:t>char * s, const char * fmt,</a:t>
            </a:r>
            <a:r>
              <a:rPr b="1" lang="es-MX" sz="1000">
                <a:solidFill>
                  <a:schemeClr val="dk1"/>
                </a:solidFill>
                <a:latin typeface="Courier New"/>
                <a:ea typeface="Courier New"/>
                <a:cs typeface="Courier New"/>
                <a:sym typeface="Courier New"/>
              </a:rPr>
              <a:t> </a:t>
            </a:r>
            <a:r>
              <a:rPr b="1" lang="es-MX" sz="2400">
                <a:solidFill>
                  <a:schemeClr val="dk1"/>
                </a:solidFill>
                <a:latin typeface="Courier New"/>
                <a:ea typeface="Courier New"/>
                <a:cs typeface="Courier New"/>
                <a:sym typeface="Courier New"/>
              </a:rPr>
              <a:t>...);</a:t>
            </a:r>
            <a:endParaRPr b="1" sz="2400">
              <a:solidFill>
                <a:schemeClr val="dk1"/>
              </a:solidFill>
              <a:latin typeface="Courier New"/>
              <a:ea typeface="Courier New"/>
              <a:cs typeface="Courier New"/>
              <a:sym typeface="Courier New"/>
            </a:endParaRPr>
          </a:p>
        </p:txBody>
      </p:sp>
      <p:grpSp>
        <p:nvGrpSpPr>
          <p:cNvPr id="290" name="Google Shape;290;p23"/>
          <p:cNvGrpSpPr/>
          <p:nvPr/>
        </p:nvGrpSpPr>
        <p:grpSpPr>
          <a:xfrm>
            <a:off x="733425" y="1669256"/>
            <a:ext cx="5514975" cy="3131344"/>
            <a:chOff x="462" y="1402"/>
            <a:chExt cx="3474" cy="2630"/>
          </a:xfrm>
        </p:grpSpPr>
        <p:grpSp>
          <p:nvGrpSpPr>
            <p:cNvPr id="291" name="Google Shape;291;p23"/>
            <p:cNvGrpSpPr/>
            <p:nvPr/>
          </p:nvGrpSpPr>
          <p:grpSpPr>
            <a:xfrm>
              <a:off x="1536" y="2132"/>
              <a:ext cx="1200" cy="600"/>
              <a:chOff x="1536" y="2132"/>
              <a:chExt cx="1200" cy="600"/>
            </a:xfrm>
          </p:grpSpPr>
          <p:sp>
            <p:nvSpPr>
              <p:cNvPr id="292" name="Google Shape;292;p23"/>
              <p:cNvSpPr/>
              <p:nvPr/>
            </p:nvSpPr>
            <p:spPr>
              <a:xfrm>
                <a:off x="1536" y="2432"/>
                <a:ext cx="1200" cy="3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cxnSp>
            <p:nvCxnSpPr>
              <p:cNvPr id="293" name="Google Shape;293;p23"/>
              <p:cNvCxnSpPr/>
              <p:nvPr/>
            </p:nvCxnSpPr>
            <p:spPr>
              <a:xfrm rot="10800000">
                <a:off x="2085" y="2132"/>
                <a:ext cx="0" cy="300"/>
              </a:xfrm>
              <a:prstGeom prst="straightConnector1">
                <a:avLst/>
              </a:prstGeom>
              <a:noFill/>
              <a:ln cap="flat" cmpd="sng" w="25400">
                <a:solidFill>
                  <a:srgbClr val="FF0000"/>
                </a:solidFill>
                <a:prstDash val="solid"/>
                <a:round/>
                <a:headEnd len="med" w="med" type="none"/>
                <a:tailEnd len="med" w="med" type="triangle"/>
              </a:ln>
            </p:spPr>
          </p:cxnSp>
        </p:grpSp>
        <p:sp>
          <p:nvSpPr>
            <p:cNvPr id="294" name="Google Shape;294;p23"/>
            <p:cNvSpPr txBox="1"/>
            <p:nvPr/>
          </p:nvSpPr>
          <p:spPr>
            <a:xfrm>
              <a:off x="462" y="1402"/>
              <a:ext cx="3456" cy="51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accent2"/>
                </a:buClr>
                <a:buSzPts val="2400"/>
                <a:buFont typeface="Comic Sans MS"/>
                <a:buNone/>
              </a:pPr>
              <a:r>
                <a:rPr b="1" lang="es-MX" sz="2400">
                  <a:solidFill>
                    <a:schemeClr val="accent2"/>
                  </a:solidFill>
                  <a:latin typeface="Comic Sans MS"/>
                  <a:ea typeface="Comic Sans MS"/>
                  <a:cs typeface="Comic Sans MS"/>
                  <a:sym typeface="Comic Sans MS"/>
                </a:rPr>
                <a:t>En lugar de enviar el texto a la salida estándar lo deja en el string</a:t>
              </a:r>
              <a:endParaRPr b="1" sz="2400">
                <a:solidFill>
                  <a:schemeClr val="accent2"/>
                </a:solidFill>
                <a:latin typeface="Comic Sans MS"/>
                <a:ea typeface="Comic Sans MS"/>
                <a:cs typeface="Comic Sans MS"/>
                <a:sym typeface="Comic Sans MS"/>
              </a:endParaRPr>
            </a:p>
          </p:txBody>
        </p:sp>
        <p:grpSp>
          <p:nvGrpSpPr>
            <p:cNvPr id="295" name="Google Shape;295;p23"/>
            <p:cNvGrpSpPr/>
            <p:nvPr/>
          </p:nvGrpSpPr>
          <p:grpSpPr>
            <a:xfrm flipH="1" rot="10800000">
              <a:off x="1392" y="2900"/>
              <a:ext cx="1200" cy="600"/>
              <a:chOff x="1488" y="1876"/>
              <a:chExt cx="1200" cy="600"/>
            </a:xfrm>
          </p:grpSpPr>
          <p:sp>
            <p:nvSpPr>
              <p:cNvPr id="296" name="Google Shape;296;p23"/>
              <p:cNvSpPr/>
              <p:nvPr/>
            </p:nvSpPr>
            <p:spPr>
              <a:xfrm>
                <a:off x="1488" y="2176"/>
                <a:ext cx="1200" cy="3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cxnSp>
            <p:nvCxnSpPr>
              <p:cNvPr id="297" name="Google Shape;297;p23"/>
              <p:cNvCxnSpPr/>
              <p:nvPr/>
            </p:nvCxnSpPr>
            <p:spPr>
              <a:xfrm rot="10800000">
                <a:off x="2085" y="1876"/>
                <a:ext cx="0" cy="300"/>
              </a:xfrm>
              <a:prstGeom prst="straightConnector1">
                <a:avLst/>
              </a:prstGeom>
              <a:noFill/>
              <a:ln cap="flat" cmpd="sng" w="25400">
                <a:solidFill>
                  <a:srgbClr val="FF0000"/>
                </a:solidFill>
                <a:prstDash val="solid"/>
                <a:round/>
                <a:headEnd len="med" w="med" type="none"/>
                <a:tailEnd len="med" w="med" type="triangle"/>
              </a:ln>
            </p:spPr>
          </p:cxnSp>
        </p:grpSp>
        <p:sp>
          <p:nvSpPr>
            <p:cNvPr id="298" name="Google Shape;298;p23"/>
            <p:cNvSpPr txBox="1"/>
            <p:nvPr/>
          </p:nvSpPr>
          <p:spPr>
            <a:xfrm>
              <a:off x="480" y="3514"/>
              <a:ext cx="3456" cy="51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chemeClr val="accent2"/>
                </a:buClr>
                <a:buSzPts val="2400"/>
                <a:buFont typeface="Comic Sans MS"/>
                <a:buNone/>
              </a:pPr>
              <a:r>
                <a:rPr b="1" lang="es-MX" sz="2400">
                  <a:solidFill>
                    <a:schemeClr val="accent2"/>
                  </a:solidFill>
                  <a:latin typeface="Comic Sans MS"/>
                  <a:ea typeface="Comic Sans MS"/>
                  <a:cs typeface="Comic Sans MS"/>
                  <a:sym typeface="Comic Sans MS"/>
                </a:rPr>
                <a:t>En lugar de leer el texto de la salida estándar lo toma del string</a:t>
              </a:r>
              <a:endParaRPr b="1" sz="2400">
                <a:solidFill>
                  <a:schemeClr val="accent2"/>
                </a:solidFill>
                <a:latin typeface="Comic Sans MS"/>
                <a:ea typeface="Comic Sans MS"/>
                <a:cs typeface="Comic Sans MS"/>
                <a:sym typeface="Comic Sans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ppt_w</p:attrName>
                                        </p:attrNameLst>
                                      </p:cBhvr>
                                      <p:tavLst>
                                        <p:tav fmla="" tm="0">
                                          <p:val>
                                            <p:strVal val="0"/>
                                          </p:val>
                                        </p:tav>
                                        <p:tav fmla="" tm="100000">
                                          <p:val>
                                            <p:strVal val="#ppt_w"/>
                                          </p:val>
                                        </p:tav>
                                      </p:tavLst>
                                    </p:anim>
                                    <p:anim calcmode="lin" valueType="num">
                                      <p:cBhvr additive="base">
                                        <p:cTn dur="500"/>
                                        <p:tgtEl>
                                          <p:spTgt spid="29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4"/>
          <p:cNvSpPr txBox="1"/>
          <p:nvPr>
            <p:ph type="title"/>
          </p:nvPr>
        </p:nvSpPr>
        <p:spPr>
          <a:xfrm>
            <a:off x="110825" y="88325"/>
            <a:ext cx="8534400" cy="96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s-MX" sz="3600"/>
              <a:t>Ejemplo: </a:t>
            </a:r>
            <a:r>
              <a:rPr lang="es-MX" sz="3400"/>
              <a:t>el siguiente fragmento crea un formato para leer un string en forma segura</a:t>
            </a:r>
            <a:endParaRPr sz="3400"/>
          </a:p>
        </p:txBody>
      </p:sp>
      <p:grpSp>
        <p:nvGrpSpPr>
          <p:cNvPr id="304" name="Google Shape;304;p24"/>
          <p:cNvGrpSpPr/>
          <p:nvPr/>
        </p:nvGrpSpPr>
        <p:grpSpPr>
          <a:xfrm>
            <a:off x="294550" y="1114800"/>
            <a:ext cx="7827625" cy="3883225"/>
            <a:chOff x="144" y="1728"/>
            <a:chExt cx="5376" cy="2631"/>
          </a:xfrm>
        </p:grpSpPr>
        <p:sp>
          <p:nvSpPr>
            <p:cNvPr id="305" name="Google Shape;305;p24"/>
            <p:cNvSpPr/>
            <p:nvPr/>
          </p:nvSpPr>
          <p:spPr>
            <a:xfrm>
              <a:off x="144" y="1728"/>
              <a:ext cx="5328" cy="2631"/>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nsolas"/>
                <a:ea typeface="Consolas"/>
                <a:cs typeface="Consolas"/>
                <a:sym typeface="Consolas"/>
              </a:endParaRPr>
            </a:p>
          </p:txBody>
        </p:sp>
        <p:sp>
          <p:nvSpPr>
            <p:cNvPr id="306" name="Google Shape;306;p24"/>
            <p:cNvSpPr txBox="1"/>
            <p:nvPr/>
          </p:nvSpPr>
          <p:spPr>
            <a:xfrm>
              <a:off x="207" y="1790"/>
              <a:ext cx="5313" cy="242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int n;</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fmt[10];</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do</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  n = getint("Longitud máxima:");</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while (n &lt; 1 );</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Times New Roman"/>
                <a:buNone/>
              </a:pPr>
              <a:r>
                <a:t/>
              </a:r>
              <a:endParaRPr b="1" sz="2400">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orig[n+1];</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sprintf(fmt, "%%%ds", n);</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scanf(fmt, orig);</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Times New Roman"/>
                <a:buNone/>
              </a:pPr>
              <a:r>
                <a:t/>
              </a:r>
              <a:endParaRPr b="1" sz="2400">
                <a:solidFill>
                  <a:schemeClr val="dk1"/>
                </a:solidFill>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copia[strlen(orig)+1];</a:t>
              </a:r>
              <a:endParaRPr>
                <a:latin typeface="Consolas"/>
                <a:ea typeface="Consolas"/>
                <a:cs typeface="Consolas"/>
                <a:sym typeface="Consolas"/>
              </a:endParaRPr>
            </a:p>
            <a:p>
              <a:pPr indent="0" lvl="0" marL="0" marR="0" rtl="0" algn="l">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strcpy(copia, orig);</a:t>
              </a:r>
              <a:endParaRPr b="1" sz="2400">
                <a:solidFill>
                  <a:schemeClr val="dk1"/>
                </a:solidFill>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5"/>
          <p:cNvSpPr txBox="1"/>
          <p:nvPr>
            <p:ph type="title"/>
          </p:nvPr>
        </p:nvSpPr>
        <p:spPr>
          <a:xfrm>
            <a:off x="133350" y="57150"/>
            <a:ext cx="65532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MX" sz="4000">
                <a:solidFill>
                  <a:schemeClr val="accent2"/>
                </a:solidFill>
              </a:rPr>
              <a:t>St</a:t>
            </a:r>
            <a:r>
              <a:rPr lang="es-MX" sz="4000"/>
              <a:t>andar</a:t>
            </a:r>
            <a:r>
              <a:rPr lang="es-MX" sz="4000">
                <a:solidFill>
                  <a:schemeClr val="accent2"/>
                </a:solidFill>
              </a:rPr>
              <a:t>d</a:t>
            </a:r>
            <a:r>
              <a:rPr lang="es-MX" sz="4000"/>
              <a:t> </a:t>
            </a:r>
            <a:r>
              <a:rPr lang="es-MX" sz="4000">
                <a:solidFill>
                  <a:schemeClr val="dk1"/>
                </a:solidFill>
              </a:rPr>
              <a:t>System</a:t>
            </a:r>
            <a:r>
              <a:rPr lang="es-MX" sz="4000"/>
              <a:t> </a:t>
            </a:r>
            <a:r>
              <a:rPr lang="es-MX" sz="4000">
                <a:solidFill>
                  <a:schemeClr val="accent2"/>
                </a:solidFill>
              </a:rPr>
              <a:t>Lib</a:t>
            </a:r>
            <a:r>
              <a:rPr lang="es-MX" sz="4000"/>
              <a:t>rary</a:t>
            </a:r>
            <a:endParaRPr/>
          </a:p>
        </p:txBody>
      </p:sp>
      <p:pic>
        <p:nvPicPr>
          <p:cNvPr descr="CLIPPED" id="312" name="Google Shape;312;p25"/>
          <p:cNvPicPr preferRelativeResize="0"/>
          <p:nvPr/>
        </p:nvPicPr>
        <p:blipFill rotWithShape="1">
          <a:blip r:embed="rId3">
            <a:alphaModFix/>
          </a:blip>
          <a:srcRect b="0" l="0" r="0" t="0"/>
          <a:stretch/>
        </p:blipFill>
        <p:spPr>
          <a:xfrm>
            <a:off x="6794500" y="76200"/>
            <a:ext cx="1704975" cy="1657350"/>
          </a:xfrm>
          <a:prstGeom prst="rect">
            <a:avLst/>
          </a:prstGeom>
          <a:noFill/>
          <a:ln>
            <a:noFill/>
          </a:ln>
        </p:spPr>
      </p:pic>
      <p:sp>
        <p:nvSpPr>
          <p:cNvPr id="313" name="Google Shape;313;p25"/>
          <p:cNvSpPr txBox="1"/>
          <p:nvPr/>
        </p:nvSpPr>
        <p:spPr>
          <a:xfrm>
            <a:off x="6934200" y="762000"/>
            <a:ext cx="1905000" cy="38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Courier New"/>
              <a:buNone/>
            </a:pPr>
            <a:r>
              <a:rPr b="1" lang="es-MX" sz="2000">
                <a:solidFill>
                  <a:schemeClr val="dk1"/>
                </a:solidFill>
                <a:latin typeface="Courier New"/>
                <a:ea typeface="Courier New"/>
                <a:cs typeface="Courier New"/>
                <a:sym typeface="Courier New"/>
              </a:rPr>
              <a:t>stdlib.h</a:t>
            </a:r>
            <a:endParaRPr b="1" sz="2000">
              <a:solidFill>
                <a:schemeClr val="dk1"/>
              </a:solidFill>
              <a:latin typeface="Courier New"/>
              <a:ea typeface="Courier New"/>
              <a:cs typeface="Courier New"/>
              <a:sym typeface="Courier New"/>
            </a:endParaRPr>
          </a:p>
        </p:txBody>
      </p:sp>
      <p:cxnSp>
        <p:nvCxnSpPr>
          <p:cNvPr id="314" name="Google Shape;314;p25"/>
          <p:cNvCxnSpPr/>
          <p:nvPr/>
        </p:nvCxnSpPr>
        <p:spPr>
          <a:xfrm>
            <a:off x="7315200" y="12192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15" name="Google Shape;315;p25"/>
          <p:cNvCxnSpPr/>
          <p:nvPr/>
        </p:nvCxnSpPr>
        <p:spPr>
          <a:xfrm>
            <a:off x="7315200" y="12763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25"/>
          <p:cNvCxnSpPr/>
          <p:nvPr/>
        </p:nvCxnSpPr>
        <p:spPr>
          <a:xfrm>
            <a:off x="7315200" y="13335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17" name="Google Shape;317;p25"/>
          <p:cNvCxnSpPr/>
          <p:nvPr/>
        </p:nvCxnSpPr>
        <p:spPr>
          <a:xfrm>
            <a:off x="7315200" y="13906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5"/>
          <p:cNvCxnSpPr/>
          <p:nvPr/>
        </p:nvCxnSpPr>
        <p:spPr>
          <a:xfrm>
            <a:off x="7315200" y="14478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19" name="Google Shape;319;p25"/>
          <p:cNvCxnSpPr/>
          <p:nvPr/>
        </p:nvCxnSpPr>
        <p:spPr>
          <a:xfrm>
            <a:off x="7315200" y="7620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20" name="Google Shape;320;p25"/>
          <p:cNvCxnSpPr/>
          <p:nvPr/>
        </p:nvCxnSpPr>
        <p:spPr>
          <a:xfrm>
            <a:off x="7315200" y="7048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21" name="Google Shape;321;p25"/>
          <p:cNvCxnSpPr/>
          <p:nvPr/>
        </p:nvCxnSpPr>
        <p:spPr>
          <a:xfrm>
            <a:off x="7315200" y="6477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22" name="Google Shape;322;p25"/>
          <p:cNvCxnSpPr/>
          <p:nvPr/>
        </p:nvCxnSpPr>
        <p:spPr>
          <a:xfrm>
            <a:off x="7315200" y="5905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23" name="Google Shape;323;p25"/>
          <p:cNvCxnSpPr/>
          <p:nvPr/>
        </p:nvCxnSpPr>
        <p:spPr>
          <a:xfrm>
            <a:off x="7315200" y="533400"/>
            <a:ext cx="1066800" cy="0"/>
          </a:xfrm>
          <a:prstGeom prst="straightConnector1">
            <a:avLst/>
          </a:prstGeom>
          <a:noFill/>
          <a:ln cap="flat" cmpd="sng" w="9525">
            <a:solidFill>
              <a:schemeClr val="dk1"/>
            </a:solidFill>
            <a:prstDash val="solid"/>
            <a:round/>
            <a:headEnd len="med" w="med" type="none"/>
            <a:tailEnd len="med" w="med" type="none"/>
          </a:ln>
        </p:spPr>
      </p:cxnSp>
      <p:grpSp>
        <p:nvGrpSpPr>
          <p:cNvPr id="324" name="Google Shape;324;p25"/>
          <p:cNvGrpSpPr/>
          <p:nvPr/>
        </p:nvGrpSpPr>
        <p:grpSpPr>
          <a:xfrm>
            <a:off x="114300" y="723900"/>
            <a:ext cx="6667500" cy="1657350"/>
            <a:chOff x="72" y="1329"/>
            <a:chExt cx="4200" cy="1279"/>
          </a:xfrm>
        </p:grpSpPr>
        <p:sp>
          <p:nvSpPr>
            <p:cNvPr id="325" name="Google Shape;325;p25"/>
            <p:cNvSpPr/>
            <p:nvPr/>
          </p:nvSpPr>
          <p:spPr>
            <a:xfrm flipH="1" rot="10800000">
              <a:off x="72" y="1408"/>
              <a:ext cx="4200" cy="1200"/>
            </a:xfrm>
            <a:prstGeom prst="verticalScroll">
              <a:avLst>
                <a:gd fmla="val 15102" name="adj"/>
              </a:avLst>
            </a:prstGeom>
            <a:solidFill>
              <a:srgbClr val="CCFFCC"/>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sp>
          <p:nvSpPr>
            <p:cNvPr id="326" name="Google Shape;326;p25"/>
            <p:cNvSpPr txBox="1"/>
            <p:nvPr/>
          </p:nvSpPr>
          <p:spPr>
            <a:xfrm>
              <a:off x="266" y="1329"/>
              <a:ext cx="3600" cy="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Courier New"/>
                <a:buNone/>
              </a:pPr>
              <a:r>
                <a:rPr b="1" lang="es-MX" sz="2400">
                  <a:solidFill>
                    <a:schemeClr val="dk1"/>
                  </a:solidFill>
                  <a:latin typeface="Courier New"/>
                  <a:ea typeface="Courier New"/>
                  <a:cs typeface="Courier New"/>
                  <a:sym typeface="Courier New"/>
                </a:rPr>
                <a:t>double atof(const char * s);</a:t>
              </a:r>
              <a:endParaRPr/>
            </a:p>
            <a:p>
              <a:pPr indent="0" lvl="0" marL="0" marR="0" rtl="0" algn="l">
                <a:spcBef>
                  <a:spcPts val="1200"/>
                </a:spcBef>
                <a:spcAft>
                  <a:spcPts val="0"/>
                </a:spcAft>
                <a:buClr>
                  <a:schemeClr val="dk1"/>
                </a:buClr>
                <a:buSzPts val="2400"/>
                <a:buFont typeface="Courier New"/>
                <a:buNone/>
              </a:pPr>
              <a:r>
                <a:rPr b="1" lang="es-MX" sz="2400">
                  <a:solidFill>
                    <a:schemeClr val="dk1"/>
                  </a:solidFill>
                  <a:latin typeface="Courier New"/>
                  <a:ea typeface="Courier New"/>
                  <a:cs typeface="Courier New"/>
                  <a:sym typeface="Courier New"/>
                </a:rPr>
                <a:t>int atoi(const char * s);</a:t>
              </a:r>
              <a:endParaRPr/>
            </a:p>
            <a:p>
              <a:pPr indent="0" lvl="0" marL="0" marR="0" rtl="0" algn="l">
                <a:spcBef>
                  <a:spcPts val="1200"/>
                </a:spcBef>
                <a:spcAft>
                  <a:spcPts val="0"/>
                </a:spcAft>
                <a:buClr>
                  <a:schemeClr val="dk1"/>
                </a:buClr>
                <a:buSzPts val="2400"/>
                <a:buFont typeface="Courier New"/>
                <a:buNone/>
              </a:pPr>
              <a:r>
                <a:rPr b="1" lang="es-MX" sz="2400">
                  <a:solidFill>
                    <a:schemeClr val="dk1"/>
                  </a:solidFill>
                  <a:latin typeface="Courier New"/>
                  <a:ea typeface="Courier New"/>
                  <a:cs typeface="Courier New"/>
                  <a:sym typeface="Courier New"/>
                </a:rPr>
                <a:t>long atol(const char * s);</a:t>
              </a:r>
              <a:endParaRPr/>
            </a:p>
          </p:txBody>
        </p:sp>
      </p:grpSp>
      <p:grpSp>
        <p:nvGrpSpPr>
          <p:cNvPr id="327" name="Google Shape;327;p25"/>
          <p:cNvGrpSpPr/>
          <p:nvPr/>
        </p:nvGrpSpPr>
        <p:grpSpPr>
          <a:xfrm>
            <a:off x="281000" y="2522923"/>
            <a:ext cx="8096225" cy="2142600"/>
            <a:chOff x="-111" y="1281"/>
            <a:chExt cx="5100" cy="1563"/>
          </a:xfrm>
        </p:grpSpPr>
        <p:sp>
          <p:nvSpPr>
            <p:cNvPr id="328" name="Google Shape;328;p25"/>
            <p:cNvSpPr/>
            <p:nvPr/>
          </p:nvSpPr>
          <p:spPr>
            <a:xfrm>
              <a:off x="-111" y="1281"/>
              <a:ext cx="5100" cy="1500"/>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sp>
          <p:nvSpPr>
            <p:cNvPr id="329" name="Google Shape;329;p25"/>
            <p:cNvSpPr txBox="1"/>
            <p:nvPr/>
          </p:nvSpPr>
          <p:spPr>
            <a:xfrm>
              <a:off x="-48" y="1344"/>
              <a:ext cx="4800" cy="1500"/>
            </a:xfrm>
            <a:prstGeom prst="rect">
              <a:avLst/>
            </a:prstGeom>
            <a:noFill/>
            <a:ln>
              <a:noFill/>
            </a:ln>
          </p:spPr>
          <p:txBody>
            <a:bodyPr anchorCtr="0" anchor="t" bIns="45700" lIns="91425" spcFirstLastPara="1" rIns="91425" wrap="square" tIns="45700">
              <a:noAutofit/>
            </a:bodyPr>
            <a:lstStyle/>
            <a:p>
              <a:pPr indent="0" lvl="0" marL="0" marR="0" rtl="0" algn="just">
                <a:lnSpc>
                  <a:spcPct val="80000"/>
                </a:lnSpc>
                <a:spcBef>
                  <a:spcPts val="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num1[] = "231.79";</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num2[] = "179A.8";</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	</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printf("Como double = %g\n", atof(num1));</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printf("Como entero = %d\n", atoi(num1));</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printf("Como long   = %ld\n",atol(num2));</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  </a:t>
              </a:r>
              <a:endParaRPr b="1" sz="2400">
                <a:solidFill>
                  <a:schemeClr val="dk1"/>
                </a:solidFill>
                <a:latin typeface="Consolas"/>
                <a:ea typeface="Consolas"/>
                <a:cs typeface="Consolas"/>
                <a:sym typeface="Consolas"/>
              </a:endParaRPr>
            </a:p>
          </p:txBody>
        </p:sp>
      </p:grpSp>
      <p:grpSp>
        <p:nvGrpSpPr>
          <p:cNvPr id="330" name="Google Shape;330;p25"/>
          <p:cNvGrpSpPr/>
          <p:nvPr/>
        </p:nvGrpSpPr>
        <p:grpSpPr>
          <a:xfrm>
            <a:off x="4707075" y="2305050"/>
            <a:ext cx="4205600" cy="1128500"/>
            <a:chOff x="2016" y="2064"/>
            <a:chExt cx="3648" cy="528"/>
          </a:xfrm>
        </p:grpSpPr>
        <p:sp>
          <p:nvSpPr>
            <p:cNvPr id="331" name="Google Shape;331;p25"/>
            <p:cNvSpPr/>
            <p:nvPr/>
          </p:nvSpPr>
          <p:spPr>
            <a:xfrm>
              <a:off x="2016" y="2064"/>
              <a:ext cx="3648" cy="528"/>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sp>
          <p:nvSpPr>
            <p:cNvPr id="332" name="Google Shape;332;p25"/>
            <p:cNvSpPr txBox="1"/>
            <p:nvPr/>
          </p:nvSpPr>
          <p:spPr>
            <a:xfrm>
              <a:off x="2043" y="2112"/>
              <a:ext cx="3600" cy="476"/>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chemeClr val="lt1"/>
                </a:buClr>
                <a:buSzPts val="2200"/>
                <a:buFont typeface="Courier New"/>
                <a:buNone/>
              </a:pPr>
              <a:r>
                <a:rPr b="1" lang="es-MX" sz="2200">
                  <a:solidFill>
                    <a:schemeClr val="lt1"/>
                  </a:solidFill>
                  <a:latin typeface="Courier New"/>
                  <a:ea typeface="Courier New"/>
                  <a:cs typeface="Courier New"/>
                  <a:sym typeface="Courier New"/>
                </a:rPr>
                <a:t>Como double = 231.79</a:t>
              </a:r>
              <a:endParaRPr/>
            </a:p>
            <a:p>
              <a:pPr indent="0" lvl="0" marL="0" marR="0" rtl="0" algn="l">
                <a:lnSpc>
                  <a:spcPct val="85000"/>
                </a:lnSpc>
                <a:spcBef>
                  <a:spcPts val="110"/>
                </a:spcBef>
                <a:spcAft>
                  <a:spcPts val="0"/>
                </a:spcAft>
                <a:buClr>
                  <a:schemeClr val="lt1"/>
                </a:buClr>
                <a:buSzPts val="2200"/>
                <a:buFont typeface="Courier New"/>
                <a:buNone/>
              </a:pPr>
              <a:r>
                <a:rPr b="1" lang="es-MX" sz="2200">
                  <a:solidFill>
                    <a:schemeClr val="lt1"/>
                  </a:solidFill>
                  <a:latin typeface="Courier New"/>
                  <a:ea typeface="Courier New"/>
                  <a:cs typeface="Courier New"/>
                  <a:sym typeface="Courier New"/>
                </a:rPr>
                <a:t>Como entero = 231</a:t>
              </a:r>
              <a:endParaRPr/>
            </a:p>
            <a:p>
              <a:pPr indent="0" lvl="0" marL="0" marR="0" rtl="0" algn="l">
                <a:lnSpc>
                  <a:spcPct val="85000"/>
                </a:lnSpc>
                <a:spcBef>
                  <a:spcPts val="110"/>
                </a:spcBef>
                <a:spcAft>
                  <a:spcPts val="0"/>
                </a:spcAft>
                <a:buClr>
                  <a:schemeClr val="lt1"/>
                </a:buClr>
                <a:buSzPts val="2200"/>
                <a:buFont typeface="Courier New"/>
                <a:buNone/>
              </a:pPr>
              <a:r>
                <a:rPr b="1" lang="es-MX" sz="2200">
                  <a:solidFill>
                    <a:schemeClr val="lt1"/>
                  </a:solidFill>
                  <a:latin typeface="Courier New"/>
                  <a:ea typeface="Courier New"/>
                  <a:cs typeface="Courier New"/>
                  <a:sym typeface="Courier New"/>
                </a:rPr>
                <a:t>Como long   = 179</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500"/>
                                        <p:tgtEl>
                                          <p:spTgt spid="3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6"/>
          <p:cNvSpPr txBox="1"/>
          <p:nvPr>
            <p:ph type="title"/>
          </p:nvPr>
        </p:nvSpPr>
        <p:spPr>
          <a:xfrm>
            <a:off x="304800" y="285750"/>
            <a:ext cx="65532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MX" sz="4000">
                <a:solidFill>
                  <a:schemeClr val="accent2"/>
                </a:solidFill>
              </a:rPr>
              <a:t>St</a:t>
            </a:r>
            <a:r>
              <a:rPr lang="es-MX" sz="4000"/>
              <a:t>andar</a:t>
            </a:r>
            <a:r>
              <a:rPr lang="es-MX" sz="4000">
                <a:solidFill>
                  <a:schemeClr val="accent2"/>
                </a:solidFill>
              </a:rPr>
              <a:t>d</a:t>
            </a:r>
            <a:r>
              <a:rPr lang="es-MX" sz="4000"/>
              <a:t> </a:t>
            </a:r>
            <a:r>
              <a:rPr lang="es-MX" sz="4000">
                <a:solidFill>
                  <a:schemeClr val="dk1"/>
                </a:solidFill>
              </a:rPr>
              <a:t>System</a:t>
            </a:r>
            <a:r>
              <a:rPr lang="es-MX" sz="4000"/>
              <a:t> </a:t>
            </a:r>
            <a:r>
              <a:rPr lang="es-MX" sz="4000">
                <a:solidFill>
                  <a:schemeClr val="accent2"/>
                </a:solidFill>
              </a:rPr>
              <a:t>Lib</a:t>
            </a:r>
            <a:r>
              <a:rPr lang="es-MX" sz="4000"/>
              <a:t>rary</a:t>
            </a:r>
            <a:endParaRPr/>
          </a:p>
        </p:txBody>
      </p:sp>
      <p:pic>
        <p:nvPicPr>
          <p:cNvPr descr="CLIPPED" id="338" name="Google Shape;338;p26"/>
          <p:cNvPicPr preferRelativeResize="0"/>
          <p:nvPr/>
        </p:nvPicPr>
        <p:blipFill rotWithShape="1">
          <a:blip r:embed="rId3">
            <a:alphaModFix/>
          </a:blip>
          <a:srcRect b="0" l="0" r="0" t="0"/>
          <a:stretch/>
        </p:blipFill>
        <p:spPr>
          <a:xfrm>
            <a:off x="6794500" y="228600"/>
            <a:ext cx="1704975" cy="1657350"/>
          </a:xfrm>
          <a:prstGeom prst="rect">
            <a:avLst/>
          </a:prstGeom>
          <a:noFill/>
          <a:ln>
            <a:noFill/>
          </a:ln>
        </p:spPr>
      </p:pic>
      <p:sp>
        <p:nvSpPr>
          <p:cNvPr id="339" name="Google Shape;339;p26"/>
          <p:cNvSpPr txBox="1"/>
          <p:nvPr/>
        </p:nvSpPr>
        <p:spPr>
          <a:xfrm>
            <a:off x="6934200" y="914400"/>
            <a:ext cx="1905000" cy="38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800"/>
              <a:buFont typeface="Courier New"/>
              <a:buNone/>
            </a:pPr>
            <a:r>
              <a:rPr b="1" lang="es-MX" sz="2100">
                <a:solidFill>
                  <a:schemeClr val="dk1"/>
                </a:solidFill>
                <a:latin typeface="Courier New"/>
                <a:ea typeface="Courier New"/>
                <a:cs typeface="Courier New"/>
                <a:sym typeface="Courier New"/>
              </a:rPr>
              <a:t>stdlib.h</a:t>
            </a:r>
            <a:endParaRPr b="1" sz="2100">
              <a:solidFill>
                <a:schemeClr val="dk1"/>
              </a:solidFill>
              <a:latin typeface="Courier New"/>
              <a:ea typeface="Courier New"/>
              <a:cs typeface="Courier New"/>
              <a:sym typeface="Courier New"/>
            </a:endParaRPr>
          </a:p>
        </p:txBody>
      </p:sp>
      <p:cxnSp>
        <p:nvCxnSpPr>
          <p:cNvPr id="340" name="Google Shape;340;p26"/>
          <p:cNvCxnSpPr/>
          <p:nvPr/>
        </p:nvCxnSpPr>
        <p:spPr>
          <a:xfrm>
            <a:off x="7315200" y="13716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1" name="Google Shape;341;p26"/>
          <p:cNvCxnSpPr/>
          <p:nvPr/>
        </p:nvCxnSpPr>
        <p:spPr>
          <a:xfrm>
            <a:off x="7315200" y="14287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2" name="Google Shape;342;p26"/>
          <p:cNvCxnSpPr/>
          <p:nvPr/>
        </p:nvCxnSpPr>
        <p:spPr>
          <a:xfrm>
            <a:off x="7315200" y="14859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3" name="Google Shape;343;p26"/>
          <p:cNvCxnSpPr/>
          <p:nvPr/>
        </p:nvCxnSpPr>
        <p:spPr>
          <a:xfrm>
            <a:off x="7315200" y="15430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4" name="Google Shape;344;p26"/>
          <p:cNvCxnSpPr/>
          <p:nvPr/>
        </p:nvCxnSpPr>
        <p:spPr>
          <a:xfrm>
            <a:off x="7315200" y="16002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5" name="Google Shape;345;p26"/>
          <p:cNvCxnSpPr/>
          <p:nvPr/>
        </p:nvCxnSpPr>
        <p:spPr>
          <a:xfrm>
            <a:off x="7315200" y="9144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6" name="Google Shape;346;p26"/>
          <p:cNvCxnSpPr/>
          <p:nvPr/>
        </p:nvCxnSpPr>
        <p:spPr>
          <a:xfrm>
            <a:off x="7315200" y="8572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7" name="Google Shape;347;p26"/>
          <p:cNvCxnSpPr/>
          <p:nvPr/>
        </p:nvCxnSpPr>
        <p:spPr>
          <a:xfrm>
            <a:off x="7315200" y="80010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8" name="Google Shape;348;p26"/>
          <p:cNvCxnSpPr/>
          <p:nvPr/>
        </p:nvCxnSpPr>
        <p:spPr>
          <a:xfrm>
            <a:off x="7315200" y="742950"/>
            <a:ext cx="1066800" cy="0"/>
          </a:xfrm>
          <a:prstGeom prst="straightConnector1">
            <a:avLst/>
          </a:prstGeom>
          <a:noFill/>
          <a:ln cap="flat" cmpd="sng" w="9525">
            <a:solidFill>
              <a:schemeClr val="dk1"/>
            </a:solidFill>
            <a:prstDash val="solid"/>
            <a:round/>
            <a:headEnd len="med" w="med" type="none"/>
            <a:tailEnd len="med" w="med" type="none"/>
          </a:ln>
        </p:spPr>
      </p:cxnSp>
      <p:cxnSp>
        <p:nvCxnSpPr>
          <p:cNvPr id="349" name="Google Shape;349;p26"/>
          <p:cNvCxnSpPr/>
          <p:nvPr/>
        </p:nvCxnSpPr>
        <p:spPr>
          <a:xfrm>
            <a:off x="7315200" y="685800"/>
            <a:ext cx="1066800" cy="0"/>
          </a:xfrm>
          <a:prstGeom prst="straightConnector1">
            <a:avLst/>
          </a:prstGeom>
          <a:noFill/>
          <a:ln cap="flat" cmpd="sng" w="9525">
            <a:solidFill>
              <a:schemeClr val="dk1"/>
            </a:solidFill>
            <a:prstDash val="solid"/>
            <a:round/>
            <a:headEnd len="med" w="med" type="none"/>
            <a:tailEnd len="med" w="med" type="none"/>
          </a:ln>
        </p:spPr>
      </p:cxnSp>
      <p:grpSp>
        <p:nvGrpSpPr>
          <p:cNvPr id="350" name="Google Shape;350;p26"/>
          <p:cNvGrpSpPr/>
          <p:nvPr/>
        </p:nvGrpSpPr>
        <p:grpSpPr>
          <a:xfrm>
            <a:off x="249825" y="1377550"/>
            <a:ext cx="7948600" cy="2872325"/>
            <a:chOff x="81" y="1665"/>
            <a:chExt cx="5007" cy="1558"/>
          </a:xfrm>
        </p:grpSpPr>
        <p:sp>
          <p:nvSpPr>
            <p:cNvPr id="351" name="Google Shape;351;p26"/>
            <p:cNvSpPr/>
            <p:nvPr/>
          </p:nvSpPr>
          <p:spPr>
            <a:xfrm>
              <a:off x="81" y="1665"/>
              <a:ext cx="4959" cy="1455"/>
            </a:xfrm>
            <a:prstGeom prst="roundRect">
              <a:avLst>
                <a:gd fmla="val 4167" name="adj"/>
              </a:avLst>
            </a:prstGeom>
            <a:solidFill>
              <a:srgbClr val="CCFFFF"/>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nsolas"/>
                <a:ea typeface="Consolas"/>
                <a:cs typeface="Consolas"/>
                <a:sym typeface="Consolas"/>
              </a:endParaRPr>
            </a:p>
          </p:txBody>
        </p:sp>
        <p:sp>
          <p:nvSpPr>
            <p:cNvPr id="352" name="Google Shape;352;p26"/>
            <p:cNvSpPr txBox="1"/>
            <p:nvPr/>
          </p:nvSpPr>
          <p:spPr>
            <a:xfrm>
              <a:off x="144" y="1728"/>
              <a:ext cx="4944" cy="1495"/>
            </a:xfrm>
            <a:prstGeom prst="rect">
              <a:avLst/>
            </a:prstGeom>
            <a:noFill/>
            <a:ln>
              <a:noFill/>
            </a:ln>
          </p:spPr>
          <p:txBody>
            <a:bodyPr anchorCtr="0" anchor="t" bIns="45700" lIns="91425" spcFirstLastPara="1" rIns="91425" wrap="square" tIns="45700">
              <a:noAutofit/>
            </a:bodyPr>
            <a:lstStyle/>
            <a:p>
              <a:pPr indent="0" lvl="0" marL="0" marR="0" rtl="0" algn="just">
                <a:lnSpc>
                  <a:spcPct val="80000"/>
                </a:lnSpc>
                <a:spcBef>
                  <a:spcPts val="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char num1[] = "12345678901.79";</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Times New Roman"/>
                <a:buNone/>
              </a:pPr>
              <a:r>
                <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errno = 0;</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printf("Como entero = %d\n", atoi(num1));</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if (errno != 0)</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	perror("");</a:t>
              </a:r>
              <a:endParaRPr>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a:t>
              </a:r>
              <a:endParaRPr b="1" sz="2400">
                <a:solidFill>
                  <a:schemeClr val="dk1"/>
                </a:solidFill>
                <a:latin typeface="Consolas"/>
                <a:ea typeface="Consolas"/>
                <a:cs typeface="Consolas"/>
                <a:sym typeface="Consolas"/>
              </a:endParaRPr>
            </a:p>
            <a:p>
              <a:pPr indent="0" lvl="0" marL="0" marR="0" rtl="0" algn="just">
                <a:lnSpc>
                  <a:spcPct val="80000"/>
                </a:lnSpc>
                <a:spcBef>
                  <a:spcPts val="120"/>
                </a:spcBef>
                <a:spcAft>
                  <a:spcPts val="0"/>
                </a:spcAft>
                <a:buClr>
                  <a:schemeClr val="dk1"/>
                </a:buClr>
                <a:buSzPts val="2400"/>
                <a:buFont typeface="Courier New"/>
                <a:buNone/>
              </a:pPr>
              <a:r>
                <a:rPr b="1" lang="es-MX" sz="2400">
                  <a:solidFill>
                    <a:schemeClr val="dk1"/>
                  </a:solidFill>
                  <a:latin typeface="Consolas"/>
                  <a:ea typeface="Consolas"/>
                  <a:cs typeface="Consolas"/>
                  <a:sym typeface="Consolas"/>
                </a:rPr>
                <a:t> </a:t>
              </a:r>
              <a:endParaRPr b="1" sz="2400">
                <a:solidFill>
                  <a:schemeClr val="dk1"/>
                </a:solidFill>
                <a:latin typeface="Consolas"/>
                <a:ea typeface="Consolas"/>
                <a:cs typeface="Consolas"/>
                <a:sym typeface="Consolas"/>
              </a:endParaRPr>
            </a:p>
          </p:txBody>
        </p:sp>
      </p:grpSp>
      <p:grpSp>
        <p:nvGrpSpPr>
          <p:cNvPr id="353" name="Google Shape;353;p26"/>
          <p:cNvGrpSpPr/>
          <p:nvPr/>
        </p:nvGrpSpPr>
        <p:grpSpPr>
          <a:xfrm>
            <a:off x="3352800" y="4030266"/>
            <a:ext cx="5791200" cy="814388"/>
            <a:chOff x="2016" y="2064"/>
            <a:chExt cx="3648" cy="528"/>
          </a:xfrm>
        </p:grpSpPr>
        <p:sp>
          <p:nvSpPr>
            <p:cNvPr id="354" name="Google Shape;354;p26"/>
            <p:cNvSpPr/>
            <p:nvPr/>
          </p:nvSpPr>
          <p:spPr>
            <a:xfrm>
              <a:off x="2016" y="2064"/>
              <a:ext cx="3648" cy="528"/>
            </a:xfrm>
            <a:prstGeom prst="roundRect">
              <a:avLst>
                <a:gd fmla="val 16667" name="adj"/>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t/>
              </a:r>
              <a:endParaRPr b="1" sz="2400">
                <a:solidFill>
                  <a:schemeClr val="dk1"/>
                </a:solidFill>
                <a:latin typeface="Courier New"/>
                <a:ea typeface="Courier New"/>
                <a:cs typeface="Courier New"/>
                <a:sym typeface="Courier New"/>
              </a:endParaRPr>
            </a:p>
          </p:txBody>
        </p:sp>
        <p:sp>
          <p:nvSpPr>
            <p:cNvPr id="355" name="Google Shape;355;p26"/>
            <p:cNvSpPr txBox="1"/>
            <p:nvPr/>
          </p:nvSpPr>
          <p:spPr>
            <a:xfrm>
              <a:off x="2043" y="2112"/>
              <a:ext cx="3600" cy="329"/>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chemeClr val="lt1"/>
                </a:buClr>
                <a:buSzPts val="2200"/>
                <a:buFont typeface="Courier New"/>
                <a:buNone/>
              </a:pPr>
              <a:r>
                <a:rPr b="1" lang="es-MX" sz="2200">
                  <a:solidFill>
                    <a:schemeClr val="lt1"/>
                  </a:solidFill>
                  <a:latin typeface="Courier New"/>
                  <a:ea typeface="Courier New"/>
                  <a:cs typeface="Courier New"/>
                  <a:sym typeface="Courier New"/>
                </a:rPr>
                <a:t>Como entero = 2147483647</a:t>
              </a:r>
              <a:endParaRPr/>
            </a:p>
            <a:p>
              <a:pPr indent="0" lvl="0" marL="0" marR="0" rtl="0" algn="l">
                <a:lnSpc>
                  <a:spcPct val="85000"/>
                </a:lnSpc>
                <a:spcBef>
                  <a:spcPts val="110"/>
                </a:spcBef>
                <a:spcAft>
                  <a:spcPts val="0"/>
                </a:spcAft>
                <a:buClr>
                  <a:schemeClr val="lt1"/>
                </a:buClr>
                <a:buSzPts val="2200"/>
                <a:buFont typeface="Courier New"/>
                <a:buNone/>
              </a:pPr>
              <a:r>
                <a:rPr b="1" lang="es-MX" sz="2200">
                  <a:solidFill>
                    <a:schemeClr val="lt1"/>
                  </a:solidFill>
                  <a:latin typeface="Courier New"/>
                  <a:ea typeface="Courier New"/>
                  <a:cs typeface="Courier New"/>
                  <a:sym typeface="Courier New"/>
                </a:rPr>
                <a:t>Numerical result out of range</a:t>
              </a:r>
              <a:endParaRPr b="1" sz="2200">
                <a:solidFill>
                  <a:schemeClr val="lt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500"/>
                                        <p:tgtEl>
                                          <p:spTgt spid="35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